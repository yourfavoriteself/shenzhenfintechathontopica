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01828"/>
                </a:solidFill>
                <a:latin typeface="Arial"/>
              </a:defRPr>
            </a:pPr>
            <a:r>
              <a:rPr sz="1200" b="0" i="0" u="none" strike="noStrike">
                <a:solidFill>
                  <a:srgbClr val="101828"/>
                </a:solidFill>
                <a:latin typeface="Arial"/>
              </a:rPr>
              <a:t>How the kernel stopped the static attacks</a:t>
            </a:r>
          </a:p>
        </c:rich>
      </c:tx>
      <c:layout/>
      <c:overlay val="0"/>
    </c:title>
    <c:autoTitleDeleted val="0"/>
    <c:plotArea>
      <c:layout/>
      <c:barChart>
        <c:barDir val="bar"/>
        <c:grouping val="clustered"/>
        <c:varyColors val="0"/>
        <c:ser>
          <c:idx val="0"/>
          <c:order val="0"/>
          <c:tx>
            <c:strRef>
              <c:f>Sheet1!$B$1</c:f>
              <c:strCache>
                <c:ptCount val="1"/>
                <c:pt idx="0">
                  <c:v>Attacks</c:v>
                </c:pt>
              </c:strCache>
            </c:strRef>
          </c:tx>
          <c:spPr>
            <a:solidFill>
              <a:srgbClr val="101828"/>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denied</c:v>
                  </c:pt>
                  <c:pt idx="1">
                    <c:v>detected</c:v>
                  </c:pt>
                  <c:pt idx="2">
                    <c:v>filtered</c:v>
                  </c:pt>
                  <c:pt idx="3">
                    <c:v>exposed</c:v>
                  </c:pt>
                  <c:pt idx="4">
                    <c:v>held</c:v>
                  </c:pt>
                </c:lvl>
              </c:multiLvlStrCache>
            </c:multiLvlStrRef>
          </c:cat>
          <c:val>
            <c:numRef>
              <c:f>Sheet1!$B$2:$B$6</c:f>
              <c:numCache>
                <c:formatCode>General</c:formatCode>
                <c:ptCount val="5"/>
                <c:pt idx="0">
                  <c:v>31</c:v>
                </c:pt>
                <c:pt idx="1">
                  <c:v>9</c:v>
                </c:pt>
                <c:pt idx="2">
                  <c:v>2</c:v>
                </c:pt>
                <c:pt idx="3">
                  <c:v>1</c:v>
                </c:pt>
                <c:pt idx="4">
                  <c:v>1</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01828"/>
                </a:solidFill>
                <a:latin typeface="Arial"/>
              </a:defRPr>
            </a:pPr>
            <a:r>
              <a:rPr sz="1200" b="0" i="0" u="none" strike="noStrike">
                <a:solidFill>
                  <a:srgbClr val="101828"/>
                </a:solidFill>
                <a:latin typeface="Arial"/>
              </a:rPr>
              <a:t>₽ per task, one client</a:t>
            </a:r>
          </a:p>
        </c:rich>
      </c:tx>
      <c:layout/>
      <c:overlay val="0"/>
    </c:title>
    <c:autoTitleDeleted val="0"/>
    <c:plotArea>
      <c:layout/>
      <c:barChart>
        <c:barDir val="bar"/>
        <c:grouping val="clustered"/>
        <c:varyColors val="0"/>
        <c:ser>
          <c:idx val="0"/>
          <c:order val="0"/>
          <c:tx>
            <c:strRef>
              <c:f>Sheet1!$B$1</c:f>
              <c:strCache>
                <c:ptCount val="1"/>
                <c:pt idx="0">
                  <c:v>First month</c:v>
                </c:pt>
              </c:strCache>
            </c:strRef>
          </c:tx>
          <c:spPr>
            <a:solidFill>
              <a:srgbClr val="D0D5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15 000?</c:v>
                  </c:pt>
                  <c:pt idx="6">
                    <c:v>Month review</c:v>
                  </c:pt>
                </c:lvl>
              </c:multiLvlStrCache>
            </c:multiLvlStrRef>
          </c:cat>
          <c:val>
            <c:numRef>
              <c:f>Sheet1!$B$2:$B$8</c:f>
              <c:numCache>
                <c:formatCode>General</c:formatCode>
                <c:ptCount val="7"/>
                <c:pt idx="0">
                  <c:v>0.3129</c:v>
                </c:pt>
                <c:pt idx="1">
                  <c:v>0.0222</c:v>
                </c:pt>
                <c:pt idx="2">
                  <c:v>0.0397</c:v>
                </c:pt>
                <c:pt idx="3">
                  <c:v>0.2628</c:v>
                </c:pt>
                <c:pt idx="4">
                  <c:v>0.0321</c:v>
                </c:pt>
                <c:pt idx="5">
                  <c:v>0.0428</c:v>
                </c:pt>
                <c:pt idx="6">
                  <c:v>0.0172</c:v>
                </c:pt>
              </c:numCache>
            </c:numRef>
          </c:val>
        </c:ser>
        <c:ser>
          <c:idx val="1"/>
          <c:order val="1"/>
          <c:tx>
            <c:strRef>
              <c:f>Sheet1!$C$1</c:f>
              <c:strCache>
                <c:ptCount val="1"/>
                <c:pt idx="0">
                  <c:v>Next month</c:v>
                </c:pt>
              </c:strCache>
            </c:strRef>
          </c:tx>
          <c:spPr>
            <a:solidFill>
              <a:srgbClr val="1D4ED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15 000?</c:v>
                  </c:pt>
                  <c:pt idx="6">
                    <c:v>Month review</c:v>
                  </c:pt>
                </c:lvl>
              </c:multiLvlStrCache>
            </c:multiLvlStrRef>
          </c:cat>
          <c:val>
            <c:numRef>
              <c:f>Sheet1!$C$2:$C$8</c:f>
              <c:numCache>
                <c:formatCode>General</c:formatCode>
                <c:ptCount val="7"/>
                <c:pt idx="0">
                  <c:v>0</c:v>
                </c:pt>
                <c:pt idx="1">
                  <c:v>0.0222</c:v>
                </c:pt>
                <c:pt idx="2">
                  <c:v>0</c:v>
                </c:pt>
                <c:pt idx="3">
                  <c:v>0.1811</c:v>
                </c:pt>
                <c:pt idx="4">
                  <c:v>0.0196</c:v>
                </c:pt>
                <c:pt idx="5">
                  <c:v>0.0301</c:v>
                </c:pt>
                <c:pt idx="6">
                  <c:v>0.0166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Kseniia Kuzmina and Nikita Stepanov, the Guardian team. Our topic is A: an AI agent that pays, cancels and budgets for a bank client. In ten minutes: the problem, the idea, a month of the demo, how the kernel works, the security results, compliance, cost and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can now pay. That brings three new problems. First, intent: a model can get the payee or the amount wrong, and nobody can prove what the client actually approved. Second, manipulation: a fake bill, a hidden instruction for AI agents in a document, or a scam call can turn the agent against its owner. Third, accountability: when something goes wrong, there is no record of who authorised what. To make it concrete: we ran our 39 attacks against an agent without our kernel. 39 succeeded and it lost 532 038.76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is to split the system in two. Agents and language models only propose an intent. A deterministic kernel inside the bank decides, executes through the bank's own executor, checks the result in the bank and writes a signed journal. That gives the client three promises. What you see is what you sign: the card is rendered by the kernel and the device key signs its hash. Nothing outside the mandate: every payment fits limits the client set. And every result is verified and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one month in a sandbox bank with synthetic data. Ten scenarios. Pay a subscription and allow it monthly; cancel one through the merchant's API; find leaks; a double charge; bills where one is fake; a free trial turning paid; a budget with a goal; a 'safe account' scam call; and a risky payee on the transfer graph. Over the month Guardian saved 548 ₽ a month, did 10 things, asked 11 times and stopped 2. The whole run is in the evidence folder: 292 signed journal entries, chain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real interface. On the left, a card. The kernel renders it, every field has its source, and you hold to sign with the device key. On the right, the fake bill. It imitates Mosenergo, the account is not Mosenergo's, it uses pressure and has a hidden instruction for AI agents, and it is linked to an earlier phishing email. The scam call, where the ladder goes from explain to ask to a pause and then holds the money for a person at the bank, is in the demo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 top, the client's chat and device key. In the middle, agents with passports: the conversation agent, the budget and document agents, the critic. They call models through one gateway with a three-level ladder. Everything they propose goes to the kernel. The kernel holds mandates, the vault, the journal and the only path to the bank's executor. Merchants are reached through their API in the sandbox. The journal is in PostgreSQL with row-level security, append-only, and checkpoints are anchored by a smart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intent, whoever proposes it, goes through the same pipeline. Passport: is this agent allowed to ask. Schema. Mandate: does it fit what the client signed. Provenance: each value is labelled CLIENT, BANK or UNTRUSTED, and untrusted values cannot set a payee or an amount. References, policy and risk, including the transfer-graph model. A critic that only sees the client's own words. A shadow run in a copy of the bank. Only then a single-use grant executes, and the kernel verifies the result in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analytical parts, each measured on held-out data. The budget agent found all five planted leaks and the double charge. The spending forecast has a weighted error of about 27 percent on held-out months, and the cash-gap back-test found the real gap with no false alarms. The payee risk model is gradient boosting over 14 features of the bank's transfer graph. On held-out synthetic graphs it scores ROC-AUC 1.0, precision 0.993 and recall 0.944. These are synthetic graphs from our own generator; real bank data will score lower. The point is that the pipeline is in place and the model only adds a reason to ask: it never moves money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the kernel four ways. 39 static attacks: fake bills, injected instructions, swapped payees, look-alike merchants, replayed signatures, over-limit requests. All 39 stopped. 5 attacks that try to plant something in the assistant's memory for later: all stopped. An adaptive attacker that learns from the kernel's answers, 10 rounds, 360 attempts: zero payments outside the mandate. And the earlier prototype's suite: 20 of 21 prevented, one bounded by the limit. Without the kernel the same static set lost 532 038.76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Compliance. The self-regulatory code for agent payment apps has three stages; we implement stage one and two, and we do not offer stage three. Whoever provides the payment service is responsible: Guardian is a bank module, only the bank's executor moves money. Know your agent: every agent has a passport checked at every step. Withdrawal of authorisation is one press. Records are immutable and anchored. There is a human fallback and stricter rules for the elderly. And the assistant sells nothing. On the right, our mandates map onto Mastercard Verifiable Intent and Google AP2 concepts. The full tables with where to check each line are in the security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Models sit on a three-level ladder: rules and templates cost nothing, then a small model, then larger ones only when risk is high. For one client's typical month the first month costs 0.73 rubles in tokens; the next month 0.27, 63.1 percent less, because the repeat payment and the repeated check run from templates with no model call. In the full demo 96.7 percent of the work stays on levels zero and one. At the next-month rate a million clients cost about 270 000 rubles a month. These are token counts on the real prompts with stub answers; a live run will replace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48 of 48 functional tasks pass in English, Russian and Chinese, 50 of 50 attacks in the evaluation set are stopped, and the whole repository has an automated test suite that runs in the Docker build. Everything is reproducible from the repository in replay mode without any keys. Next: live runs with real models, anchoring on a public test network, the payee model on real bank graphs, and SD-JWT selective disclosure for mandates. Agents propose; the kernel decides, checks and records.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5F7"/>
        </a:solidFill>
      </p:bgPr>
    </p:bg>
    <p:spTree>
      <p:nvGrpSpPr>
        <p:cNvPr id="1" name=""/>
        <p:cNvGrpSpPr/>
        <p:nvPr/>
      </p:nvGrpSpPr>
      <p:grpSpPr>
        <a:xfrm>
          <a:off x="0" y="0"/>
          <a:ext cx="0" cy="0"/>
          <a:chOff x="0" y="0"/>
          <a:chExt cx="0" cy="0"/>
        </a:xfrm>
      </p:grpSpPr>
      <p:sp>
        <p:nvSpPr>
          <p:cNvPr id="3" name="Shape 0"/>
          <p:cNvSpPr/>
          <p:nvPr/>
        </p:nvSpPr>
        <p:spPr>
          <a:xfrm>
            <a:off x="640080" y="960120"/>
            <a:ext cx="1051560" cy="1051560"/>
          </a:xfrm>
          <a:prstGeom prst="roundRect">
            <a:avLst>
              <a:gd name="adj" fmla="val 22000"/>
            </a:avLst>
          </a:prstGeom>
          <a:solidFill>
            <a:srgbClr val="C2361F"/>
          </a:solidFill>
          <a:ln w="12700">
            <a:solidFill>
              <a:srgbClr val="C2361F"/>
            </a:solidFill>
            <a:prstDash val="solid"/>
          </a:ln>
        </p:spPr>
      </p:sp>
      <p:sp>
        <p:nvSpPr>
          <p:cNvPr id="4" name="Text 1"/>
          <p:cNvSpPr/>
          <p:nvPr/>
        </p:nvSpPr>
        <p:spPr>
          <a:xfrm>
            <a:off x="640080" y="960120"/>
            <a:ext cx="1051560" cy="1051560"/>
          </a:xfrm>
          <a:prstGeom prst="rect">
            <a:avLst/>
          </a:prstGeom>
          <a:noFill/>
          <a:ln/>
        </p:spPr>
        <p:txBody>
          <a:bodyPr wrap="square" lIns="0" tIns="0" rIns="0" bIns="0" rtlCol="0" anchor="ctr"/>
          <a:lstStyle/>
          <a:p>
            <a:pPr algn="ctr" indent="0" marL="0">
              <a:buNone/>
            </a:pPr>
            <a:r>
              <a:rPr lang="en-US" sz="4600" dirty="0">
                <a:solidFill>
                  <a:srgbClr val="FFFFFF"/>
                </a:solidFill>
                <a:latin typeface="Noto Sans CJK SC" pitchFamily="34" charset="0"/>
                <a:ea typeface="Noto Sans CJK SC" pitchFamily="34" charset="-122"/>
                <a:cs typeface="Noto Sans CJK SC" pitchFamily="34" charset="-120"/>
              </a:rPr>
              <a:t>守</a:t>
            </a:r>
            <a:endParaRPr lang="en-US" sz="4600" dirty="0"/>
          </a:p>
        </p:txBody>
      </p:sp>
      <p:sp>
        <p:nvSpPr>
          <p:cNvPr id="5" name="Text 2"/>
          <p:cNvSpPr/>
          <p:nvPr/>
        </p:nvSpPr>
        <p:spPr>
          <a:xfrm>
            <a:off x="640080" y="2194560"/>
            <a:ext cx="7863840" cy="914400"/>
          </a:xfrm>
          <a:prstGeom prst="rect">
            <a:avLst/>
          </a:prstGeom>
          <a:noFill/>
          <a:ln/>
        </p:spPr>
        <p:txBody>
          <a:bodyPr wrap="square" lIns="0" tIns="0" rIns="0" bIns="0" rtlCol="0" anchor="ctr"/>
          <a:lstStyle/>
          <a:p>
            <a:pPr indent="0" marL="0">
              <a:buNone/>
            </a:pPr>
            <a:r>
              <a:rPr lang="en-US" sz="5800" b="1" dirty="0">
                <a:solidFill>
                  <a:srgbClr val="101828"/>
                </a:solidFill>
                <a:latin typeface="Inter" pitchFamily="34" charset="0"/>
                <a:ea typeface="Inter" pitchFamily="34" charset="-122"/>
                <a:cs typeface="Inter" pitchFamily="34" charset="-120"/>
              </a:rPr>
              <a:t>Guardian</a:t>
            </a:r>
            <a:endParaRPr lang="en-US" sz="5800" dirty="0"/>
          </a:p>
        </p:txBody>
      </p:sp>
      <p:sp>
        <p:nvSpPr>
          <p:cNvPr id="6" name="Text 3"/>
          <p:cNvSpPr/>
          <p:nvPr/>
        </p:nvSpPr>
        <p:spPr>
          <a:xfrm>
            <a:off x="640080" y="3291840"/>
            <a:ext cx="7863840" cy="457200"/>
          </a:xfrm>
          <a:prstGeom prst="rect">
            <a:avLst/>
          </a:prstGeom>
          <a:noFill/>
          <a:ln/>
        </p:spPr>
        <p:txBody>
          <a:bodyPr wrap="square" lIns="0" tIns="0" rIns="0" bIns="0" rtlCol="0" anchor="ctr"/>
          <a:lstStyle/>
          <a:p>
            <a:pPr indent="0" marL="0">
              <a:buNone/>
            </a:pPr>
            <a:r>
              <a:rPr lang="en-US" sz="2200" dirty="0">
                <a:solidFill>
                  <a:srgbClr val="101828"/>
                </a:solidFill>
                <a:latin typeface="Inter" pitchFamily="34" charset="0"/>
                <a:ea typeface="Inter" pitchFamily="34" charset="-122"/>
                <a:cs typeface="Inter" pitchFamily="34" charset="-120"/>
              </a:rPr>
              <a:t>A bank-side safety kernel for AI payment agents</a:t>
            </a:r>
            <a:endParaRPr lang="en-US" sz="2200" dirty="0"/>
          </a:p>
        </p:txBody>
      </p:sp>
      <p:sp>
        <p:nvSpPr>
          <p:cNvPr id="7" name="Text 4"/>
          <p:cNvSpPr/>
          <p:nvPr/>
        </p:nvSpPr>
        <p:spPr>
          <a:xfrm>
            <a:off x="640080" y="3749040"/>
            <a:ext cx="7863840" cy="365760"/>
          </a:xfrm>
          <a:prstGeom prst="rect">
            <a:avLst/>
          </a:prstGeom>
          <a:noFill/>
          <a:ln/>
        </p:spPr>
        <p:txBody>
          <a:bodyPr wrap="square" lIns="0" tIns="0" rIns="0" bIns="0" rtlCol="0" anchor="ctr"/>
          <a:lstStyle/>
          <a:p>
            <a:pPr indent="0" marL="0">
              <a:buNone/>
            </a:pPr>
            <a:r>
              <a:rPr lang="en-US" sz="1500" dirty="0">
                <a:solidFill>
                  <a:srgbClr val="667085"/>
                </a:solidFill>
                <a:latin typeface="Inter" pitchFamily="34" charset="0"/>
                <a:ea typeface="Inter" pitchFamily="34" charset="-122"/>
                <a:cs typeface="Inter" pitchFamily="34" charset="-120"/>
              </a:rPr>
              <a:t>Agents propose. The kernel decides, checks and records.</a:t>
            </a:r>
            <a:endParaRPr lang="en-US" sz="1500" dirty="0"/>
          </a:p>
        </p:txBody>
      </p:sp>
      <p:sp>
        <p:nvSpPr>
          <p:cNvPr id="8" name="Text 5"/>
          <p:cNvSpPr/>
          <p:nvPr/>
        </p:nvSpPr>
        <p:spPr>
          <a:xfrm>
            <a:off x="640080" y="4343400"/>
            <a:ext cx="5029200" cy="27432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Kseniia Kuzmina  ·  Nikita Stepanov</a:t>
            </a:r>
            <a:endParaRPr lang="en-US" sz="1200" dirty="0"/>
          </a:p>
        </p:txBody>
      </p:sp>
      <p:sp>
        <p:nvSpPr>
          <p:cNvPr id="9" name="Text 6"/>
          <p:cNvSpPr/>
          <p:nvPr/>
        </p:nvSpPr>
        <p:spPr>
          <a:xfrm>
            <a:off x="4206240" y="4343400"/>
            <a:ext cx="4480560" cy="274320"/>
          </a:xfrm>
          <a:prstGeom prst="rect">
            <a:avLst/>
          </a:prstGeom>
          <a:noFill/>
          <a:ln/>
        </p:spPr>
        <p:txBody>
          <a:bodyPr wrap="square" lIns="0" tIns="0" rIns="0" bIns="0" rtlCol="0" anchor="ctr"/>
          <a:lstStyle/>
          <a:p>
            <a:pPr algn="r" indent="0" marL="0">
              <a:buNone/>
            </a:pPr>
            <a:r>
              <a:rPr lang="en-US" sz="1100" dirty="0">
                <a:solidFill>
                  <a:srgbClr val="667085"/>
                </a:solidFill>
                <a:latin typeface="Inter" pitchFamily="34" charset="0"/>
                <a:ea typeface="Inter" pitchFamily="34" charset="-122"/>
                <a:cs typeface="Inter" pitchFamily="34" charset="-120"/>
              </a:rPr>
              <a:t>Shenzhen FinTechathon 2026 · International Track · Topic 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Letting an AI agent touch money is a new attack surface</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2 / 12</a:t>
            </a:r>
            <a:endParaRPr lang="en-US" sz="900" dirty="0"/>
          </a:p>
        </p:txBody>
      </p:sp>
      <p:sp>
        <p:nvSpPr>
          <p:cNvPr id="8" name="Text 5"/>
          <p:cNvSpPr/>
          <p:nvPr/>
        </p:nvSpPr>
        <p:spPr>
          <a:xfrm>
            <a:off x="457200" y="118872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01</a:t>
            </a:r>
            <a:endParaRPr lang="en-US" sz="2600" dirty="0"/>
          </a:p>
        </p:txBody>
      </p:sp>
      <p:sp>
        <p:nvSpPr>
          <p:cNvPr id="9" name="Text 6"/>
          <p:cNvSpPr/>
          <p:nvPr/>
        </p:nvSpPr>
        <p:spPr>
          <a:xfrm>
            <a:off x="1188720" y="118872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Intent</a:t>
            </a:r>
            <a:endParaRPr lang="en-US" sz="1800" dirty="0"/>
          </a:p>
        </p:txBody>
      </p:sp>
      <p:sp>
        <p:nvSpPr>
          <p:cNvPr id="10" name="Text 7"/>
          <p:cNvSpPr/>
          <p:nvPr/>
        </p:nvSpPr>
        <p:spPr>
          <a:xfrm>
            <a:off x="1188720" y="153619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A model can pick the wrong payee or amount. The client cannot prove what they approved.</a:t>
            </a:r>
            <a:endParaRPr lang="en-US" sz="1300" dirty="0"/>
          </a:p>
        </p:txBody>
      </p:sp>
      <p:sp>
        <p:nvSpPr>
          <p:cNvPr id="11" name="Text 8"/>
          <p:cNvSpPr/>
          <p:nvPr/>
        </p:nvSpPr>
        <p:spPr>
          <a:xfrm>
            <a:off x="457200" y="219456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02</a:t>
            </a:r>
            <a:endParaRPr lang="en-US" sz="2600" dirty="0"/>
          </a:p>
        </p:txBody>
      </p:sp>
      <p:sp>
        <p:nvSpPr>
          <p:cNvPr id="12" name="Text 9"/>
          <p:cNvSpPr/>
          <p:nvPr/>
        </p:nvSpPr>
        <p:spPr>
          <a:xfrm>
            <a:off x="1188720" y="219456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Manipulation</a:t>
            </a:r>
            <a:endParaRPr lang="en-US" sz="1800" dirty="0"/>
          </a:p>
        </p:txBody>
      </p:sp>
      <p:sp>
        <p:nvSpPr>
          <p:cNvPr id="13" name="Text 10"/>
          <p:cNvSpPr/>
          <p:nvPr/>
        </p:nvSpPr>
        <p:spPr>
          <a:xfrm>
            <a:off x="1188720" y="254203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Fake bills, hidden instructions for AI agents, look-alike merchants, 'safe account' scam calls.</a:t>
            </a:r>
            <a:endParaRPr lang="en-US" sz="1300" dirty="0"/>
          </a:p>
        </p:txBody>
      </p:sp>
      <p:sp>
        <p:nvSpPr>
          <p:cNvPr id="14" name="Text 11"/>
          <p:cNvSpPr/>
          <p:nvPr/>
        </p:nvSpPr>
        <p:spPr>
          <a:xfrm>
            <a:off x="457200" y="320040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03</a:t>
            </a:r>
            <a:endParaRPr lang="en-US" sz="2600" dirty="0"/>
          </a:p>
        </p:txBody>
      </p:sp>
      <p:sp>
        <p:nvSpPr>
          <p:cNvPr id="15" name="Text 12"/>
          <p:cNvSpPr/>
          <p:nvPr/>
        </p:nvSpPr>
        <p:spPr>
          <a:xfrm>
            <a:off x="1188720" y="320040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Accountability</a:t>
            </a:r>
            <a:endParaRPr lang="en-US" sz="1800" dirty="0"/>
          </a:p>
        </p:txBody>
      </p:sp>
      <p:sp>
        <p:nvSpPr>
          <p:cNvPr id="16" name="Text 13"/>
          <p:cNvSpPr/>
          <p:nvPr/>
        </p:nvSpPr>
        <p:spPr>
          <a:xfrm>
            <a:off x="1188720" y="354787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Regulators ask: who authorised this payment, which model decided, can it be rolled back?</a:t>
            </a:r>
            <a:endParaRPr lang="en-US" sz="1300" dirty="0"/>
          </a:p>
        </p:txBody>
      </p:sp>
      <p:sp>
        <p:nvSpPr>
          <p:cNvPr id="17" name="Shape 14"/>
          <p:cNvSpPr/>
          <p:nvPr/>
        </p:nvSpPr>
        <p:spPr>
          <a:xfrm>
            <a:off x="5577840" y="1188720"/>
            <a:ext cx="3108960" cy="2926080"/>
          </a:xfrm>
          <a:prstGeom prst="roundRect">
            <a:avLst>
              <a:gd name="adj" fmla="val 3750"/>
            </a:avLst>
          </a:prstGeom>
          <a:solidFill>
            <a:srgbClr val="101828"/>
          </a:solidFill>
          <a:ln w="12700">
            <a:solidFill>
              <a:srgbClr val="101828"/>
            </a:solidFill>
            <a:prstDash val="solid"/>
          </a:ln>
        </p:spPr>
      </p:sp>
      <p:sp>
        <p:nvSpPr>
          <p:cNvPr id="18" name="Text 15"/>
          <p:cNvSpPr/>
          <p:nvPr/>
        </p:nvSpPr>
        <p:spPr>
          <a:xfrm>
            <a:off x="5760720" y="1325880"/>
            <a:ext cx="2743200" cy="5486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Same attacks, agent without the kernel</a:t>
            </a:r>
            <a:endParaRPr lang="en-US" sz="1300" dirty="0"/>
          </a:p>
        </p:txBody>
      </p:sp>
      <p:sp>
        <p:nvSpPr>
          <p:cNvPr id="19" name="Text 16"/>
          <p:cNvSpPr/>
          <p:nvPr/>
        </p:nvSpPr>
        <p:spPr>
          <a:xfrm>
            <a:off x="5760720" y="1874520"/>
            <a:ext cx="2743200" cy="731520"/>
          </a:xfrm>
          <a:prstGeom prst="rect">
            <a:avLst/>
          </a:prstGeom>
          <a:noFill/>
          <a:ln/>
        </p:spPr>
        <p:txBody>
          <a:bodyPr wrap="square" lIns="0" tIns="0" rIns="0" bIns="0" rtlCol="0" anchor="ctr"/>
          <a:lstStyle/>
          <a:p>
            <a:pPr indent="0" marL="0">
              <a:buNone/>
            </a:pPr>
            <a:r>
              <a:rPr lang="en-US" sz="4400" b="1" dirty="0">
                <a:solidFill>
                  <a:srgbClr val="FDA29B"/>
                </a:solidFill>
                <a:latin typeface="Inter" pitchFamily="34" charset="0"/>
                <a:ea typeface="Inter" pitchFamily="34" charset="-122"/>
                <a:cs typeface="Inter" pitchFamily="34" charset="-120"/>
              </a:rPr>
              <a:t>39 / 39</a:t>
            </a:r>
            <a:endParaRPr lang="en-US" sz="4400" dirty="0"/>
          </a:p>
        </p:txBody>
      </p:sp>
      <p:sp>
        <p:nvSpPr>
          <p:cNvPr id="20" name="Text 17"/>
          <p:cNvSpPr/>
          <p:nvPr/>
        </p:nvSpPr>
        <p:spPr>
          <a:xfrm>
            <a:off x="5760720" y="2560320"/>
            <a:ext cx="2743200" cy="3200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attacks succeeded</a:t>
            </a:r>
            <a:endParaRPr lang="en-US" sz="1300" dirty="0"/>
          </a:p>
        </p:txBody>
      </p:sp>
      <p:sp>
        <p:nvSpPr>
          <p:cNvPr id="21" name="Text 18"/>
          <p:cNvSpPr/>
          <p:nvPr/>
        </p:nvSpPr>
        <p:spPr>
          <a:xfrm>
            <a:off x="5760720" y="3017520"/>
            <a:ext cx="2743200" cy="548640"/>
          </a:xfrm>
          <a:prstGeom prst="rect">
            <a:avLst/>
          </a:prstGeom>
          <a:noFill/>
          <a:ln/>
        </p:spPr>
        <p:txBody>
          <a:bodyPr wrap="square" lIns="0" tIns="0" rIns="0" bIns="0" rtlCol="0" anchor="ctr"/>
          <a:lstStyle/>
          <a:p>
            <a:pPr indent="0" marL="0">
              <a:buNone/>
            </a:pPr>
            <a:r>
              <a:rPr lang="en-US" sz="2600" b="1" dirty="0">
                <a:solidFill>
                  <a:srgbClr val="FDA29B"/>
                </a:solidFill>
                <a:latin typeface="Inter" pitchFamily="34" charset="0"/>
                <a:ea typeface="Inter" pitchFamily="34" charset="-122"/>
                <a:cs typeface="Inter" pitchFamily="34" charset="-120"/>
              </a:rPr>
              <a:t>532 038.76 ₽</a:t>
            </a:r>
            <a:endParaRPr lang="en-US" sz="2600" dirty="0"/>
          </a:p>
        </p:txBody>
      </p:sp>
      <p:sp>
        <p:nvSpPr>
          <p:cNvPr id="22" name="Text 19"/>
          <p:cNvSpPr/>
          <p:nvPr/>
        </p:nvSpPr>
        <p:spPr>
          <a:xfrm>
            <a:off x="5760720" y="3566160"/>
            <a:ext cx="2743200" cy="3200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lost from the sandbox client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The idea: models never hold the money</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3 / 12</a:t>
            </a:r>
            <a:endParaRPr lang="en-US" sz="900" dirty="0"/>
          </a:p>
        </p:txBody>
      </p:sp>
      <p:sp>
        <p:nvSpPr>
          <p:cNvPr id="8" name="Shape 5"/>
          <p:cNvSpPr/>
          <p:nvPr/>
        </p:nvSpPr>
        <p:spPr>
          <a:xfrm>
            <a:off x="457200" y="1234440"/>
            <a:ext cx="2651760" cy="2651760"/>
          </a:xfrm>
          <a:prstGeom prst="roundRect">
            <a:avLst>
              <a:gd name="adj" fmla="val 4138"/>
            </a:avLst>
          </a:prstGeom>
          <a:solidFill>
            <a:srgbClr val="EEF4FF"/>
          </a:solidFill>
          <a:ln w="12700">
            <a:solidFill>
              <a:srgbClr val="EEF4FF"/>
            </a:solidFill>
            <a:prstDash val="solid"/>
          </a:ln>
        </p:spPr>
      </p:sp>
      <p:sp>
        <p:nvSpPr>
          <p:cNvPr id="9" name="Text 6"/>
          <p:cNvSpPr/>
          <p:nvPr/>
        </p:nvSpPr>
        <p:spPr>
          <a:xfrm>
            <a:off x="64008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01</a:t>
            </a:r>
            <a:endParaRPr lang="en-US" sz="1200" dirty="0"/>
          </a:p>
        </p:txBody>
      </p:sp>
      <p:sp>
        <p:nvSpPr>
          <p:cNvPr id="10" name="Text 7"/>
          <p:cNvSpPr/>
          <p:nvPr/>
        </p:nvSpPr>
        <p:spPr>
          <a:xfrm>
            <a:off x="64008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What you see is what you sign</a:t>
            </a:r>
            <a:endParaRPr lang="en-US" sz="1600" dirty="0"/>
          </a:p>
        </p:txBody>
      </p:sp>
      <p:sp>
        <p:nvSpPr>
          <p:cNvPr id="11" name="Text 8"/>
          <p:cNvSpPr/>
          <p:nvPr/>
        </p:nvSpPr>
        <p:spPr>
          <a:xfrm>
            <a:off x="64008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The kernel renders every card. The client's device key (Ed25519 / P-256, WebCrypto) signs its hash; the kernel countersigns.</a:t>
            </a:r>
            <a:endParaRPr lang="en-US" sz="1300" dirty="0"/>
          </a:p>
        </p:txBody>
      </p:sp>
      <p:sp>
        <p:nvSpPr>
          <p:cNvPr id="12" name="Shape 9"/>
          <p:cNvSpPr/>
          <p:nvPr/>
        </p:nvSpPr>
        <p:spPr>
          <a:xfrm>
            <a:off x="3291840" y="1234440"/>
            <a:ext cx="2651760" cy="2651760"/>
          </a:xfrm>
          <a:prstGeom prst="roundRect">
            <a:avLst>
              <a:gd name="adj" fmla="val 4138"/>
            </a:avLst>
          </a:prstGeom>
          <a:solidFill>
            <a:srgbClr val="F3F0FF"/>
          </a:solidFill>
          <a:ln w="12700">
            <a:solidFill>
              <a:srgbClr val="F3F0FF"/>
            </a:solidFill>
            <a:prstDash val="solid"/>
          </a:ln>
        </p:spPr>
      </p:sp>
      <p:sp>
        <p:nvSpPr>
          <p:cNvPr id="13" name="Text 10"/>
          <p:cNvSpPr/>
          <p:nvPr/>
        </p:nvSpPr>
        <p:spPr>
          <a:xfrm>
            <a:off x="347472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02</a:t>
            </a:r>
            <a:endParaRPr lang="en-US" sz="1200" dirty="0"/>
          </a:p>
        </p:txBody>
      </p:sp>
      <p:sp>
        <p:nvSpPr>
          <p:cNvPr id="14" name="Text 11"/>
          <p:cNvSpPr/>
          <p:nvPr/>
        </p:nvSpPr>
        <p:spPr>
          <a:xfrm>
            <a:off x="347472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Nothing outside the mandate</a:t>
            </a:r>
            <a:endParaRPr lang="en-US" sz="1600" dirty="0"/>
          </a:p>
        </p:txBody>
      </p:sp>
      <p:sp>
        <p:nvSpPr>
          <p:cNvPr id="15" name="Text 12"/>
          <p:cNvSpPr/>
          <p:nvPr/>
        </p:nvSpPr>
        <p:spPr>
          <a:xfrm>
            <a:off x="347472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Payee, amount range, period, money source, expiry. Agents get single-use grants that only narrow.</a:t>
            </a:r>
            <a:endParaRPr lang="en-US" sz="1300" dirty="0"/>
          </a:p>
        </p:txBody>
      </p:sp>
      <p:sp>
        <p:nvSpPr>
          <p:cNvPr id="16" name="Shape 13"/>
          <p:cNvSpPr/>
          <p:nvPr/>
        </p:nvSpPr>
        <p:spPr>
          <a:xfrm>
            <a:off x="6126480" y="1234440"/>
            <a:ext cx="2651760" cy="2651760"/>
          </a:xfrm>
          <a:prstGeom prst="roundRect">
            <a:avLst>
              <a:gd name="adj" fmla="val 4138"/>
            </a:avLst>
          </a:prstGeom>
          <a:solidFill>
            <a:srgbClr val="E8F6F3"/>
          </a:solidFill>
          <a:ln w="12700">
            <a:solidFill>
              <a:srgbClr val="E8F6F3"/>
            </a:solidFill>
            <a:prstDash val="solid"/>
          </a:ln>
        </p:spPr>
      </p:sp>
      <p:sp>
        <p:nvSpPr>
          <p:cNvPr id="17" name="Text 14"/>
          <p:cNvSpPr/>
          <p:nvPr/>
        </p:nvSpPr>
        <p:spPr>
          <a:xfrm>
            <a:off x="630936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03</a:t>
            </a:r>
            <a:endParaRPr lang="en-US" sz="1200" dirty="0"/>
          </a:p>
        </p:txBody>
      </p:sp>
      <p:sp>
        <p:nvSpPr>
          <p:cNvPr id="18" name="Text 15"/>
          <p:cNvSpPr/>
          <p:nvPr/>
        </p:nvSpPr>
        <p:spPr>
          <a:xfrm>
            <a:off x="630936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Verified, then recorded</a:t>
            </a:r>
            <a:endParaRPr lang="en-US" sz="1600" dirty="0"/>
          </a:p>
        </p:txBody>
      </p:sp>
      <p:sp>
        <p:nvSpPr>
          <p:cNvPr id="19" name="Text 16"/>
          <p:cNvSpPr/>
          <p:nvPr/>
        </p:nvSpPr>
        <p:spPr>
          <a:xfrm>
            <a:off x="630936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After execution the kernel checks the bank itself, not the agent's word. Every step goes into a signed hash chain.</a:t>
            </a:r>
            <a:endParaRPr lang="en-US" sz="1300" dirty="0"/>
          </a:p>
        </p:txBody>
      </p:sp>
      <p:sp>
        <p:nvSpPr>
          <p:cNvPr id="20" name="Text 17"/>
          <p:cNvSpPr/>
          <p:nvPr/>
        </p:nvSpPr>
        <p:spPr>
          <a:xfrm>
            <a:off x="457200" y="4160520"/>
            <a:ext cx="8229600" cy="411480"/>
          </a:xfrm>
          <a:prstGeom prst="rect">
            <a:avLst/>
          </a:prstGeom>
          <a:noFill/>
          <a:ln/>
        </p:spPr>
        <p:txBody>
          <a:bodyPr wrap="square" lIns="0" tIns="0" rIns="0" bIns="0" rtlCol="0" anchor="ctr"/>
          <a:lstStyle/>
          <a:p>
            <a:pPr algn="ctr" indent="0" marL="0">
              <a:buNone/>
            </a:pPr>
            <a:r>
              <a:rPr lang="en-US" sz="1300" b="1" dirty="0">
                <a:solidFill>
                  <a:srgbClr val="1D4ED8"/>
                </a:solidFill>
                <a:latin typeface="Inter" pitchFamily="34" charset="0"/>
                <a:ea typeface="Inter" pitchFamily="34" charset="-122"/>
                <a:cs typeface="Inter" pitchFamily="34" charset="-120"/>
              </a:rPr>
              <a:t>Agents propose  →  kernel decides  →  bank executes  →  kernel verifies  →  journal records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One month, one client: scenarios C1 to C10</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4 / 12</a:t>
            </a:r>
            <a:endParaRPr lang="en-US" sz="900" dirty="0"/>
          </a:p>
        </p:txBody>
      </p:sp>
      <p:sp>
        <p:nvSpPr>
          <p:cNvPr id="8" name="Shape 5"/>
          <p:cNvSpPr/>
          <p:nvPr/>
        </p:nvSpPr>
        <p:spPr>
          <a:xfrm>
            <a:off x="457200" y="1188720"/>
            <a:ext cx="155448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66928"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C1</a:t>
            </a:r>
            <a:endParaRPr lang="en-US" sz="1300" dirty="0"/>
          </a:p>
        </p:txBody>
      </p:sp>
      <p:sp>
        <p:nvSpPr>
          <p:cNvPr id="10" name="Text 7"/>
          <p:cNvSpPr/>
          <p:nvPr/>
        </p:nvSpPr>
        <p:spPr>
          <a:xfrm>
            <a:off x="566928"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Pay, allow monthly</a:t>
            </a:r>
            <a:endParaRPr lang="en-US" sz="1200" dirty="0"/>
          </a:p>
        </p:txBody>
      </p:sp>
      <p:sp>
        <p:nvSpPr>
          <p:cNvPr id="11" name="Text 8"/>
          <p:cNvSpPr/>
          <p:nvPr/>
        </p:nvSpPr>
        <p:spPr>
          <a:xfrm>
            <a:off x="566928"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standing, ≤ 344 ₽</a:t>
            </a:r>
            <a:endParaRPr lang="en-US" sz="1000" dirty="0"/>
          </a:p>
        </p:txBody>
      </p:sp>
      <p:sp>
        <p:nvSpPr>
          <p:cNvPr id="12" name="Shape 9"/>
          <p:cNvSpPr/>
          <p:nvPr/>
        </p:nvSpPr>
        <p:spPr>
          <a:xfrm>
            <a:off x="2121408" y="1188720"/>
            <a:ext cx="1554480" cy="1188720"/>
          </a:xfrm>
          <a:prstGeom prst="roundRect">
            <a:avLst>
              <a:gd name="adj" fmla="val 7692"/>
            </a:avLst>
          </a:prstGeom>
          <a:solidFill>
            <a:srgbClr val="F4F5F7"/>
          </a:solidFill>
          <a:ln w="12700">
            <a:solidFill>
              <a:srgbClr val="F4F5F7"/>
            </a:solidFill>
            <a:prstDash val="solid"/>
          </a:ln>
        </p:spPr>
      </p:sp>
      <p:sp>
        <p:nvSpPr>
          <p:cNvPr id="13" name="Text 10"/>
          <p:cNvSpPr/>
          <p:nvPr/>
        </p:nvSpPr>
        <p:spPr>
          <a:xfrm>
            <a:off x="2231136"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C2</a:t>
            </a:r>
            <a:endParaRPr lang="en-US" sz="1300" dirty="0"/>
          </a:p>
        </p:txBody>
      </p:sp>
      <p:sp>
        <p:nvSpPr>
          <p:cNvPr id="14" name="Text 11"/>
          <p:cNvSpPr/>
          <p:nvPr/>
        </p:nvSpPr>
        <p:spPr>
          <a:xfrm>
            <a:off x="2231136"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Cancel a subscription</a:t>
            </a:r>
            <a:endParaRPr lang="en-US" sz="1200" dirty="0"/>
          </a:p>
        </p:txBody>
      </p:sp>
      <p:sp>
        <p:nvSpPr>
          <p:cNvPr id="15" name="Text 12"/>
          <p:cNvSpPr/>
          <p:nvPr/>
        </p:nvSpPr>
        <p:spPr>
          <a:xfrm>
            <a:off x="2231136"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merchant API + card block</a:t>
            </a:r>
            <a:endParaRPr lang="en-US" sz="1000" dirty="0"/>
          </a:p>
        </p:txBody>
      </p:sp>
      <p:sp>
        <p:nvSpPr>
          <p:cNvPr id="16" name="Shape 13"/>
          <p:cNvSpPr/>
          <p:nvPr/>
        </p:nvSpPr>
        <p:spPr>
          <a:xfrm>
            <a:off x="3785616" y="1188720"/>
            <a:ext cx="1554480" cy="1188720"/>
          </a:xfrm>
          <a:prstGeom prst="roundRect">
            <a:avLst>
              <a:gd name="adj" fmla="val 7692"/>
            </a:avLst>
          </a:prstGeom>
          <a:solidFill>
            <a:srgbClr val="F4F5F7"/>
          </a:solidFill>
          <a:ln w="12700">
            <a:solidFill>
              <a:srgbClr val="F4F5F7"/>
            </a:solidFill>
            <a:prstDash val="solid"/>
          </a:ln>
        </p:spPr>
      </p:sp>
      <p:sp>
        <p:nvSpPr>
          <p:cNvPr id="17" name="Text 14"/>
          <p:cNvSpPr/>
          <p:nvPr/>
        </p:nvSpPr>
        <p:spPr>
          <a:xfrm>
            <a:off x="3895344"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C3</a:t>
            </a:r>
            <a:endParaRPr lang="en-US" sz="1300" dirty="0"/>
          </a:p>
        </p:txBody>
      </p:sp>
      <p:sp>
        <p:nvSpPr>
          <p:cNvPr id="18" name="Text 15"/>
          <p:cNvSpPr/>
          <p:nvPr/>
        </p:nvSpPr>
        <p:spPr>
          <a:xfrm>
            <a:off x="3895344"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Find leaks</a:t>
            </a:r>
            <a:endParaRPr lang="en-US" sz="1200" dirty="0"/>
          </a:p>
        </p:txBody>
      </p:sp>
      <p:sp>
        <p:nvSpPr>
          <p:cNvPr id="19" name="Text 16"/>
          <p:cNvSpPr/>
          <p:nvPr/>
        </p:nvSpPr>
        <p:spPr>
          <a:xfrm>
            <a:off x="3895344"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847 ₽ a month</a:t>
            </a:r>
            <a:endParaRPr lang="en-US" sz="1000" dirty="0"/>
          </a:p>
        </p:txBody>
      </p:sp>
      <p:sp>
        <p:nvSpPr>
          <p:cNvPr id="20" name="Shape 17"/>
          <p:cNvSpPr/>
          <p:nvPr/>
        </p:nvSpPr>
        <p:spPr>
          <a:xfrm>
            <a:off x="5449824" y="1188720"/>
            <a:ext cx="1554480" cy="1188720"/>
          </a:xfrm>
          <a:prstGeom prst="roundRect">
            <a:avLst>
              <a:gd name="adj" fmla="val 7692"/>
            </a:avLst>
          </a:prstGeom>
          <a:solidFill>
            <a:srgbClr val="F4F5F7"/>
          </a:solidFill>
          <a:ln w="12700">
            <a:solidFill>
              <a:srgbClr val="F4F5F7"/>
            </a:solidFill>
            <a:prstDash val="solid"/>
          </a:ln>
        </p:spPr>
      </p:sp>
      <p:sp>
        <p:nvSpPr>
          <p:cNvPr id="21" name="Text 18"/>
          <p:cNvSpPr/>
          <p:nvPr/>
        </p:nvSpPr>
        <p:spPr>
          <a:xfrm>
            <a:off x="5559552"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C4</a:t>
            </a:r>
            <a:endParaRPr lang="en-US" sz="1300" dirty="0"/>
          </a:p>
        </p:txBody>
      </p:sp>
      <p:sp>
        <p:nvSpPr>
          <p:cNvPr id="22" name="Text 19"/>
          <p:cNvSpPr/>
          <p:nvPr/>
        </p:nvSpPr>
        <p:spPr>
          <a:xfrm>
            <a:off x="5559552"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Double charge</a:t>
            </a:r>
            <a:endParaRPr lang="en-US" sz="1200" dirty="0"/>
          </a:p>
        </p:txBody>
      </p:sp>
      <p:sp>
        <p:nvSpPr>
          <p:cNvPr id="23" name="Text 20"/>
          <p:cNvSpPr/>
          <p:nvPr/>
        </p:nvSpPr>
        <p:spPr>
          <a:xfrm>
            <a:off x="5559552"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dispute opened</a:t>
            </a:r>
            <a:endParaRPr lang="en-US" sz="1000" dirty="0"/>
          </a:p>
        </p:txBody>
      </p:sp>
      <p:sp>
        <p:nvSpPr>
          <p:cNvPr id="24" name="Shape 21"/>
          <p:cNvSpPr/>
          <p:nvPr/>
        </p:nvSpPr>
        <p:spPr>
          <a:xfrm>
            <a:off x="7114032" y="1188720"/>
            <a:ext cx="1554480" cy="1188720"/>
          </a:xfrm>
          <a:prstGeom prst="roundRect">
            <a:avLst>
              <a:gd name="adj" fmla="val 7692"/>
            </a:avLst>
          </a:prstGeom>
          <a:solidFill>
            <a:srgbClr val="F4F5F7"/>
          </a:solidFill>
          <a:ln w="12700">
            <a:solidFill>
              <a:srgbClr val="F4F5F7"/>
            </a:solidFill>
            <a:prstDash val="solid"/>
          </a:ln>
        </p:spPr>
      </p:sp>
      <p:sp>
        <p:nvSpPr>
          <p:cNvPr id="25" name="Text 22"/>
          <p:cNvSpPr/>
          <p:nvPr/>
        </p:nvSpPr>
        <p:spPr>
          <a:xfrm>
            <a:off x="7223760"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C5</a:t>
            </a:r>
            <a:endParaRPr lang="en-US" sz="1300" dirty="0"/>
          </a:p>
        </p:txBody>
      </p:sp>
      <p:sp>
        <p:nvSpPr>
          <p:cNvPr id="26" name="Text 23"/>
          <p:cNvSpPr/>
          <p:nvPr/>
        </p:nvSpPr>
        <p:spPr>
          <a:xfrm>
            <a:off x="7223760"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Pay bills</a:t>
            </a:r>
            <a:endParaRPr lang="en-US" sz="1200" dirty="0"/>
          </a:p>
        </p:txBody>
      </p:sp>
      <p:sp>
        <p:nvSpPr>
          <p:cNvPr id="27" name="Text 24"/>
          <p:cNvSpPr/>
          <p:nvPr/>
        </p:nvSpPr>
        <p:spPr>
          <a:xfrm>
            <a:off x="7223760"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checked against bank records</a:t>
            </a:r>
            <a:endParaRPr lang="en-US" sz="1000" dirty="0"/>
          </a:p>
        </p:txBody>
      </p:sp>
      <p:sp>
        <p:nvSpPr>
          <p:cNvPr id="28" name="Shape 25"/>
          <p:cNvSpPr/>
          <p:nvPr/>
        </p:nvSpPr>
        <p:spPr>
          <a:xfrm>
            <a:off x="457200" y="2514600"/>
            <a:ext cx="1554480" cy="1188720"/>
          </a:xfrm>
          <a:prstGeom prst="roundRect">
            <a:avLst>
              <a:gd name="adj" fmla="val 7692"/>
            </a:avLst>
          </a:prstGeom>
          <a:solidFill>
            <a:srgbClr val="F4F5F7"/>
          </a:solidFill>
          <a:ln w="12700">
            <a:solidFill>
              <a:srgbClr val="F4F5F7"/>
            </a:solidFill>
            <a:prstDash val="solid"/>
          </a:ln>
        </p:spPr>
      </p:sp>
      <p:sp>
        <p:nvSpPr>
          <p:cNvPr id="29" name="Text 26"/>
          <p:cNvSpPr/>
          <p:nvPr/>
        </p:nvSpPr>
        <p:spPr>
          <a:xfrm>
            <a:off x="566928"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C6</a:t>
            </a:r>
            <a:endParaRPr lang="en-US" sz="1300" dirty="0"/>
          </a:p>
        </p:txBody>
      </p:sp>
      <p:sp>
        <p:nvSpPr>
          <p:cNvPr id="30" name="Text 27"/>
          <p:cNvSpPr/>
          <p:nvPr/>
        </p:nvSpPr>
        <p:spPr>
          <a:xfrm>
            <a:off x="566928"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Fake bill</a:t>
            </a:r>
            <a:endParaRPr lang="en-US" sz="1200" dirty="0"/>
          </a:p>
        </p:txBody>
      </p:sp>
      <p:sp>
        <p:nvSpPr>
          <p:cNvPr id="31" name="Text 28"/>
          <p:cNvSpPr/>
          <p:nvPr/>
        </p:nvSpPr>
        <p:spPr>
          <a:xfrm>
            <a:off x="566928"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stopped, case to analysts</a:t>
            </a:r>
            <a:endParaRPr lang="en-US" sz="1000" dirty="0"/>
          </a:p>
        </p:txBody>
      </p:sp>
      <p:sp>
        <p:nvSpPr>
          <p:cNvPr id="32" name="Shape 29"/>
          <p:cNvSpPr/>
          <p:nvPr/>
        </p:nvSpPr>
        <p:spPr>
          <a:xfrm>
            <a:off x="2121408" y="2514600"/>
            <a:ext cx="1554480" cy="1188720"/>
          </a:xfrm>
          <a:prstGeom prst="roundRect">
            <a:avLst>
              <a:gd name="adj" fmla="val 7692"/>
            </a:avLst>
          </a:prstGeom>
          <a:solidFill>
            <a:srgbClr val="F4F5F7"/>
          </a:solidFill>
          <a:ln w="12700">
            <a:solidFill>
              <a:srgbClr val="F4F5F7"/>
            </a:solidFill>
            <a:prstDash val="solid"/>
          </a:ln>
        </p:spPr>
      </p:sp>
      <p:sp>
        <p:nvSpPr>
          <p:cNvPr id="33" name="Text 30"/>
          <p:cNvSpPr/>
          <p:nvPr/>
        </p:nvSpPr>
        <p:spPr>
          <a:xfrm>
            <a:off x="2231136"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C7</a:t>
            </a:r>
            <a:endParaRPr lang="en-US" sz="1300" dirty="0"/>
          </a:p>
        </p:txBody>
      </p:sp>
      <p:sp>
        <p:nvSpPr>
          <p:cNvPr id="34" name="Text 31"/>
          <p:cNvSpPr/>
          <p:nvPr/>
        </p:nvSpPr>
        <p:spPr>
          <a:xfrm>
            <a:off x="2231136"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Trial turns paid</a:t>
            </a:r>
            <a:endParaRPr lang="en-US" sz="1200" dirty="0"/>
          </a:p>
        </p:txBody>
      </p:sp>
      <p:sp>
        <p:nvSpPr>
          <p:cNvPr id="35" name="Text 32"/>
          <p:cNvSpPr/>
          <p:nvPr/>
        </p:nvSpPr>
        <p:spPr>
          <a:xfrm>
            <a:off x="2231136"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cancelled before charge</a:t>
            </a:r>
            <a:endParaRPr lang="en-US" sz="1000" dirty="0"/>
          </a:p>
        </p:txBody>
      </p:sp>
      <p:sp>
        <p:nvSpPr>
          <p:cNvPr id="36" name="Shape 33"/>
          <p:cNvSpPr/>
          <p:nvPr/>
        </p:nvSpPr>
        <p:spPr>
          <a:xfrm>
            <a:off x="3785616" y="2514600"/>
            <a:ext cx="155448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3895344"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C8</a:t>
            </a:r>
            <a:endParaRPr lang="en-US" sz="1300" dirty="0"/>
          </a:p>
        </p:txBody>
      </p:sp>
      <p:sp>
        <p:nvSpPr>
          <p:cNvPr id="38" name="Text 35"/>
          <p:cNvSpPr/>
          <p:nvPr/>
        </p:nvSpPr>
        <p:spPr>
          <a:xfrm>
            <a:off x="3895344"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Budget and goal</a:t>
            </a:r>
            <a:endParaRPr lang="en-US" sz="1200" dirty="0"/>
          </a:p>
        </p:txBody>
      </p:sp>
      <p:sp>
        <p:nvSpPr>
          <p:cNvPr id="39" name="Text 36"/>
          <p:cNvSpPr/>
          <p:nvPr/>
        </p:nvSpPr>
        <p:spPr>
          <a:xfrm>
            <a:off x="3895344"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envelopes, safe-to-spend</a:t>
            </a:r>
            <a:endParaRPr lang="en-US" sz="1000" dirty="0"/>
          </a:p>
        </p:txBody>
      </p:sp>
      <p:sp>
        <p:nvSpPr>
          <p:cNvPr id="40" name="Shape 37"/>
          <p:cNvSpPr/>
          <p:nvPr/>
        </p:nvSpPr>
        <p:spPr>
          <a:xfrm>
            <a:off x="5449824" y="2514600"/>
            <a:ext cx="1554480" cy="1188720"/>
          </a:xfrm>
          <a:prstGeom prst="roundRect">
            <a:avLst>
              <a:gd name="adj" fmla="val 7692"/>
            </a:avLst>
          </a:prstGeom>
          <a:solidFill>
            <a:srgbClr val="F4F5F7"/>
          </a:solidFill>
          <a:ln w="12700">
            <a:solidFill>
              <a:srgbClr val="F4F5F7"/>
            </a:solidFill>
            <a:prstDash val="solid"/>
          </a:ln>
        </p:spPr>
      </p:sp>
      <p:sp>
        <p:nvSpPr>
          <p:cNvPr id="41" name="Text 38"/>
          <p:cNvSpPr/>
          <p:nvPr/>
        </p:nvSpPr>
        <p:spPr>
          <a:xfrm>
            <a:off x="5559552"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C9</a:t>
            </a:r>
            <a:endParaRPr lang="en-US" sz="1300" dirty="0"/>
          </a:p>
        </p:txBody>
      </p:sp>
      <p:sp>
        <p:nvSpPr>
          <p:cNvPr id="42" name="Text 39"/>
          <p:cNvSpPr/>
          <p:nvPr/>
        </p:nvSpPr>
        <p:spPr>
          <a:xfrm>
            <a:off x="5559552"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Scam call</a:t>
            </a:r>
            <a:endParaRPr lang="en-US" sz="1200" dirty="0"/>
          </a:p>
        </p:txBody>
      </p:sp>
      <p:sp>
        <p:nvSpPr>
          <p:cNvPr id="43" name="Text 40"/>
          <p:cNvSpPr/>
          <p:nvPr/>
        </p:nvSpPr>
        <p:spPr>
          <a:xfrm>
            <a:off x="5559552"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pause → analyst hold</a:t>
            </a:r>
            <a:endParaRPr lang="en-US" sz="1000" dirty="0"/>
          </a:p>
        </p:txBody>
      </p:sp>
      <p:sp>
        <p:nvSpPr>
          <p:cNvPr id="44" name="Shape 41"/>
          <p:cNvSpPr/>
          <p:nvPr/>
        </p:nvSpPr>
        <p:spPr>
          <a:xfrm>
            <a:off x="7114032" y="2514600"/>
            <a:ext cx="1554480" cy="1188720"/>
          </a:xfrm>
          <a:prstGeom prst="roundRect">
            <a:avLst>
              <a:gd name="adj" fmla="val 7692"/>
            </a:avLst>
          </a:prstGeom>
          <a:solidFill>
            <a:srgbClr val="F4F5F7"/>
          </a:solidFill>
          <a:ln w="12700">
            <a:solidFill>
              <a:srgbClr val="F4F5F7"/>
            </a:solidFill>
            <a:prstDash val="solid"/>
          </a:ln>
        </p:spPr>
      </p:sp>
      <p:sp>
        <p:nvSpPr>
          <p:cNvPr id="45" name="Text 42"/>
          <p:cNvSpPr/>
          <p:nvPr/>
        </p:nvSpPr>
        <p:spPr>
          <a:xfrm>
            <a:off x="7223760"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C10</a:t>
            </a:r>
            <a:endParaRPr lang="en-US" sz="1300" dirty="0"/>
          </a:p>
        </p:txBody>
      </p:sp>
      <p:sp>
        <p:nvSpPr>
          <p:cNvPr id="46" name="Text 43"/>
          <p:cNvSpPr/>
          <p:nvPr/>
        </p:nvSpPr>
        <p:spPr>
          <a:xfrm>
            <a:off x="7223760"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Risky payee</a:t>
            </a:r>
            <a:endParaRPr lang="en-US" sz="1200" dirty="0"/>
          </a:p>
        </p:txBody>
      </p:sp>
      <p:sp>
        <p:nvSpPr>
          <p:cNvPr id="47" name="Text 44"/>
          <p:cNvSpPr/>
          <p:nvPr/>
        </p:nvSpPr>
        <p:spPr>
          <a:xfrm>
            <a:off x="7223760"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transfer-graph model</a:t>
            </a:r>
            <a:endParaRPr lang="en-US" sz="1000" dirty="0"/>
          </a:p>
        </p:txBody>
      </p:sp>
      <p:sp>
        <p:nvSpPr>
          <p:cNvPr id="48" name="Text 45"/>
          <p:cNvSpPr/>
          <p:nvPr/>
        </p:nvSpPr>
        <p:spPr>
          <a:xfrm>
            <a:off x="457200"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548 ₽ </a:t>
            </a:r>
            <a:pPr indent="0" marL="0">
              <a:buNone/>
            </a:pPr>
            <a:r>
              <a:rPr lang="en-US" sz="1200" dirty="0">
                <a:solidFill>
                  <a:srgbClr val="667085"/>
                </a:solidFill>
                <a:latin typeface="Inter" pitchFamily="34" charset="0"/>
                <a:ea typeface="Inter" pitchFamily="34" charset="-122"/>
                <a:cs typeface="Inter" pitchFamily="34" charset="-120"/>
              </a:rPr>
              <a:t>saved a month</a:t>
            </a:r>
            <a:endParaRPr lang="en-US" sz="1800" dirty="0"/>
          </a:p>
        </p:txBody>
      </p:sp>
      <p:sp>
        <p:nvSpPr>
          <p:cNvPr id="49" name="Text 46"/>
          <p:cNvSpPr/>
          <p:nvPr/>
        </p:nvSpPr>
        <p:spPr>
          <a:xfrm>
            <a:off x="2121408"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10 </a:t>
            </a:r>
            <a:pPr indent="0" marL="0">
              <a:buNone/>
            </a:pPr>
            <a:r>
              <a:rPr lang="en-US" sz="1200" dirty="0">
                <a:solidFill>
                  <a:srgbClr val="667085"/>
                </a:solidFill>
                <a:latin typeface="Inter" pitchFamily="34" charset="0"/>
                <a:ea typeface="Inter" pitchFamily="34" charset="-122"/>
                <a:cs typeface="Inter" pitchFamily="34" charset="-120"/>
              </a:rPr>
              <a:t>done</a:t>
            </a:r>
            <a:endParaRPr lang="en-US" sz="1800" dirty="0"/>
          </a:p>
        </p:txBody>
      </p:sp>
      <p:sp>
        <p:nvSpPr>
          <p:cNvPr id="50" name="Text 47"/>
          <p:cNvSpPr/>
          <p:nvPr/>
        </p:nvSpPr>
        <p:spPr>
          <a:xfrm>
            <a:off x="3785616"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11 </a:t>
            </a:r>
            <a:pPr indent="0" marL="0">
              <a:buNone/>
            </a:pPr>
            <a:r>
              <a:rPr lang="en-US" sz="1200" dirty="0">
                <a:solidFill>
                  <a:srgbClr val="667085"/>
                </a:solidFill>
                <a:latin typeface="Inter" pitchFamily="34" charset="0"/>
                <a:ea typeface="Inter" pitchFamily="34" charset="-122"/>
                <a:cs typeface="Inter" pitchFamily="34" charset="-120"/>
              </a:rPr>
              <a:t>asked</a:t>
            </a:r>
            <a:endParaRPr lang="en-US" sz="1800" dirty="0"/>
          </a:p>
        </p:txBody>
      </p:sp>
      <p:sp>
        <p:nvSpPr>
          <p:cNvPr id="51" name="Text 48"/>
          <p:cNvSpPr/>
          <p:nvPr/>
        </p:nvSpPr>
        <p:spPr>
          <a:xfrm>
            <a:off x="5449824"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2 </a:t>
            </a:r>
            <a:pPr indent="0" marL="0">
              <a:buNone/>
            </a:pPr>
            <a:r>
              <a:rPr lang="en-US" sz="1200" dirty="0">
                <a:solidFill>
                  <a:srgbClr val="667085"/>
                </a:solidFill>
                <a:latin typeface="Inter" pitchFamily="34" charset="0"/>
                <a:ea typeface="Inter" pitchFamily="34" charset="-122"/>
                <a:cs typeface="Inter" pitchFamily="34" charset="-120"/>
              </a:rPr>
              <a:t>stopped</a:t>
            </a:r>
            <a:endParaRPr lang="en-US" sz="1800" dirty="0"/>
          </a:p>
        </p:txBody>
      </p:sp>
      <p:sp>
        <p:nvSpPr>
          <p:cNvPr id="52" name="Text 49"/>
          <p:cNvSpPr/>
          <p:nvPr/>
        </p:nvSpPr>
        <p:spPr>
          <a:xfrm>
            <a:off x="7114032"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292 </a:t>
            </a:r>
            <a:pPr indent="0" marL="0">
              <a:buNone/>
            </a:pPr>
            <a:r>
              <a:rPr lang="en-US" sz="1200" dirty="0">
                <a:solidFill>
                  <a:srgbClr val="667085"/>
                </a:solidFill>
                <a:latin typeface="Inter" pitchFamily="34" charset="0"/>
                <a:ea typeface="Inter" pitchFamily="34" charset="-122"/>
                <a:cs typeface="Inter" pitchFamily="34" charset="-120"/>
              </a:rPr>
              <a:t>journal entries, verified</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What the client sees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5 / 12</a:t>
            </a:r>
            <a:endParaRPr lang="en-US" sz="900" dirty="0"/>
          </a:p>
        </p:txBody>
      </p:sp>
      <p:pic>
        <p:nvPicPr>
          <p:cNvPr id="8" name="Image 0" descr="/workspace/ShenzhenFinTechathonTopicA/docs/media/01_card_chat.png">    </p:cNvPr>
          <p:cNvPicPr>
            <a:picLocks noChangeAspect="1"/>
          </p:cNvPicPr>
          <p:nvPr/>
        </p:nvPicPr>
        <p:blipFill>
          <a:blip r:embed="rId1"/>
          <a:stretch>
            <a:fillRect/>
          </a:stretch>
        </p:blipFill>
        <p:spPr>
          <a:xfrm>
            <a:off x="914400" y="1188720"/>
            <a:ext cx="3108960" cy="3152140"/>
          </a:xfrm>
          <a:prstGeom prst="rect">
            <a:avLst/>
          </a:prstGeom>
        </p:spPr>
      </p:pic>
      <p:sp>
        <p:nvSpPr>
          <p:cNvPr id="9" name="Shape 5"/>
          <p:cNvSpPr/>
          <p:nvPr/>
        </p:nvSpPr>
        <p:spPr>
          <a:xfrm>
            <a:off x="914400" y="1188720"/>
            <a:ext cx="3108960" cy="3152140"/>
          </a:xfrm>
          <a:prstGeom prst="roundRect">
            <a:avLst>
              <a:gd name="adj" fmla="val 1765"/>
            </a:avLst>
          </a:prstGeom>
          <a:ln w="12700">
            <a:solidFill>
              <a:srgbClr val="E4E7EC"/>
            </a:solidFill>
            <a:prstDash val="solid"/>
          </a:ln>
        </p:spPr>
      </p:sp>
      <p:sp>
        <p:nvSpPr>
          <p:cNvPr id="10" name="Text 6"/>
          <p:cNvSpPr/>
          <p:nvPr/>
        </p:nvSpPr>
        <p:spPr>
          <a:xfrm>
            <a:off x="457200" y="4377436"/>
            <a:ext cx="4023360" cy="274320"/>
          </a:xfrm>
          <a:prstGeom prst="rect">
            <a:avLst/>
          </a:prstGeom>
          <a:noFill/>
          <a:ln/>
        </p:spPr>
        <p:txBody>
          <a:bodyPr wrap="square" lIns="0" tIns="0" rIns="0" bIns="0" rtlCol="0" anchor="ctr"/>
          <a:lstStyle/>
          <a:p>
            <a:pPr algn="ctr" indent="0" marL="0">
              <a:buNone/>
            </a:pPr>
            <a:r>
              <a:rPr lang="en-US" sz="1100" dirty="0">
                <a:solidFill>
                  <a:srgbClr val="101828"/>
                </a:solidFill>
                <a:latin typeface="Inter" pitchFamily="34" charset="0"/>
                <a:ea typeface="Inter" pitchFamily="34" charset="-122"/>
                <a:cs typeface="Inter" pitchFamily="34" charset="-120"/>
              </a:rPr>
              <a:t>A card: every field with its source, signed with the device key</a:t>
            </a:r>
            <a:endParaRPr lang="en-US" sz="1100" dirty="0"/>
          </a:p>
        </p:txBody>
      </p:sp>
      <p:pic>
        <p:nvPicPr>
          <p:cNvPr id="11" name="Image 1" descr="/workspace/ShenzhenFinTechathonTopicA/docs/media/06_fake_bill_chat.png">    </p:cNvPr>
          <p:cNvPicPr>
            <a:picLocks noChangeAspect="1"/>
          </p:cNvPicPr>
          <p:nvPr/>
        </p:nvPicPr>
        <p:blipFill>
          <a:blip r:embed="rId2"/>
          <a:stretch>
            <a:fillRect/>
          </a:stretch>
        </p:blipFill>
        <p:spPr>
          <a:xfrm>
            <a:off x="5120640" y="1188720"/>
            <a:ext cx="3108960" cy="3152140"/>
          </a:xfrm>
          <a:prstGeom prst="rect">
            <a:avLst/>
          </a:prstGeom>
        </p:spPr>
      </p:pic>
      <p:sp>
        <p:nvSpPr>
          <p:cNvPr id="12" name="Shape 7"/>
          <p:cNvSpPr/>
          <p:nvPr/>
        </p:nvSpPr>
        <p:spPr>
          <a:xfrm>
            <a:off x="5120640" y="1188720"/>
            <a:ext cx="3108960" cy="3152140"/>
          </a:xfrm>
          <a:prstGeom prst="roundRect">
            <a:avLst>
              <a:gd name="adj" fmla="val 1765"/>
            </a:avLst>
          </a:prstGeom>
          <a:ln w="12700">
            <a:solidFill>
              <a:srgbClr val="E4E7EC"/>
            </a:solidFill>
            <a:prstDash val="solid"/>
          </a:ln>
        </p:spPr>
      </p:sp>
      <p:sp>
        <p:nvSpPr>
          <p:cNvPr id="13" name="Text 8"/>
          <p:cNvSpPr/>
          <p:nvPr/>
        </p:nvSpPr>
        <p:spPr>
          <a:xfrm>
            <a:off x="4663440" y="4377436"/>
            <a:ext cx="4023360" cy="274320"/>
          </a:xfrm>
          <a:prstGeom prst="rect">
            <a:avLst/>
          </a:prstGeom>
          <a:noFill/>
          <a:ln/>
        </p:spPr>
        <p:txBody>
          <a:bodyPr wrap="square" lIns="0" tIns="0" rIns="0" bIns="0" rtlCol="0" anchor="ctr"/>
          <a:lstStyle/>
          <a:p>
            <a:pPr algn="ctr" indent="0" marL="0">
              <a:buNone/>
            </a:pPr>
            <a:r>
              <a:rPr lang="en-US" sz="1100" dirty="0">
                <a:solidFill>
                  <a:srgbClr val="101828"/>
                </a:solidFill>
                <a:latin typeface="Inter" pitchFamily="34" charset="0"/>
                <a:ea typeface="Inter" pitchFamily="34" charset="-122"/>
                <a:cs typeface="Inter" pitchFamily="34" charset="-120"/>
              </a:rPr>
              <a:t>A fake bill: stopped with reasons, case sent to analysts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Architecture</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6 / 12</a:t>
            </a:r>
            <a:endParaRPr lang="en-US" sz="900" dirty="0"/>
          </a:p>
        </p:txBody>
      </p:sp>
      <p:pic>
        <p:nvPicPr>
          <p:cNvPr id="8" name="Image 0" descr="/workspace/ShenzhenFinTechathonTopicA/docs/diagrams/architecture.png">    </p:cNvPr>
          <p:cNvPicPr>
            <a:picLocks noChangeAspect="1"/>
          </p:cNvPicPr>
          <p:nvPr/>
        </p:nvPicPr>
        <p:blipFill>
          <a:blip r:embed="rId1"/>
          <a:stretch>
            <a:fillRect/>
          </a:stretch>
        </p:blipFill>
        <p:spPr>
          <a:xfrm>
            <a:off x="1054852" y="1005840"/>
            <a:ext cx="7034296" cy="3657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One kernel pipeline for every intent</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7 / 12</a:t>
            </a:r>
            <a:endParaRPr lang="en-US" sz="900" dirty="0"/>
          </a:p>
        </p:txBody>
      </p:sp>
      <p:sp>
        <p:nvSpPr>
          <p:cNvPr id="8" name="Shape 5"/>
          <p:cNvSpPr/>
          <p:nvPr/>
        </p:nvSpPr>
        <p:spPr>
          <a:xfrm>
            <a:off x="457200" y="1234440"/>
            <a:ext cx="1234440" cy="640080"/>
          </a:xfrm>
          <a:prstGeom prst="roundRect">
            <a:avLst>
              <a:gd name="adj" fmla="val 11429"/>
            </a:avLst>
          </a:prstGeom>
          <a:solidFill>
            <a:srgbClr val="FFFFFF"/>
          </a:solidFill>
          <a:ln w="12700">
            <a:solidFill>
              <a:srgbClr val="E4E7EC"/>
            </a:solidFill>
            <a:prstDash val="solid"/>
          </a:ln>
        </p:spPr>
      </p:sp>
      <p:sp>
        <p:nvSpPr>
          <p:cNvPr id="9" name="Text 6"/>
          <p:cNvSpPr/>
          <p:nvPr/>
        </p:nvSpPr>
        <p:spPr>
          <a:xfrm>
            <a:off x="5303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01</a:t>
            </a:r>
            <a:endParaRPr lang="en-US" sz="800" dirty="0"/>
          </a:p>
        </p:txBody>
      </p:sp>
      <p:sp>
        <p:nvSpPr>
          <p:cNvPr id="10" name="Text 7"/>
          <p:cNvSpPr/>
          <p:nvPr/>
        </p:nvSpPr>
        <p:spPr>
          <a:xfrm>
            <a:off x="4572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Passport</a:t>
            </a:r>
            <a:endParaRPr lang="en-US" sz="1200" dirty="0"/>
          </a:p>
        </p:txBody>
      </p:sp>
      <p:sp>
        <p:nvSpPr>
          <p:cNvPr id="11" name="Text 8"/>
          <p:cNvSpPr/>
          <p:nvPr/>
        </p:nvSpPr>
        <p:spPr>
          <a:xfrm>
            <a:off x="16916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12" name="Shape 9"/>
          <p:cNvSpPr/>
          <p:nvPr/>
        </p:nvSpPr>
        <p:spPr>
          <a:xfrm>
            <a:off x="1828800" y="1234440"/>
            <a:ext cx="1234440" cy="640080"/>
          </a:xfrm>
          <a:prstGeom prst="roundRect">
            <a:avLst>
              <a:gd name="adj" fmla="val 11429"/>
            </a:avLst>
          </a:prstGeom>
          <a:solidFill>
            <a:srgbClr val="FFFFFF"/>
          </a:solidFill>
          <a:ln w="12700">
            <a:solidFill>
              <a:srgbClr val="E4E7EC"/>
            </a:solidFill>
            <a:prstDash val="solid"/>
          </a:ln>
        </p:spPr>
      </p:sp>
      <p:sp>
        <p:nvSpPr>
          <p:cNvPr id="13" name="Text 10"/>
          <p:cNvSpPr/>
          <p:nvPr/>
        </p:nvSpPr>
        <p:spPr>
          <a:xfrm>
            <a:off x="19019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02</a:t>
            </a:r>
            <a:endParaRPr lang="en-US" sz="800" dirty="0"/>
          </a:p>
        </p:txBody>
      </p:sp>
      <p:sp>
        <p:nvSpPr>
          <p:cNvPr id="14" name="Text 11"/>
          <p:cNvSpPr/>
          <p:nvPr/>
        </p:nvSpPr>
        <p:spPr>
          <a:xfrm>
            <a:off x="18288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Schema</a:t>
            </a:r>
            <a:endParaRPr lang="en-US" sz="1200" dirty="0"/>
          </a:p>
        </p:txBody>
      </p:sp>
      <p:sp>
        <p:nvSpPr>
          <p:cNvPr id="15" name="Text 12"/>
          <p:cNvSpPr/>
          <p:nvPr/>
        </p:nvSpPr>
        <p:spPr>
          <a:xfrm>
            <a:off x="30632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16" name="Shape 13"/>
          <p:cNvSpPr/>
          <p:nvPr/>
        </p:nvSpPr>
        <p:spPr>
          <a:xfrm>
            <a:off x="3200400" y="1234440"/>
            <a:ext cx="1234440" cy="640080"/>
          </a:xfrm>
          <a:prstGeom prst="roundRect">
            <a:avLst>
              <a:gd name="adj" fmla="val 11429"/>
            </a:avLst>
          </a:prstGeom>
          <a:solidFill>
            <a:srgbClr val="FFFFFF"/>
          </a:solidFill>
          <a:ln w="12700">
            <a:solidFill>
              <a:srgbClr val="E4E7EC"/>
            </a:solidFill>
            <a:prstDash val="solid"/>
          </a:ln>
        </p:spPr>
      </p:sp>
      <p:sp>
        <p:nvSpPr>
          <p:cNvPr id="17" name="Text 14"/>
          <p:cNvSpPr/>
          <p:nvPr/>
        </p:nvSpPr>
        <p:spPr>
          <a:xfrm>
            <a:off x="32735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03</a:t>
            </a:r>
            <a:endParaRPr lang="en-US" sz="800" dirty="0"/>
          </a:p>
        </p:txBody>
      </p:sp>
      <p:sp>
        <p:nvSpPr>
          <p:cNvPr id="18" name="Text 15"/>
          <p:cNvSpPr/>
          <p:nvPr/>
        </p:nvSpPr>
        <p:spPr>
          <a:xfrm>
            <a:off x="32004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Mandate</a:t>
            </a:r>
            <a:endParaRPr lang="en-US" sz="1200" dirty="0"/>
          </a:p>
        </p:txBody>
      </p:sp>
      <p:sp>
        <p:nvSpPr>
          <p:cNvPr id="19" name="Text 16"/>
          <p:cNvSpPr/>
          <p:nvPr/>
        </p:nvSpPr>
        <p:spPr>
          <a:xfrm>
            <a:off x="44348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0" name="Shape 17"/>
          <p:cNvSpPr/>
          <p:nvPr/>
        </p:nvSpPr>
        <p:spPr>
          <a:xfrm>
            <a:off x="4572000" y="1234440"/>
            <a:ext cx="1234440" cy="640080"/>
          </a:xfrm>
          <a:prstGeom prst="roundRect">
            <a:avLst>
              <a:gd name="adj" fmla="val 11429"/>
            </a:avLst>
          </a:prstGeom>
          <a:solidFill>
            <a:srgbClr val="FFFFFF"/>
          </a:solidFill>
          <a:ln w="12700">
            <a:solidFill>
              <a:srgbClr val="E4E7EC"/>
            </a:solidFill>
            <a:prstDash val="solid"/>
          </a:ln>
        </p:spPr>
      </p:sp>
      <p:sp>
        <p:nvSpPr>
          <p:cNvPr id="21" name="Text 18"/>
          <p:cNvSpPr/>
          <p:nvPr/>
        </p:nvSpPr>
        <p:spPr>
          <a:xfrm>
            <a:off x="46451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04</a:t>
            </a:r>
            <a:endParaRPr lang="en-US" sz="800" dirty="0"/>
          </a:p>
        </p:txBody>
      </p:sp>
      <p:sp>
        <p:nvSpPr>
          <p:cNvPr id="22" name="Text 19"/>
          <p:cNvSpPr/>
          <p:nvPr/>
        </p:nvSpPr>
        <p:spPr>
          <a:xfrm>
            <a:off x="45720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Provenance</a:t>
            </a:r>
            <a:endParaRPr lang="en-US" sz="1200" dirty="0"/>
          </a:p>
        </p:txBody>
      </p:sp>
      <p:sp>
        <p:nvSpPr>
          <p:cNvPr id="23" name="Text 20"/>
          <p:cNvSpPr/>
          <p:nvPr/>
        </p:nvSpPr>
        <p:spPr>
          <a:xfrm>
            <a:off x="58064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4" name="Shape 21"/>
          <p:cNvSpPr/>
          <p:nvPr/>
        </p:nvSpPr>
        <p:spPr>
          <a:xfrm>
            <a:off x="5943600" y="1234440"/>
            <a:ext cx="1234440" cy="640080"/>
          </a:xfrm>
          <a:prstGeom prst="roundRect">
            <a:avLst>
              <a:gd name="adj" fmla="val 11429"/>
            </a:avLst>
          </a:prstGeom>
          <a:solidFill>
            <a:srgbClr val="FFFFFF"/>
          </a:solidFill>
          <a:ln w="12700">
            <a:solidFill>
              <a:srgbClr val="E4E7EC"/>
            </a:solidFill>
            <a:prstDash val="solid"/>
          </a:ln>
        </p:spPr>
      </p:sp>
      <p:sp>
        <p:nvSpPr>
          <p:cNvPr id="25" name="Text 22"/>
          <p:cNvSpPr/>
          <p:nvPr/>
        </p:nvSpPr>
        <p:spPr>
          <a:xfrm>
            <a:off x="60167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05</a:t>
            </a:r>
            <a:endParaRPr lang="en-US" sz="800" dirty="0"/>
          </a:p>
        </p:txBody>
      </p:sp>
      <p:sp>
        <p:nvSpPr>
          <p:cNvPr id="26" name="Text 23"/>
          <p:cNvSpPr/>
          <p:nvPr/>
        </p:nvSpPr>
        <p:spPr>
          <a:xfrm>
            <a:off x="59436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References</a:t>
            </a:r>
            <a:endParaRPr lang="en-US" sz="1200" dirty="0"/>
          </a:p>
        </p:txBody>
      </p:sp>
      <p:sp>
        <p:nvSpPr>
          <p:cNvPr id="27" name="Text 24"/>
          <p:cNvSpPr/>
          <p:nvPr/>
        </p:nvSpPr>
        <p:spPr>
          <a:xfrm>
            <a:off x="71780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8" name="Shape 25"/>
          <p:cNvSpPr/>
          <p:nvPr/>
        </p:nvSpPr>
        <p:spPr>
          <a:xfrm>
            <a:off x="7315200" y="1234440"/>
            <a:ext cx="1234440" cy="640080"/>
          </a:xfrm>
          <a:prstGeom prst="roundRect">
            <a:avLst>
              <a:gd name="adj" fmla="val 11429"/>
            </a:avLst>
          </a:prstGeom>
          <a:solidFill>
            <a:srgbClr val="FFFFFF"/>
          </a:solidFill>
          <a:ln w="12700">
            <a:solidFill>
              <a:srgbClr val="E4E7EC"/>
            </a:solidFill>
            <a:prstDash val="solid"/>
          </a:ln>
        </p:spPr>
      </p:sp>
      <p:sp>
        <p:nvSpPr>
          <p:cNvPr id="29" name="Text 26"/>
          <p:cNvSpPr/>
          <p:nvPr/>
        </p:nvSpPr>
        <p:spPr>
          <a:xfrm>
            <a:off x="73883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06</a:t>
            </a:r>
            <a:endParaRPr lang="en-US" sz="800" dirty="0"/>
          </a:p>
        </p:txBody>
      </p:sp>
      <p:sp>
        <p:nvSpPr>
          <p:cNvPr id="30" name="Text 27"/>
          <p:cNvSpPr/>
          <p:nvPr/>
        </p:nvSpPr>
        <p:spPr>
          <a:xfrm>
            <a:off x="73152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Policy</a:t>
            </a:r>
            <a:endParaRPr lang="en-US" sz="1200" dirty="0"/>
          </a:p>
        </p:txBody>
      </p:sp>
      <p:sp>
        <p:nvSpPr>
          <p:cNvPr id="31" name="Shape 28"/>
          <p:cNvSpPr/>
          <p:nvPr/>
        </p:nvSpPr>
        <p:spPr>
          <a:xfrm>
            <a:off x="457200" y="2103120"/>
            <a:ext cx="1234440" cy="640080"/>
          </a:xfrm>
          <a:prstGeom prst="roundRect">
            <a:avLst>
              <a:gd name="adj" fmla="val 11429"/>
            </a:avLst>
          </a:prstGeom>
          <a:solidFill>
            <a:srgbClr val="FFFFFF"/>
          </a:solidFill>
          <a:ln w="12700">
            <a:solidFill>
              <a:srgbClr val="E4E7EC"/>
            </a:solidFill>
            <a:prstDash val="solid"/>
          </a:ln>
        </p:spPr>
      </p:sp>
      <p:sp>
        <p:nvSpPr>
          <p:cNvPr id="32" name="Text 29"/>
          <p:cNvSpPr/>
          <p:nvPr/>
        </p:nvSpPr>
        <p:spPr>
          <a:xfrm>
            <a:off x="5303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07</a:t>
            </a:r>
            <a:endParaRPr lang="en-US" sz="800" dirty="0"/>
          </a:p>
        </p:txBody>
      </p:sp>
      <p:sp>
        <p:nvSpPr>
          <p:cNvPr id="33" name="Text 30"/>
          <p:cNvSpPr/>
          <p:nvPr/>
        </p:nvSpPr>
        <p:spPr>
          <a:xfrm>
            <a:off x="4572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Risk</a:t>
            </a:r>
            <a:endParaRPr lang="en-US" sz="1200" dirty="0"/>
          </a:p>
        </p:txBody>
      </p:sp>
      <p:sp>
        <p:nvSpPr>
          <p:cNvPr id="34" name="Text 31"/>
          <p:cNvSpPr/>
          <p:nvPr/>
        </p:nvSpPr>
        <p:spPr>
          <a:xfrm>
            <a:off x="16916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35" name="Shape 32"/>
          <p:cNvSpPr/>
          <p:nvPr/>
        </p:nvSpPr>
        <p:spPr>
          <a:xfrm>
            <a:off x="1828800" y="2103120"/>
            <a:ext cx="1234440" cy="640080"/>
          </a:xfrm>
          <a:prstGeom prst="roundRect">
            <a:avLst>
              <a:gd name="adj" fmla="val 11429"/>
            </a:avLst>
          </a:prstGeom>
          <a:solidFill>
            <a:srgbClr val="FFFFFF"/>
          </a:solidFill>
          <a:ln w="12700">
            <a:solidFill>
              <a:srgbClr val="E4E7EC"/>
            </a:solidFill>
            <a:prstDash val="solid"/>
          </a:ln>
        </p:spPr>
      </p:sp>
      <p:sp>
        <p:nvSpPr>
          <p:cNvPr id="36" name="Text 33"/>
          <p:cNvSpPr/>
          <p:nvPr/>
        </p:nvSpPr>
        <p:spPr>
          <a:xfrm>
            <a:off x="19019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08</a:t>
            </a:r>
            <a:endParaRPr lang="en-US" sz="800" dirty="0"/>
          </a:p>
        </p:txBody>
      </p:sp>
      <p:sp>
        <p:nvSpPr>
          <p:cNvPr id="37" name="Text 34"/>
          <p:cNvSpPr/>
          <p:nvPr/>
        </p:nvSpPr>
        <p:spPr>
          <a:xfrm>
            <a:off x="18288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Critic</a:t>
            </a:r>
            <a:endParaRPr lang="en-US" sz="1200" dirty="0"/>
          </a:p>
        </p:txBody>
      </p:sp>
      <p:sp>
        <p:nvSpPr>
          <p:cNvPr id="38" name="Text 35"/>
          <p:cNvSpPr/>
          <p:nvPr/>
        </p:nvSpPr>
        <p:spPr>
          <a:xfrm>
            <a:off x="30632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39" name="Shape 36"/>
          <p:cNvSpPr/>
          <p:nvPr/>
        </p:nvSpPr>
        <p:spPr>
          <a:xfrm>
            <a:off x="3200400" y="2103120"/>
            <a:ext cx="1234440" cy="640080"/>
          </a:xfrm>
          <a:prstGeom prst="roundRect">
            <a:avLst>
              <a:gd name="adj" fmla="val 11429"/>
            </a:avLst>
          </a:prstGeom>
          <a:solidFill>
            <a:srgbClr val="FFFFFF"/>
          </a:solidFill>
          <a:ln w="12700">
            <a:solidFill>
              <a:srgbClr val="E4E7EC"/>
            </a:solidFill>
            <a:prstDash val="solid"/>
          </a:ln>
        </p:spPr>
      </p:sp>
      <p:sp>
        <p:nvSpPr>
          <p:cNvPr id="40" name="Text 37"/>
          <p:cNvSpPr/>
          <p:nvPr/>
        </p:nvSpPr>
        <p:spPr>
          <a:xfrm>
            <a:off x="32735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09</a:t>
            </a:r>
            <a:endParaRPr lang="en-US" sz="800" dirty="0"/>
          </a:p>
        </p:txBody>
      </p:sp>
      <p:sp>
        <p:nvSpPr>
          <p:cNvPr id="41" name="Text 38"/>
          <p:cNvSpPr/>
          <p:nvPr/>
        </p:nvSpPr>
        <p:spPr>
          <a:xfrm>
            <a:off x="32004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Shadow run</a:t>
            </a:r>
            <a:endParaRPr lang="en-US" sz="1200" dirty="0"/>
          </a:p>
        </p:txBody>
      </p:sp>
      <p:sp>
        <p:nvSpPr>
          <p:cNvPr id="42" name="Text 39"/>
          <p:cNvSpPr/>
          <p:nvPr/>
        </p:nvSpPr>
        <p:spPr>
          <a:xfrm>
            <a:off x="44348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43" name="Shape 40"/>
          <p:cNvSpPr/>
          <p:nvPr/>
        </p:nvSpPr>
        <p:spPr>
          <a:xfrm>
            <a:off x="4572000" y="2103120"/>
            <a:ext cx="1234440" cy="640080"/>
          </a:xfrm>
          <a:prstGeom prst="roundRect">
            <a:avLst>
              <a:gd name="adj" fmla="val 11429"/>
            </a:avLst>
          </a:prstGeom>
          <a:solidFill>
            <a:srgbClr val="F3F0FF"/>
          </a:solidFill>
          <a:ln w="12700">
            <a:solidFill>
              <a:srgbClr val="D4CCF9"/>
            </a:solidFill>
            <a:prstDash val="solid"/>
          </a:ln>
        </p:spPr>
      </p:sp>
      <p:sp>
        <p:nvSpPr>
          <p:cNvPr id="44" name="Text 41"/>
          <p:cNvSpPr/>
          <p:nvPr/>
        </p:nvSpPr>
        <p:spPr>
          <a:xfrm>
            <a:off x="46451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10</a:t>
            </a:r>
            <a:endParaRPr lang="en-US" sz="800" dirty="0"/>
          </a:p>
        </p:txBody>
      </p:sp>
      <p:sp>
        <p:nvSpPr>
          <p:cNvPr id="45" name="Text 42"/>
          <p:cNvSpPr/>
          <p:nvPr/>
        </p:nvSpPr>
        <p:spPr>
          <a:xfrm>
            <a:off x="45720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Execute</a:t>
            </a:r>
            <a:endParaRPr lang="en-US" sz="1200" dirty="0"/>
          </a:p>
        </p:txBody>
      </p:sp>
      <p:sp>
        <p:nvSpPr>
          <p:cNvPr id="46" name="Text 43"/>
          <p:cNvSpPr/>
          <p:nvPr/>
        </p:nvSpPr>
        <p:spPr>
          <a:xfrm>
            <a:off x="58064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47" name="Shape 44"/>
          <p:cNvSpPr/>
          <p:nvPr/>
        </p:nvSpPr>
        <p:spPr>
          <a:xfrm>
            <a:off x="5943600" y="2103120"/>
            <a:ext cx="1234440" cy="640080"/>
          </a:xfrm>
          <a:prstGeom prst="roundRect">
            <a:avLst>
              <a:gd name="adj" fmla="val 11429"/>
            </a:avLst>
          </a:prstGeom>
          <a:solidFill>
            <a:srgbClr val="F3F0FF"/>
          </a:solidFill>
          <a:ln w="12700">
            <a:solidFill>
              <a:srgbClr val="D4CCF9"/>
            </a:solidFill>
            <a:prstDash val="solid"/>
          </a:ln>
        </p:spPr>
      </p:sp>
      <p:sp>
        <p:nvSpPr>
          <p:cNvPr id="48" name="Text 45"/>
          <p:cNvSpPr/>
          <p:nvPr/>
        </p:nvSpPr>
        <p:spPr>
          <a:xfrm>
            <a:off x="60167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11</a:t>
            </a:r>
            <a:endParaRPr lang="en-US" sz="800" dirty="0"/>
          </a:p>
        </p:txBody>
      </p:sp>
      <p:sp>
        <p:nvSpPr>
          <p:cNvPr id="49" name="Text 46"/>
          <p:cNvSpPr/>
          <p:nvPr/>
        </p:nvSpPr>
        <p:spPr>
          <a:xfrm>
            <a:off x="59436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Verify</a:t>
            </a:r>
            <a:endParaRPr lang="en-US" sz="1200" dirty="0"/>
          </a:p>
        </p:txBody>
      </p:sp>
      <p:sp>
        <p:nvSpPr>
          <p:cNvPr id="50" name="Text 47"/>
          <p:cNvSpPr/>
          <p:nvPr/>
        </p:nvSpPr>
        <p:spPr>
          <a:xfrm>
            <a:off x="457200" y="310896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Provenance  </a:t>
            </a:r>
            <a:pPr indent="0" marL="0">
              <a:buNone/>
            </a:pPr>
            <a:r>
              <a:rPr lang="en-US" sz="1200" dirty="0">
                <a:solidFill>
                  <a:srgbClr val="101828"/>
                </a:solidFill>
                <a:latin typeface="Inter" pitchFamily="34" charset="0"/>
                <a:ea typeface="Inter" pitchFamily="34" charset="-122"/>
                <a:cs typeface="Inter" pitchFamily="34" charset="-120"/>
              </a:rPr>
              <a:t>CLIENT · BANK · UNTRUSTED. A value from a bill or a web page can never set the payee or the amount.</a:t>
            </a:r>
            <a:endParaRPr lang="en-US" sz="1200" dirty="0"/>
          </a:p>
        </p:txBody>
      </p:sp>
      <p:sp>
        <p:nvSpPr>
          <p:cNvPr id="51" name="Text 48"/>
          <p:cNvSpPr/>
          <p:nvPr/>
        </p:nvSpPr>
        <p:spPr>
          <a:xfrm>
            <a:off x="4663440" y="310896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Critic  </a:t>
            </a:r>
            <a:pPr indent="0" marL="0">
              <a:buNone/>
            </a:pPr>
            <a:r>
              <a:rPr lang="en-US" sz="1200" dirty="0">
                <a:solidFill>
                  <a:srgbClr val="101828"/>
                </a:solidFill>
                <a:latin typeface="Inter" pitchFamily="34" charset="0"/>
                <a:ea typeface="Inter" pitchFamily="34" charset="-122"/>
                <a:cs typeface="Inter" pitchFamily="34" charset="-120"/>
              </a:rPr>
              <a:t>A second model sees only the client's words and the card, not the documents an attacker controls.</a:t>
            </a:r>
            <a:endParaRPr lang="en-US" sz="1200" dirty="0"/>
          </a:p>
        </p:txBody>
      </p:sp>
      <p:sp>
        <p:nvSpPr>
          <p:cNvPr id="52" name="Text 49"/>
          <p:cNvSpPr/>
          <p:nvPr/>
        </p:nvSpPr>
        <p:spPr>
          <a:xfrm>
            <a:off x="457200" y="397764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Shadow run  </a:t>
            </a:r>
            <a:pPr indent="0" marL="0">
              <a:buNone/>
            </a:pPr>
            <a:r>
              <a:rPr lang="en-US" sz="1200" dirty="0">
                <a:solidFill>
                  <a:srgbClr val="101828"/>
                </a:solidFill>
                <a:latin typeface="Inter" pitchFamily="34" charset="0"/>
                <a:ea typeface="Inter" pitchFamily="34" charset="-122"/>
                <a:cs typeface="Inter" pitchFamily="34" charset="-120"/>
              </a:rPr>
              <a:t>The payment is rehearsed in a copy of the bank; if money moves differently, it is denied.</a:t>
            </a:r>
            <a:endParaRPr lang="en-US" sz="1200" dirty="0"/>
          </a:p>
        </p:txBody>
      </p:sp>
      <p:sp>
        <p:nvSpPr>
          <p:cNvPr id="53" name="Text 50"/>
          <p:cNvSpPr/>
          <p:nvPr/>
        </p:nvSpPr>
        <p:spPr>
          <a:xfrm>
            <a:off x="4663440" y="397764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Trust levels 0, 1, 2  </a:t>
            </a:r>
            <a:pPr indent="0" marL="0">
              <a:buNone/>
            </a:pPr>
            <a:r>
              <a:rPr lang="en-US" sz="1200" dirty="0">
                <a:solidFill>
                  <a:srgbClr val="101828"/>
                </a:solidFill>
                <a:latin typeface="Inter" pitchFamily="34" charset="0"/>
                <a:ea typeface="Inter" pitchFamily="34" charset="-122"/>
                <a:cs typeface="Inter" pitchFamily="34" charset="-120"/>
              </a:rPr>
              <a:t>Level 1 limit 1 000 ₽; promotion after 5 verified results in a row. Autonomy stages 1 and 2, stage 3 not offered.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Budget and payee risk: measured, not claimed</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8 / 12</a:t>
            </a:r>
            <a:endParaRPr lang="en-US" sz="900" dirty="0"/>
          </a:p>
        </p:txBody>
      </p:sp>
      <p:sp>
        <p:nvSpPr>
          <p:cNvPr id="8" name="Text 5"/>
          <p:cNvSpPr/>
          <p:nvPr/>
        </p:nvSpPr>
        <p:spPr>
          <a:xfrm>
            <a:off x="457200" y="109728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C8 budget</a:t>
            </a:r>
            <a:endParaRPr lang="en-US" sz="1700" dirty="0"/>
          </a:p>
        </p:txBody>
      </p:sp>
      <p:sp>
        <p:nvSpPr>
          <p:cNvPr id="9" name="Text 6"/>
          <p:cNvSpPr/>
          <p:nvPr/>
        </p:nvSpPr>
        <p:spPr>
          <a:xfrm>
            <a:off x="4663440" y="109728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C10 payee risk on the transfer graph</a:t>
            </a:r>
            <a:endParaRPr lang="en-US" sz="1700" dirty="0"/>
          </a:p>
        </p:txBody>
      </p:sp>
      <p:sp>
        <p:nvSpPr>
          <p:cNvPr id="10" name="Shape 7"/>
          <p:cNvSpPr/>
          <p:nvPr/>
        </p:nvSpPr>
        <p:spPr>
          <a:xfrm>
            <a:off x="457200" y="1554480"/>
            <a:ext cx="1920240" cy="1188720"/>
          </a:xfrm>
          <a:prstGeom prst="roundRect">
            <a:avLst>
              <a:gd name="adj" fmla="val 7692"/>
            </a:avLst>
          </a:prstGeom>
          <a:solidFill>
            <a:srgbClr val="F4F5F7"/>
          </a:solidFill>
          <a:ln w="12700">
            <a:solidFill>
              <a:srgbClr val="F4F5F7"/>
            </a:solidFill>
            <a:prstDash val="solid"/>
          </a:ln>
        </p:spPr>
      </p:sp>
      <p:sp>
        <p:nvSpPr>
          <p:cNvPr id="11" name="Text 8"/>
          <p:cNvSpPr/>
          <p:nvPr/>
        </p:nvSpPr>
        <p:spPr>
          <a:xfrm>
            <a:off x="59436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5/5</a:t>
            </a:r>
            <a:endParaRPr lang="en-US" sz="2600" dirty="0"/>
          </a:p>
        </p:txBody>
      </p:sp>
      <p:sp>
        <p:nvSpPr>
          <p:cNvPr id="12" name="Text 9"/>
          <p:cNvSpPr/>
          <p:nvPr/>
        </p:nvSpPr>
        <p:spPr>
          <a:xfrm>
            <a:off x="59436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planted leaks found, 847 ₽ a month</a:t>
            </a:r>
            <a:endParaRPr lang="en-US" sz="1050" dirty="0"/>
          </a:p>
        </p:txBody>
      </p:sp>
      <p:sp>
        <p:nvSpPr>
          <p:cNvPr id="13" name="Shape 10"/>
          <p:cNvSpPr/>
          <p:nvPr/>
        </p:nvSpPr>
        <p:spPr>
          <a:xfrm>
            <a:off x="2560320" y="1554480"/>
            <a:ext cx="1920240" cy="1188720"/>
          </a:xfrm>
          <a:prstGeom prst="roundRect">
            <a:avLst>
              <a:gd name="adj" fmla="val 7692"/>
            </a:avLst>
          </a:prstGeom>
          <a:solidFill>
            <a:srgbClr val="F4F5F7"/>
          </a:solidFill>
          <a:ln w="12700">
            <a:solidFill>
              <a:srgbClr val="F4F5F7"/>
            </a:solidFill>
            <a:prstDash val="solid"/>
          </a:ln>
        </p:spPr>
      </p:sp>
      <p:sp>
        <p:nvSpPr>
          <p:cNvPr id="14" name="Text 11"/>
          <p:cNvSpPr/>
          <p:nvPr/>
        </p:nvSpPr>
        <p:spPr>
          <a:xfrm>
            <a:off x="269748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27.3%</a:t>
            </a:r>
            <a:endParaRPr lang="en-US" sz="2600" dirty="0"/>
          </a:p>
        </p:txBody>
      </p:sp>
      <p:sp>
        <p:nvSpPr>
          <p:cNvPr id="15" name="Text 12"/>
          <p:cNvSpPr/>
          <p:nvPr/>
        </p:nvSpPr>
        <p:spPr>
          <a:xfrm>
            <a:off x="269748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spending forecast error (WAPE), held-out months</a:t>
            </a:r>
            <a:endParaRPr lang="en-US" sz="1050" dirty="0"/>
          </a:p>
        </p:txBody>
      </p:sp>
      <p:sp>
        <p:nvSpPr>
          <p:cNvPr id="16" name="Shape 13"/>
          <p:cNvSpPr/>
          <p:nvPr/>
        </p:nvSpPr>
        <p:spPr>
          <a:xfrm>
            <a:off x="457200" y="2926080"/>
            <a:ext cx="1920240" cy="1188720"/>
          </a:xfrm>
          <a:prstGeom prst="roundRect">
            <a:avLst>
              <a:gd name="adj" fmla="val 7692"/>
            </a:avLst>
          </a:prstGeom>
          <a:solidFill>
            <a:srgbClr val="F4F5F7"/>
          </a:solidFill>
          <a:ln w="12700">
            <a:solidFill>
              <a:srgbClr val="F4F5F7"/>
            </a:solidFill>
            <a:prstDash val="solid"/>
          </a:ln>
        </p:spPr>
      </p:sp>
      <p:sp>
        <p:nvSpPr>
          <p:cNvPr id="17" name="Text 14"/>
          <p:cNvSpPr/>
          <p:nvPr/>
        </p:nvSpPr>
        <p:spPr>
          <a:xfrm>
            <a:off x="59436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1/1</a:t>
            </a:r>
            <a:endParaRPr lang="en-US" sz="2600" dirty="0"/>
          </a:p>
        </p:txBody>
      </p:sp>
      <p:sp>
        <p:nvSpPr>
          <p:cNvPr id="18" name="Text 15"/>
          <p:cNvSpPr/>
          <p:nvPr/>
        </p:nvSpPr>
        <p:spPr>
          <a:xfrm>
            <a:off x="59436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cash gap caught in time, 0 false alarms in 18 probes</a:t>
            </a:r>
            <a:endParaRPr lang="en-US" sz="1050" dirty="0"/>
          </a:p>
        </p:txBody>
      </p:sp>
      <p:sp>
        <p:nvSpPr>
          <p:cNvPr id="19" name="Shape 16"/>
          <p:cNvSpPr/>
          <p:nvPr/>
        </p:nvSpPr>
        <p:spPr>
          <a:xfrm>
            <a:off x="2560320" y="2926080"/>
            <a:ext cx="1920240" cy="1188720"/>
          </a:xfrm>
          <a:prstGeom prst="roundRect">
            <a:avLst>
              <a:gd name="adj" fmla="val 7692"/>
            </a:avLst>
          </a:prstGeom>
          <a:solidFill>
            <a:srgbClr val="F4F5F7"/>
          </a:solidFill>
          <a:ln w="12700">
            <a:solidFill>
              <a:srgbClr val="F4F5F7"/>
            </a:solidFill>
            <a:prstDash val="solid"/>
          </a:ln>
        </p:spPr>
      </p:sp>
      <p:sp>
        <p:nvSpPr>
          <p:cNvPr id="20" name="Text 17"/>
          <p:cNvSpPr/>
          <p:nvPr/>
        </p:nvSpPr>
        <p:spPr>
          <a:xfrm>
            <a:off x="269748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1/1</a:t>
            </a:r>
            <a:endParaRPr lang="en-US" sz="2600" dirty="0"/>
          </a:p>
        </p:txBody>
      </p:sp>
      <p:sp>
        <p:nvSpPr>
          <p:cNvPr id="21" name="Text 18"/>
          <p:cNvSpPr/>
          <p:nvPr/>
        </p:nvSpPr>
        <p:spPr>
          <a:xfrm>
            <a:off x="269748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double charge on the same card found</a:t>
            </a:r>
            <a:endParaRPr lang="en-US" sz="1050" dirty="0"/>
          </a:p>
        </p:txBody>
      </p:sp>
      <p:sp>
        <p:nvSpPr>
          <p:cNvPr id="22" name="Shape 19"/>
          <p:cNvSpPr/>
          <p:nvPr/>
        </p:nvSpPr>
        <p:spPr>
          <a:xfrm>
            <a:off x="4663440" y="1554480"/>
            <a:ext cx="1920240" cy="1188720"/>
          </a:xfrm>
          <a:prstGeom prst="roundRect">
            <a:avLst>
              <a:gd name="adj" fmla="val 7692"/>
            </a:avLst>
          </a:prstGeom>
          <a:solidFill>
            <a:srgbClr val="F4F5F7"/>
          </a:solidFill>
          <a:ln w="12700">
            <a:solidFill>
              <a:srgbClr val="F4F5F7"/>
            </a:solidFill>
            <a:prstDash val="solid"/>
          </a:ln>
        </p:spPr>
      </p:sp>
      <p:sp>
        <p:nvSpPr>
          <p:cNvPr id="23" name="Text 20"/>
          <p:cNvSpPr/>
          <p:nvPr/>
        </p:nvSpPr>
        <p:spPr>
          <a:xfrm>
            <a:off x="480060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1.00</a:t>
            </a:r>
            <a:endParaRPr lang="en-US" sz="2600" dirty="0"/>
          </a:p>
        </p:txBody>
      </p:sp>
      <p:sp>
        <p:nvSpPr>
          <p:cNvPr id="24" name="Text 21"/>
          <p:cNvSpPr/>
          <p:nvPr/>
        </p:nvSpPr>
        <p:spPr>
          <a:xfrm>
            <a:off x="480060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ROC-AUC on held-out graphs</a:t>
            </a:r>
            <a:endParaRPr lang="en-US" sz="1050" dirty="0"/>
          </a:p>
        </p:txBody>
      </p:sp>
      <p:sp>
        <p:nvSpPr>
          <p:cNvPr id="25" name="Shape 22"/>
          <p:cNvSpPr/>
          <p:nvPr/>
        </p:nvSpPr>
        <p:spPr>
          <a:xfrm>
            <a:off x="6766560" y="1554480"/>
            <a:ext cx="1920240" cy="1188720"/>
          </a:xfrm>
          <a:prstGeom prst="roundRect">
            <a:avLst>
              <a:gd name="adj" fmla="val 7692"/>
            </a:avLst>
          </a:prstGeom>
          <a:solidFill>
            <a:srgbClr val="F4F5F7"/>
          </a:solidFill>
          <a:ln w="12700">
            <a:solidFill>
              <a:srgbClr val="F4F5F7"/>
            </a:solidFill>
            <a:prstDash val="solid"/>
          </a:ln>
        </p:spPr>
      </p:sp>
      <p:sp>
        <p:nvSpPr>
          <p:cNvPr id="26" name="Text 23"/>
          <p:cNvSpPr/>
          <p:nvPr/>
        </p:nvSpPr>
        <p:spPr>
          <a:xfrm>
            <a:off x="690372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0.993</a:t>
            </a:r>
            <a:endParaRPr lang="en-US" sz="2600" dirty="0"/>
          </a:p>
        </p:txBody>
      </p:sp>
      <p:sp>
        <p:nvSpPr>
          <p:cNvPr id="27" name="Text 24"/>
          <p:cNvSpPr/>
          <p:nvPr/>
        </p:nvSpPr>
        <p:spPr>
          <a:xfrm>
            <a:off x="690372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precision at threshold 0.7</a:t>
            </a:r>
            <a:endParaRPr lang="en-US" sz="1050" dirty="0"/>
          </a:p>
        </p:txBody>
      </p:sp>
      <p:sp>
        <p:nvSpPr>
          <p:cNvPr id="28" name="Shape 25"/>
          <p:cNvSpPr/>
          <p:nvPr/>
        </p:nvSpPr>
        <p:spPr>
          <a:xfrm>
            <a:off x="4663440" y="2926080"/>
            <a:ext cx="1920240" cy="1188720"/>
          </a:xfrm>
          <a:prstGeom prst="roundRect">
            <a:avLst>
              <a:gd name="adj" fmla="val 7692"/>
            </a:avLst>
          </a:prstGeom>
          <a:solidFill>
            <a:srgbClr val="F4F5F7"/>
          </a:solidFill>
          <a:ln w="12700">
            <a:solidFill>
              <a:srgbClr val="F4F5F7"/>
            </a:solidFill>
            <a:prstDash val="solid"/>
          </a:ln>
        </p:spPr>
      </p:sp>
      <p:sp>
        <p:nvSpPr>
          <p:cNvPr id="29" name="Text 26"/>
          <p:cNvSpPr/>
          <p:nvPr/>
        </p:nvSpPr>
        <p:spPr>
          <a:xfrm>
            <a:off x="480060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0.944</a:t>
            </a:r>
            <a:endParaRPr lang="en-US" sz="2600" dirty="0"/>
          </a:p>
        </p:txBody>
      </p:sp>
      <p:sp>
        <p:nvSpPr>
          <p:cNvPr id="30" name="Text 27"/>
          <p:cNvSpPr/>
          <p:nvPr/>
        </p:nvSpPr>
        <p:spPr>
          <a:xfrm>
            <a:off x="480060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recall over mule schemes</a:t>
            </a:r>
            <a:endParaRPr lang="en-US" sz="1050" dirty="0"/>
          </a:p>
        </p:txBody>
      </p:sp>
      <p:sp>
        <p:nvSpPr>
          <p:cNvPr id="31" name="Shape 28"/>
          <p:cNvSpPr/>
          <p:nvPr/>
        </p:nvSpPr>
        <p:spPr>
          <a:xfrm>
            <a:off x="6766560" y="2926080"/>
            <a:ext cx="1920240" cy="1188720"/>
          </a:xfrm>
          <a:prstGeom prst="roundRect">
            <a:avLst>
              <a:gd name="adj" fmla="val 7692"/>
            </a:avLst>
          </a:prstGeom>
          <a:solidFill>
            <a:srgbClr val="F4F5F7"/>
          </a:solidFill>
          <a:ln w="12700">
            <a:solidFill>
              <a:srgbClr val="F4F5F7"/>
            </a:solidFill>
            <a:prstDash val="solid"/>
          </a:ln>
        </p:spPr>
      </p:sp>
      <p:sp>
        <p:nvSpPr>
          <p:cNvPr id="32" name="Text 29"/>
          <p:cNvSpPr/>
          <p:nvPr/>
        </p:nvSpPr>
        <p:spPr>
          <a:xfrm>
            <a:off x="690372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a:t>
            </a:r>
            <a:endParaRPr lang="en-US" sz="2600" dirty="0"/>
          </a:p>
        </p:txBody>
      </p:sp>
      <p:sp>
        <p:nvSpPr>
          <p:cNvPr id="33" name="Text 30"/>
          <p:cNvSpPr/>
          <p:nvPr/>
        </p:nvSpPr>
        <p:spPr>
          <a:xfrm>
            <a:off x="690372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false alarms on employers, merchants, landlords</a:t>
            </a:r>
            <a:endParaRPr lang="en-US" sz="1050" dirty="0"/>
          </a:p>
        </p:txBody>
      </p:sp>
      <p:sp>
        <p:nvSpPr>
          <p:cNvPr id="34" name="Text 31"/>
          <p:cNvSpPr/>
          <p:nvPr/>
        </p:nvSpPr>
        <p:spPr>
          <a:xfrm>
            <a:off x="4663440" y="4251960"/>
            <a:ext cx="4023360" cy="457200"/>
          </a:xfrm>
          <a:prstGeom prst="rect">
            <a:avLst/>
          </a:prstGeom>
          <a:noFill/>
          <a:ln/>
        </p:spPr>
        <p:txBody>
          <a:bodyPr wrap="square" lIns="0" tIns="0" rIns="0" bIns="0" rtlCol="0" anchor="ctr"/>
          <a:lstStyle/>
          <a:p>
            <a:pPr indent="0" marL="0">
              <a:buNone/>
            </a:pPr>
            <a:r>
              <a:rPr lang="en-US" sz="1050" dirty="0">
                <a:solidFill>
                  <a:srgbClr val="667085"/>
                </a:solidFill>
                <a:latin typeface="Inter" pitchFamily="34" charset="0"/>
                <a:ea typeface="Inter" pitchFamily="34" charset="-122"/>
                <a:cs typeface="Inter" pitchFamily="34" charset="-120"/>
              </a:rPr>
              <a:t>Synthetic graphs from our generator; real data will score lower. The model can only add a reason to ask.</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Red-team: what an attacker gets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9 / 12</a:t>
            </a:r>
            <a:endParaRPr lang="en-US" sz="900" dirty="0"/>
          </a:p>
        </p:txBody>
      </p:sp>
      <p:sp>
        <p:nvSpPr>
          <p:cNvPr id="8" name="Shape 5"/>
          <p:cNvSpPr/>
          <p:nvPr/>
        </p:nvSpPr>
        <p:spPr>
          <a:xfrm>
            <a:off x="457200" y="1188720"/>
            <a:ext cx="192024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9436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39/39</a:t>
            </a:r>
            <a:endParaRPr lang="en-US" sz="2600" dirty="0"/>
          </a:p>
        </p:txBody>
      </p:sp>
      <p:sp>
        <p:nvSpPr>
          <p:cNvPr id="10" name="Text 7"/>
          <p:cNvSpPr/>
          <p:nvPr/>
        </p:nvSpPr>
        <p:spPr>
          <a:xfrm>
            <a:off x="59436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static attacks stopped</a:t>
            </a:r>
            <a:endParaRPr lang="en-US" sz="1050" dirty="0"/>
          </a:p>
        </p:txBody>
      </p:sp>
      <p:sp>
        <p:nvSpPr>
          <p:cNvPr id="11" name="Shape 8"/>
          <p:cNvSpPr/>
          <p:nvPr/>
        </p:nvSpPr>
        <p:spPr>
          <a:xfrm>
            <a:off x="2560320" y="1188720"/>
            <a:ext cx="1920240" cy="1188720"/>
          </a:xfrm>
          <a:prstGeom prst="roundRect">
            <a:avLst>
              <a:gd name="adj" fmla="val 7692"/>
            </a:avLst>
          </a:prstGeom>
          <a:solidFill>
            <a:srgbClr val="F4F5F7"/>
          </a:solidFill>
          <a:ln w="12700">
            <a:solidFill>
              <a:srgbClr val="F4F5F7"/>
            </a:solidFill>
            <a:prstDash val="solid"/>
          </a:ln>
        </p:spPr>
      </p:sp>
      <p:sp>
        <p:nvSpPr>
          <p:cNvPr id="12" name="Text 9"/>
          <p:cNvSpPr/>
          <p:nvPr/>
        </p:nvSpPr>
        <p:spPr>
          <a:xfrm>
            <a:off x="269748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5/5</a:t>
            </a:r>
            <a:endParaRPr lang="en-US" sz="2600" dirty="0"/>
          </a:p>
        </p:txBody>
      </p:sp>
      <p:sp>
        <p:nvSpPr>
          <p:cNvPr id="13" name="Text 10"/>
          <p:cNvSpPr/>
          <p:nvPr/>
        </p:nvSpPr>
        <p:spPr>
          <a:xfrm>
            <a:off x="269748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memory-planting attacks stopped</a:t>
            </a:r>
            <a:endParaRPr lang="en-US" sz="1050" dirty="0"/>
          </a:p>
        </p:txBody>
      </p:sp>
      <p:sp>
        <p:nvSpPr>
          <p:cNvPr id="14" name="Shape 11"/>
          <p:cNvSpPr/>
          <p:nvPr/>
        </p:nvSpPr>
        <p:spPr>
          <a:xfrm>
            <a:off x="4663440" y="1188720"/>
            <a:ext cx="1920240" cy="1188720"/>
          </a:xfrm>
          <a:prstGeom prst="roundRect">
            <a:avLst>
              <a:gd name="adj" fmla="val 7692"/>
            </a:avLst>
          </a:prstGeom>
          <a:solidFill>
            <a:srgbClr val="F4F5F7"/>
          </a:solidFill>
          <a:ln w="12700">
            <a:solidFill>
              <a:srgbClr val="F4F5F7"/>
            </a:solidFill>
            <a:prstDash val="solid"/>
          </a:ln>
        </p:spPr>
      </p:sp>
      <p:sp>
        <p:nvSpPr>
          <p:cNvPr id="15" name="Text 12"/>
          <p:cNvSpPr/>
          <p:nvPr/>
        </p:nvSpPr>
        <p:spPr>
          <a:xfrm>
            <a:off x="480060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0/360</a:t>
            </a:r>
            <a:endParaRPr lang="en-US" sz="2600" dirty="0"/>
          </a:p>
        </p:txBody>
      </p:sp>
      <p:sp>
        <p:nvSpPr>
          <p:cNvPr id="16" name="Text 13"/>
          <p:cNvSpPr/>
          <p:nvPr/>
        </p:nvSpPr>
        <p:spPr>
          <a:xfrm>
            <a:off x="480060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adaptive attacker's tries outside the mandate</a:t>
            </a:r>
            <a:endParaRPr lang="en-US" sz="1050" dirty="0"/>
          </a:p>
        </p:txBody>
      </p:sp>
      <p:sp>
        <p:nvSpPr>
          <p:cNvPr id="17" name="Shape 14"/>
          <p:cNvSpPr/>
          <p:nvPr/>
        </p:nvSpPr>
        <p:spPr>
          <a:xfrm>
            <a:off x="6766560" y="1188720"/>
            <a:ext cx="1920240" cy="1188720"/>
          </a:xfrm>
          <a:prstGeom prst="roundRect">
            <a:avLst>
              <a:gd name="adj" fmla="val 7692"/>
            </a:avLst>
          </a:prstGeom>
          <a:solidFill>
            <a:srgbClr val="F4F5F7"/>
          </a:solidFill>
          <a:ln w="12700">
            <a:solidFill>
              <a:srgbClr val="F4F5F7"/>
            </a:solidFill>
            <a:prstDash val="solid"/>
          </a:ln>
        </p:spPr>
      </p:sp>
      <p:sp>
        <p:nvSpPr>
          <p:cNvPr id="18" name="Text 15"/>
          <p:cNvSpPr/>
          <p:nvPr/>
        </p:nvSpPr>
        <p:spPr>
          <a:xfrm>
            <a:off x="690372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20/21</a:t>
            </a:r>
            <a:endParaRPr lang="en-US" sz="2600" dirty="0"/>
          </a:p>
        </p:txBody>
      </p:sp>
      <p:sp>
        <p:nvSpPr>
          <p:cNvPr id="19" name="Text 16"/>
          <p:cNvSpPr/>
          <p:nvPr/>
        </p:nvSpPr>
        <p:spPr>
          <a:xfrm>
            <a:off x="690372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earlier prototype's suite, 1 bounded by the limit</a:t>
            </a:r>
            <a:endParaRPr lang="en-US" sz="1050" dirty="0"/>
          </a:p>
        </p:txBody>
      </p:sp>
      <p:sp>
        <p:nvSpPr>
          <p:cNvPr id="20" name="Text 17"/>
          <p:cNvSpPr/>
          <p:nvPr/>
        </p:nvSpPr>
        <p:spPr>
          <a:xfrm>
            <a:off x="457200" y="2697480"/>
            <a:ext cx="3657600" cy="365760"/>
          </a:xfrm>
          <a:prstGeom prst="rect">
            <a:avLst/>
          </a:prstGeom>
          <a:noFill/>
          <a:ln/>
        </p:spPr>
        <p:txBody>
          <a:bodyPr wrap="square" lIns="0" tIns="0" rIns="0" bIns="0" rtlCol="0" anchor="ctr"/>
          <a:lstStyle/>
          <a:p>
            <a:pPr indent="0" marL="0">
              <a:buNone/>
            </a:pPr>
            <a:r>
              <a:rPr lang="en-US" sz="1600" b="1" dirty="0">
                <a:solidFill>
                  <a:srgbClr val="101828"/>
                </a:solidFill>
                <a:latin typeface="Inter" pitchFamily="34" charset="0"/>
                <a:ea typeface="Inter" pitchFamily="34" charset="-122"/>
                <a:cs typeface="Inter" pitchFamily="34" charset="-120"/>
              </a:rPr>
              <a:t>Without the kernel</a:t>
            </a:r>
            <a:endParaRPr lang="en-US" sz="1600" dirty="0"/>
          </a:p>
        </p:txBody>
      </p:sp>
      <p:sp>
        <p:nvSpPr>
          <p:cNvPr id="21" name="Text 18"/>
          <p:cNvSpPr/>
          <p:nvPr/>
        </p:nvSpPr>
        <p:spPr>
          <a:xfrm>
            <a:off x="457200" y="3063240"/>
            <a:ext cx="4023360" cy="411480"/>
          </a:xfrm>
          <a:prstGeom prst="rect">
            <a:avLst/>
          </a:prstGeom>
          <a:noFill/>
          <a:ln/>
        </p:spPr>
        <p:txBody>
          <a:bodyPr wrap="square" lIns="0" tIns="0" rIns="0" bIns="0" rtlCol="0" anchor="ctr"/>
          <a:lstStyle/>
          <a:p>
            <a:pPr indent="0" marL="0">
              <a:buNone/>
            </a:pPr>
            <a:r>
              <a:rPr lang="en-US" sz="1800" b="1" dirty="0">
                <a:solidFill>
                  <a:srgbClr val="B42318"/>
                </a:solidFill>
                <a:latin typeface="Inter" pitchFamily="34" charset="0"/>
                <a:ea typeface="Inter" pitchFamily="34" charset="-122"/>
                <a:cs typeface="Inter" pitchFamily="34" charset="-120"/>
              </a:rPr>
              <a:t>39/39 succeeded · </a:t>
            </a:r>
            <a:pPr indent="0" marL="0">
              <a:buNone/>
            </a:pPr>
            <a:r>
              <a:rPr lang="en-US" sz="1800" b="1" dirty="0">
                <a:solidFill>
                  <a:srgbClr val="B42318"/>
                </a:solidFill>
                <a:latin typeface="Inter" pitchFamily="34" charset="0"/>
                <a:ea typeface="Inter" pitchFamily="34" charset="-122"/>
                <a:cs typeface="Inter" pitchFamily="34" charset="-120"/>
              </a:rPr>
              <a:t>532 038.76 ₽ lost</a:t>
            </a:r>
            <a:endParaRPr lang="en-US" sz="1800" dirty="0"/>
          </a:p>
        </p:txBody>
      </p:sp>
      <p:sp>
        <p:nvSpPr>
          <p:cNvPr id="22" name="Text 19"/>
          <p:cNvSpPr/>
          <p:nvPr/>
        </p:nvSpPr>
        <p:spPr>
          <a:xfrm>
            <a:off x="457200" y="3611880"/>
            <a:ext cx="4023360" cy="822960"/>
          </a:xfrm>
          <a:prstGeom prst="rect">
            <a:avLst/>
          </a:prstGeom>
          <a:noFill/>
          <a:ln/>
        </p:spPr>
        <p:txBody>
          <a:bodyPr wrap="square" lIns="0" tIns="0" rIns="0" bIns="0" rtlCol="0" anchor="ctr"/>
          <a:lstStyle/>
          <a:p>
            <a:pPr indent="0" marL="0">
              <a:buNone/>
            </a:pPr>
            <a:r>
              <a:rPr lang="en-US" sz="1200" dirty="0">
                <a:solidFill>
                  <a:srgbClr val="667085"/>
                </a:solidFill>
                <a:latin typeface="Inter" pitchFamily="34" charset="0"/>
                <a:ea typeface="Inter" pitchFamily="34" charset="-122"/>
                <a:cs typeface="Inter" pitchFamily="34" charset="-120"/>
              </a:rPr>
              <a:t>Known risks are listed openly in the security report (K1 to K14): a compromised client device, a colluding analyst, synthetic training data, no SD-JWT yet.</a:t>
            </a:r>
            <a:endParaRPr lang="en-US" sz="1200" dirty="0"/>
          </a:p>
        </p:txBody>
      </p:sp>
      <p:graphicFrame>
        <p:nvGraphicFramePr>
          <p:cNvPr id="23" name="Chart 0" descr=""/>
          <p:cNvGraphicFramePr/>
          <p:nvPr/>
        </p:nvGraphicFramePr>
        <p:xfrm>
          <a:off x="4663440" y="2606040"/>
          <a:ext cx="4023360" cy="2011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Compliance: 智能体支付应用自律公约 · VI / AP2</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10 / 12</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5120640" cy="914400"/>
        </p:xfrm>
        <a:graphic>
          <a:graphicData uri="http://schemas.openxmlformats.org/drawingml/2006/table">
            <a:tbl>
              <a:tblPr/>
              <a:tblGrid>
                <a:gridCol w="2011680"/>
                <a:gridCol w="3108960"/>
              </a:tblGrid>
              <a:tr h="329184">
                <a:tc>
                  <a:txBody>
                    <a:bodyPr/>
                    <a:lstStyle/>
                    <a:p>
                      <a:pPr indent="0" marL="0">
                        <a:buNone/>
                      </a:pPr>
                      <a:r>
                        <a:rPr lang="en-US" sz="1000" b="1" dirty="0">
                          <a:solidFill>
                            <a:srgbClr val="FFFFFF"/>
                          </a:solidFill>
                          <a:latin typeface="Inter" pitchFamily="34" charset="0"/>
                          <a:ea typeface="Inter" pitchFamily="34" charset="-122"/>
                          <a:cs typeface="Inter" pitchFamily="34" charset="-120"/>
                        </a:rPr>
                        <a:t>公约 requirement</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indent="0" marL="0">
                        <a:buNone/>
                      </a:pPr>
                      <a:r>
                        <a:rPr lang="en-US" sz="1000" b="1" dirty="0">
                          <a:solidFill>
                            <a:srgbClr val="FFFFFF"/>
                          </a:solidFill>
                          <a:latin typeface="Inter" pitchFamily="34" charset="0"/>
                          <a:ea typeface="Inter" pitchFamily="34" charset="-122"/>
                          <a:cs typeface="Inter" pitchFamily="34" charset="-120"/>
                        </a:rPr>
                        <a:t>Guardian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Three stages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Stages 1 and 2 implemented, stage 3 not offered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Who provides payment is responsible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Bank module; only the bank's executor moves money</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Know your agent</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Agent passport checked at every step, in the journal</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Verify intent, clear authority</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Kernel-rendered card, device signature, critic</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Withdraw authorisation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One press, child grants revoked too</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Immutable records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Signed hash chain, append-only, anchored on chain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Human fallback, emergency stop</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Analyst hold, kill switch, 24-hour reversible hold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Elderly and minors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Elevated protection, trusted person informed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No inducement to spend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No credit or upsell; offers in model text replaced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806440" y="1097280"/>
          <a:ext cx="2926080" cy="914400"/>
        </p:xfrm>
        <a:graphic>
          <a:graphicData uri="http://schemas.openxmlformats.org/drawingml/2006/table">
            <a:tbl>
              <a:tblPr/>
              <a:tblGrid>
                <a:gridCol w="1143000"/>
                <a:gridCol w="1783080"/>
              </a:tblGrid>
              <a:tr h="329184">
                <a:tc>
                  <a:txBody>
                    <a:bodyPr/>
                    <a:lstStyle/>
                    <a:p>
                      <a:pPr indent="0" marL="0">
                        <a:buNone/>
                      </a:pPr>
                      <a:r>
                        <a:rPr lang="en-US" sz="1000" b="1" dirty="0">
                          <a:solidFill>
                            <a:srgbClr val="FFFFFF"/>
                          </a:solidFill>
                          <a:latin typeface="Inter" pitchFamily="34" charset="0"/>
                          <a:ea typeface="Inter" pitchFamily="34" charset="-122"/>
                          <a:cs typeface="Inter" pitchFamily="34" charset="-120"/>
                        </a:rPr>
                        <a:t>VI / AP2</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indent="0" marL="0">
                        <a:buNone/>
                      </a:pPr>
                      <a:r>
                        <a:rPr lang="en-US" sz="1000" b="1" dirty="0">
                          <a:solidFill>
                            <a:srgbClr val="FFFFFF"/>
                          </a:solidFill>
                          <a:latin typeface="Inter" pitchFamily="34" charset="0"/>
                          <a:ea typeface="Inter" pitchFamily="34" charset="-122"/>
                          <a:cs typeface="Inter" pitchFamily="34" charset="-120"/>
                        </a:rPr>
                        <a:t>Guardian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Intent mandate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Standing permission with limits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Cart / payment mandate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One-time mandate per card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Constraints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payees, amount range, budget, recurrence, + origins, money source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Delegation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Child grants, rights only narrow</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Signatures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Device key + kernel countersignature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Cost: most of the work needs no large model</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11 / 12</a:t>
            </a:r>
            <a:endParaRPr lang="en-US" sz="900" dirty="0"/>
          </a:p>
        </p:txBody>
      </p:sp>
      <p:graphicFrame>
        <p:nvGraphicFramePr>
          <p:cNvPr id="8"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5760720" y="1097280"/>
            <a:ext cx="2926080" cy="1188720"/>
          </a:xfrm>
          <a:prstGeom prst="roundRect">
            <a:avLst>
              <a:gd name="adj" fmla="val 7692"/>
            </a:avLst>
          </a:prstGeom>
          <a:solidFill>
            <a:srgbClr val="F4F5F7"/>
          </a:solidFill>
          <a:ln w="12700">
            <a:solidFill>
              <a:srgbClr val="F4F5F7"/>
            </a:solidFill>
            <a:prstDash val="solid"/>
          </a:ln>
        </p:spPr>
      </p:sp>
      <p:sp>
        <p:nvSpPr>
          <p:cNvPr id="10" name="Text 6"/>
          <p:cNvSpPr/>
          <p:nvPr/>
        </p:nvSpPr>
        <p:spPr>
          <a:xfrm>
            <a:off x="5897880" y="1188720"/>
            <a:ext cx="2651760" cy="548640"/>
          </a:xfrm>
          <a:prstGeom prst="rect">
            <a:avLst/>
          </a:prstGeom>
          <a:noFill/>
          <a:ln/>
        </p:spPr>
        <p:txBody>
          <a:bodyPr wrap="square" lIns="0" tIns="0" rIns="0" bIns="0" rtlCol="0" anchor="ctr"/>
          <a:lstStyle/>
          <a:p>
            <a:pPr indent="0" marL="0">
              <a:buNone/>
            </a:pPr>
            <a:r>
              <a:rPr lang="en-US" sz="2000" b="1" dirty="0">
                <a:solidFill>
                  <a:srgbClr val="101828"/>
                </a:solidFill>
                <a:latin typeface="Inter" pitchFamily="34" charset="0"/>
                <a:ea typeface="Inter" pitchFamily="34" charset="-122"/>
                <a:cs typeface="Inter" pitchFamily="34" charset="-120"/>
              </a:rPr>
              <a:t>0.73 → 0.27 ₽</a:t>
            </a:r>
            <a:endParaRPr lang="en-US" sz="2000" dirty="0"/>
          </a:p>
        </p:txBody>
      </p:sp>
      <p:sp>
        <p:nvSpPr>
          <p:cNvPr id="11" name="Text 7"/>
          <p:cNvSpPr/>
          <p:nvPr/>
        </p:nvSpPr>
        <p:spPr>
          <a:xfrm>
            <a:off x="5897880" y="175564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one client's month, 63% less in the second</a:t>
            </a:r>
            <a:endParaRPr lang="en-US" sz="1050" dirty="0"/>
          </a:p>
        </p:txBody>
      </p:sp>
      <p:sp>
        <p:nvSpPr>
          <p:cNvPr id="12" name="Shape 8"/>
          <p:cNvSpPr/>
          <p:nvPr/>
        </p:nvSpPr>
        <p:spPr>
          <a:xfrm>
            <a:off x="5760720" y="2423160"/>
            <a:ext cx="2926080" cy="1188720"/>
          </a:xfrm>
          <a:prstGeom prst="roundRect">
            <a:avLst>
              <a:gd name="adj" fmla="val 7692"/>
            </a:avLst>
          </a:prstGeom>
          <a:solidFill>
            <a:srgbClr val="F4F5F7"/>
          </a:solidFill>
          <a:ln w="12700">
            <a:solidFill>
              <a:srgbClr val="F4F5F7"/>
            </a:solidFill>
            <a:prstDash val="solid"/>
          </a:ln>
        </p:spPr>
      </p:sp>
      <p:sp>
        <p:nvSpPr>
          <p:cNvPr id="13" name="Text 9"/>
          <p:cNvSpPr/>
          <p:nvPr/>
        </p:nvSpPr>
        <p:spPr>
          <a:xfrm>
            <a:off x="5897880" y="2514600"/>
            <a:ext cx="265176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96.7%</a:t>
            </a:r>
            <a:endParaRPr lang="en-US" sz="2600" dirty="0"/>
          </a:p>
        </p:txBody>
      </p:sp>
      <p:sp>
        <p:nvSpPr>
          <p:cNvPr id="14" name="Text 10"/>
          <p:cNvSpPr/>
          <p:nvPr/>
        </p:nvSpPr>
        <p:spPr>
          <a:xfrm>
            <a:off x="5897880" y="308152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of work on levels 0 and 1 (rules, templates, small model)</a:t>
            </a:r>
            <a:endParaRPr lang="en-US" sz="1050" dirty="0"/>
          </a:p>
        </p:txBody>
      </p:sp>
      <p:sp>
        <p:nvSpPr>
          <p:cNvPr id="15" name="Shape 11"/>
          <p:cNvSpPr/>
          <p:nvPr/>
        </p:nvSpPr>
        <p:spPr>
          <a:xfrm>
            <a:off x="5760720" y="3749040"/>
            <a:ext cx="2926080" cy="1188720"/>
          </a:xfrm>
          <a:prstGeom prst="roundRect">
            <a:avLst>
              <a:gd name="adj" fmla="val 7692"/>
            </a:avLst>
          </a:prstGeom>
          <a:solidFill>
            <a:srgbClr val="F4F5F7"/>
          </a:solidFill>
          <a:ln w="12700">
            <a:solidFill>
              <a:srgbClr val="F4F5F7"/>
            </a:solidFill>
            <a:prstDash val="solid"/>
          </a:ln>
        </p:spPr>
      </p:sp>
      <p:sp>
        <p:nvSpPr>
          <p:cNvPr id="16" name="Text 12"/>
          <p:cNvSpPr/>
          <p:nvPr/>
        </p:nvSpPr>
        <p:spPr>
          <a:xfrm>
            <a:off x="5897880" y="3840480"/>
            <a:ext cx="265176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 270 000 ₽</a:t>
            </a:r>
            <a:endParaRPr lang="en-US" sz="2600" dirty="0"/>
          </a:p>
        </p:txBody>
      </p:sp>
      <p:sp>
        <p:nvSpPr>
          <p:cNvPr id="17" name="Text 13"/>
          <p:cNvSpPr/>
          <p:nvPr/>
        </p:nvSpPr>
        <p:spPr>
          <a:xfrm>
            <a:off x="5897880" y="440740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 month for 1 million clients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Results and what comes next</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12 / 12</a:t>
            </a:r>
            <a:endParaRPr lang="en-US" sz="900" dirty="0"/>
          </a:p>
        </p:txBody>
      </p:sp>
      <p:sp>
        <p:nvSpPr>
          <p:cNvPr id="8" name="Shape 5"/>
          <p:cNvSpPr/>
          <p:nvPr/>
        </p:nvSpPr>
        <p:spPr>
          <a:xfrm>
            <a:off x="457200" y="1188720"/>
            <a:ext cx="192024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9436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48/48</a:t>
            </a:r>
            <a:endParaRPr lang="en-US" sz="2600" dirty="0"/>
          </a:p>
        </p:txBody>
      </p:sp>
      <p:sp>
        <p:nvSpPr>
          <p:cNvPr id="10" name="Text 7"/>
          <p:cNvSpPr/>
          <p:nvPr/>
        </p:nvSpPr>
        <p:spPr>
          <a:xfrm>
            <a:off x="59436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functional tasks, EN / RU / ZH</a:t>
            </a:r>
            <a:endParaRPr lang="en-US" sz="1050" dirty="0"/>
          </a:p>
        </p:txBody>
      </p:sp>
      <p:sp>
        <p:nvSpPr>
          <p:cNvPr id="11" name="Shape 8"/>
          <p:cNvSpPr/>
          <p:nvPr/>
        </p:nvSpPr>
        <p:spPr>
          <a:xfrm>
            <a:off x="2560320" y="1188720"/>
            <a:ext cx="1920240" cy="1188720"/>
          </a:xfrm>
          <a:prstGeom prst="roundRect">
            <a:avLst>
              <a:gd name="adj" fmla="val 7692"/>
            </a:avLst>
          </a:prstGeom>
          <a:solidFill>
            <a:srgbClr val="F4F5F7"/>
          </a:solidFill>
          <a:ln w="12700">
            <a:solidFill>
              <a:srgbClr val="F4F5F7"/>
            </a:solidFill>
            <a:prstDash val="solid"/>
          </a:ln>
        </p:spPr>
      </p:sp>
      <p:sp>
        <p:nvSpPr>
          <p:cNvPr id="12" name="Text 9"/>
          <p:cNvSpPr/>
          <p:nvPr/>
        </p:nvSpPr>
        <p:spPr>
          <a:xfrm>
            <a:off x="269748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50/50</a:t>
            </a:r>
            <a:endParaRPr lang="en-US" sz="2600" dirty="0"/>
          </a:p>
        </p:txBody>
      </p:sp>
      <p:sp>
        <p:nvSpPr>
          <p:cNvPr id="13" name="Text 10"/>
          <p:cNvSpPr/>
          <p:nvPr/>
        </p:nvSpPr>
        <p:spPr>
          <a:xfrm>
            <a:off x="269748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attacks in the evaluation set stopped</a:t>
            </a:r>
            <a:endParaRPr lang="en-US" sz="1050" dirty="0"/>
          </a:p>
        </p:txBody>
      </p:sp>
      <p:sp>
        <p:nvSpPr>
          <p:cNvPr id="14" name="Shape 11"/>
          <p:cNvSpPr/>
          <p:nvPr/>
        </p:nvSpPr>
        <p:spPr>
          <a:xfrm>
            <a:off x="4663440" y="1188720"/>
            <a:ext cx="1920240" cy="1188720"/>
          </a:xfrm>
          <a:prstGeom prst="roundRect">
            <a:avLst>
              <a:gd name="adj" fmla="val 7692"/>
            </a:avLst>
          </a:prstGeom>
          <a:solidFill>
            <a:srgbClr val="F4F5F7"/>
          </a:solidFill>
          <a:ln w="12700">
            <a:solidFill>
              <a:srgbClr val="F4F5F7"/>
            </a:solidFill>
            <a:prstDash val="solid"/>
          </a:ln>
        </p:spPr>
      </p:sp>
      <p:sp>
        <p:nvSpPr>
          <p:cNvPr id="15" name="Text 12"/>
          <p:cNvSpPr/>
          <p:nvPr/>
        </p:nvSpPr>
        <p:spPr>
          <a:xfrm>
            <a:off x="480060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292</a:t>
            </a:r>
            <a:endParaRPr lang="en-US" sz="2600" dirty="0"/>
          </a:p>
        </p:txBody>
      </p:sp>
      <p:sp>
        <p:nvSpPr>
          <p:cNvPr id="16" name="Text 13"/>
          <p:cNvSpPr/>
          <p:nvPr/>
        </p:nvSpPr>
        <p:spPr>
          <a:xfrm>
            <a:off x="480060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signed journal entries in the demo, chain verified</a:t>
            </a:r>
            <a:endParaRPr lang="en-US" sz="1050" dirty="0"/>
          </a:p>
        </p:txBody>
      </p:sp>
      <p:sp>
        <p:nvSpPr>
          <p:cNvPr id="17" name="Shape 14"/>
          <p:cNvSpPr/>
          <p:nvPr/>
        </p:nvSpPr>
        <p:spPr>
          <a:xfrm>
            <a:off x="6766560" y="1188720"/>
            <a:ext cx="1920240" cy="1188720"/>
          </a:xfrm>
          <a:prstGeom prst="roundRect">
            <a:avLst>
              <a:gd name="adj" fmla="val 7692"/>
            </a:avLst>
          </a:prstGeom>
          <a:solidFill>
            <a:srgbClr val="F4F5F7"/>
          </a:solidFill>
          <a:ln w="12700">
            <a:solidFill>
              <a:srgbClr val="F4F5F7"/>
            </a:solidFill>
            <a:prstDash val="solid"/>
          </a:ln>
        </p:spPr>
      </p:sp>
      <p:sp>
        <p:nvSpPr>
          <p:cNvPr id="18" name="Text 15"/>
          <p:cNvSpPr/>
          <p:nvPr/>
        </p:nvSpPr>
        <p:spPr>
          <a:xfrm>
            <a:off x="690372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 keys</a:t>
            </a:r>
            <a:endParaRPr lang="en-US" sz="2600" dirty="0"/>
          </a:p>
        </p:txBody>
      </p:sp>
      <p:sp>
        <p:nvSpPr>
          <p:cNvPr id="19" name="Text 16"/>
          <p:cNvSpPr/>
          <p:nvPr/>
        </p:nvSpPr>
        <p:spPr>
          <a:xfrm>
            <a:off x="690372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needed to reproduce: replay mode, make test</a:t>
            </a:r>
            <a:endParaRPr lang="en-US" sz="1050" dirty="0"/>
          </a:p>
        </p:txBody>
      </p:sp>
      <p:sp>
        <p:nvSpPr>
          <p:cNvPr id="20" name="Text 17"/>
          <p:cNvSpPr/>
          <p:nvPr/>
        </p:nvSpPr>
        <p:spPr>
          <a:xfrm>
            <a:off x="457200" y="2697480"/>
            <a:ext cx="365760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Next</a:t>
            </a:r>
            <a:endParaRPr lang="en-US" sz="1700" dirty="0"/>
          </a:p>
        </p:txBody>
      </p:sp>
      <p:sp>
        <p:nvSpPr>
          <p:cNvPr id="21" name="Text 18"/>
          <p:cNvSpPr/>
          <p:nvPr/>
        </p:nvSpPr>
        <p:spPr>
          <a:xfrm>
            <a:off x="457200" y="3063240"/>
            <a:ext cx="5120640" cy="14630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Live runs with real models; measured cost replaces the estimate</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Journal anchoring on a public test network</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Payee model trained and checked on real bank graphs</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SD-JWT selective disclosure for mandates; pilot with a bank's fraud team</a:t>
            </a:r>
            <a:endParaRPr lang="en-US" sz="1300" dirty="0"/>
          </a:p>
        </p:txBody>
      </p:sp>
      <p:sp>
        <p:nvSpPr>
          <p:cNvPr id="22" name="Shape 19"/>
          <p:cNvSpPr/>
          <p:nvPr/>
        </p:nvSpPr>
        <p:spPr>
          <a:xfrm>
            <a:off x="5852160" y="2743200"/>
            <a:ext cx="2834640" cy="1737360"/>
          </a:xfrm>
          <a:prstGeom prst="roundRect">
            <a:avLst>
              <a:gd name="adj" fmla="val 6316"/>
            </a:avLst>
          </a:prstGeom>
          <a:solidFill>
            <a:srgbClr val="101828"/>
          </a:solidFill>
          <a:ln w="12700">
            <a:solidFill>
              <a:srgbClr val="101828"/>
            </a:solidFill>
            <a:prstDash val="solid"/>
          </a:ln>
        </p:spPr>
      </p:sp>
      <p:sp>
        <p:nvSpPr>
          <p:cNvPr id="23" name="Text 20"/>
          <p:cNvSpPr/>
          <p:nvPr/>
        </p:nvSpPr>
        <p:spPr>
          <a:xfrm>
            <a:off x="5989320" y="2834640"/>
            <a:ext cx="2560320" cy="1554480"/>
          </a:xfrm>
          <a:prstGeom prst="rect">
            <a:avLst/>
          </a:prstGeom>
          <a:noFill/>
          <a:ln/>
        </p:spPr>
        <p:txBody>
          <a:bodyPr wrap="square" lIns="0" tIns="0" rIns="0" bIns="0" rtlCol="0" anchor="ctr"/>
          <a:lstStyle/>
          <a:p>
            <a:pPr indent="0" marL="0">
              <a:buNone/>
            </a:pPr>
            <a:r>
              <a:rPr lang="en-US" sz="1600" b="1" dirty="0">
                <a:solidFill>
                  <a:srgbClr val="FFFFFF"/>
                </a:solidFill>
                <a:latin typeface="Inter" pitchFamily="34" charset="0"/>
                <a:ea typeface="Inter" pitchFamily="34" charset="-122"/>
                <a:cs typeface="Inter" pitchFamily="34" charset="-120"/>
              </a:rPr>
              <a:t>Agents propose.</a:t>
            </a:r>
            <a:endParaRPr lang="en-US" sz="1600" dirty="0"/>
          </a:p>
          <a:p>
            <a:pPr indent="0" marL="0">
              <a:buNone/>
            </a:pPr>
            <a:r>
              <a:rPr lang="en-US" sz="1600" b="1" dirty="0">
                <a:solidFill>
                  <a:srgbClr val="FFFFFF"/>
                </a:solidFill>
                <a:latin typeface="Inter" pitchFamily="34" charset="0"/>
                <a:ea typeface="Inter" pitchFamily="34" charset="-122"/>
                <a:cs typeface="Inter" pitchFamily="34" charset="-120"/>
              </a:rPr>
              <a:t>The kernel decides, checks and records.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Guardian: a bank-side safety kernel for AI payment agents</dc:title>
  <dc:subject>PptxGenJS Presentation</dc:subject>
  <dc:creator>PptxGenJS</dc:creator>
  <cp:lastModifiedBy>PptxGenJS</cp:lastModifiedBy>
  <cp:revision>1</cp:revision>
  <dcterms:created xsi:type="dcterms:W3CDTF">2026-10-19T16:32:35Z</dcterms:created>
  <dcterms:modified xsi:type="dcterms:W3CDTF">2026-10-19T16:32:35Z</dcterms:modified>
</cp:coreProperties>
</file>