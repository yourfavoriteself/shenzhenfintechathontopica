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1828"/>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31</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01828"/>
                </a:solidFill>
                <a:latin typeface="Arial"/>
              </a:defRPr>
            </a:pPr>
            <a:r>
              <a:rPr sz="1200" b="0" i="0" u="none" strike="noStrike">
                <a:solidFill>
                  <a:srgbClr val="101828"/>
                </a:solidFill>
                <a:latin typeface="Arial"/>
              </a:rPr>
              <a:t>₽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D0D5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Sheet1!$B$2:$B$8</c:f>
              <c:numCache>
                <c:formatCode>General</c:formatCode>
                <c:ptCount val="7"/>
                <c:pt idx="0">
                  <c:v>0.3129</c:v>
                </c:pt>
                <c:pt idx="1">
                  <c:v>0.0222</c:v>
                </c:pt>
                <c:pt idx="2">
                  <c:v>0.0397</c:v>
                </c:pt>
                <c:pt idx="3">
                  <c:v>0.2628</c:v>
                </c:pt>
                <c:pt idx="4">
                  <c:v>0.0321</c:v>
                </c:pt>
                <c:pt idx="5">
                  <c:v>0.0428</c:v>
                </c:pt>
                <c:pt idx="6">
                  <c:v>0.0172</c:v>
                </c:pt>
              </c:numCache>
            </c:numRef>
          </c:val>
        </c:ser>
        <c:ser>
          <c:idx val="1"/>
          <c:order val="1"/>
          <c:tx>
            <c:strRef>
              <c:f>Sheet1!$C$1</c:f>
              <c:strCache>
                <c:ptCount val="1"/>
                <c:pt idx="0">
                  <c:v>Next month</c:v>
                </c:pt>
              </c:strCache>
            </c:strRef>
          </c:tx>
          <c:spPr>
            <a:solidFill>
              <a:srgbClr val="1D4ED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Sheet1!$C$2:$C$8</c:f>
              <c:numCache>
                <c:formatCode>General</c:formatCode>
                <c:ptCount val="7"/>
                <c:pt idx="0">
                  <c:v>0</c:v>
                </c:pt>
                <c:pt idx="1">
                  <c:v>0.0222</c:v>
                </c:pt>
                <c:pt idx="2">
                  <c:v>0</c:v>
                </c:pt>
                <c:pt idx="3">
                  <c:v>0.1811</c:v>
                </c:pt>
                <c:pt idx="4">
                  <c:v>0.0196</c:v>
                </c:pt>
                <c:pt idx="5">
                  <c:v>0.0301</c:v>
                </c:pt>
                <c:pt idx="6">
                  <c:v>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39 attacks against an agent without our kernel. 39 succeeded and it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797 ₽ a month, did 11 things, asked 12 times and stopped 4. The whole run is in the evidence folder: 347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Autonomy is earned, and it is lost faster than it is earned. Every kind of task starts at level 1: inside a standing permission an agent may act alone up to 1 000 rubles. Five results in a row that the kernel verified in the bank raise it to level 2. One mistake lowers it a level, and acting outside the signed permission drops it straight to zero. The second axis is the agent itself: its role, model and the hash of its instructions. A mistake is a strike, a scope violation two. Three strikes mean 24 hours of quarantine: the kernel revokes its passports and everything it proposes needs a card. Then probation until five clean results. The client can also press Undo on any payment made alone, and that counts too. In the demo the fifth verified result promotes subscriptions; then a faulty planner tries twice, is stopped twice, and is quarantined. 0 of 2 faulty actions executed. Every change is in the signed journal.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39 static attacks: fake bills, injected instructions, swapped payees, look-alike merchants, replayed signatures, over-limit requests. All 39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code for agent payment apps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0.73 rubles in tokens; the next month 0.27, 63.1 percent less, because the repeat payment and the repeated check run from templates with no model call. In the full demo 97.1 percent of the work stays on levels zero and one. At the next-month rate a million clients cost about 270 000 rubles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50 of 50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F7"/>
        </a:solidFill>
      </p:bgPr>
    </p:bg>
    <p:spTree>
      <p:nvGrpSpPr>
        <p:cNvPr id="1" name=""/>
        <p:cNvGrpSpPr/>
        <p:nvPr/>
      </p:nvGrpSpPr>
      <p:grpSpPr>
        <a:xfrm>
          <a:off x="0" y="0"/>
          <a:ext cx="0" cy="0"/>
          <a:chOff x="0" y="0"/>
          <a:chExt cx="0" cy="0"/>
        </a:xfrm>
      </p:grpSpPr>
      <p:sp>
        <p:nvSpPr>
          <p:cNvPr id="3" name="Shape 0"/>
          <p:cNvSpPr/>
          <p:nvPr/>
        </p:nvSpPr>
        <p:spPr>
          <a:xfrm>
            <a:off x="640080" y="960120"/>
            <a:ext cx="1051560" cy="1051560"/>
          </a:xfrm>
          <a:prstGeom prst="roundRect">
            <a:avLst>
              <a:gd name="adj" fmla="val 22000"/>
            </a:avLst>
          </a:prstGeom>
          <a:solidFill>
            <a:srgbClr val="C2361F"/>
          </a:solidFill>
          <a:ln w="12700">
            <a:solidFill>
              <a:srgbClr val="C2361F"/>
            </a:solidFill>
            <a:prstDash val="solid"/>
          </a:ln>
        </p:spPr>
      </p:sp>
      <p:sp>
        <p:nvSpPr>
          <p:cNvPr id="4" name="Text 1"/>
          <p:cNvSpPr/>
          <p:nvPr/>
        </p:nvSpPr>
        <p:spPr>
          <a:xfrm>
            <a:off x="640080" y="960120"/>
            <a:ext cx="1051560" cy="1051560"/>
          </a:xfrm>
          <a:prstGeom prst="rect">
            <a:avLst/>
          </a:prstGeom>
          <a:noFill/>
          <a:ln/>
        </p:spPr>
        <p:txBody>
          <a:bodyPr wrap="square" lIns="0" tIns="0" rIns="0" bIns="0" rtlCol="0" anchor="ctr"/>
          <a:lstStyle/>
          <a:p>
            <a:pPr algn="ctr" indent="0" marL="0">
              <a:buNone/>
            </a:pPr>
            <a:r>
              <a:rPr lang="en-US" sz="4600" dirty="0">
                <a:solidFill>
                  <a:srgbClr val="FFFFFF"/>
                </a:solidFill>
                <a:latin typeface="Noto Sans CJK SC" pitchFamily="34" charset="0"/>
                <a:ea typeface="Noto Sans CJK SC" pitchFamily="34" charset="-122"/>
                <a:cs typeface="Noto Sans CJK SC" pitchFamily="34" charset="-120"/>
              </a:rPr>
              <a:t>守</a:t>
            </a:r>
            <a:endParaRPr lang="en-US" sz="4600" dirty="0"/>
          </a:p>
        </p:txBody>
      </p:sp>
      <p:sp>
        <p:nvSpPr>
          <p:cNvPr id="5" name="Text 2"/>
          <p:cNvSpPr/>
          <p:nvPr/>
        </p:nvSpPr>
        <p:spPr>
          <a:xfrm>
            <a:off x="640080" y="2194560"/>
            <a:ext cx="7863840" cy="914400"/>
          </a:xfrm>
          <a:prstGeom prst="rect">
            <a:avLst/>
          </a:prstGeom>
          <a:noFill/>
          <a:ln/>
        </p:spPr>
        <p:txBody>
          <a:bodyPr wrap="square" lIns="0" tIns="0" rIns="0" bIns="0" rtlCol="0" anchor="ctr"/>
          <a:lstStyle/>
          <a:p>
            <a:pPr indent="0" marL="0">
              <a:buNone/>
            </a:pPr>
            <a:r>
              <a:rPr lang="en-US" sz="5800" b="1" dirty="0">
                <a:solidFill>
                  <a:srgbClr val="101828"/>
                </a:solidFill>
                <a:latin typeface="Inter" pitchFamily="34" charset="0"/>
                <a:ea typeface="Inter" pitchFamily="34" charset="-122"/>
                <a:cs typeface="Inter" pitchFamily="34" charset="-120"/>
              </a:rPr>
              <a:t>Guardian</a:t>
            </a:r>
            <a:endParaRPr lang="en-US" sz="5800" dirty="0"/>
          </a:p>
        </p:txBody>
      </p:sp>
      <p:sp>
        <p:nvSpPr>
          <p:cNvPr id="6" name="Text 3"/>
          <p:cNvSpPr/>
          <p:nvPr/>
        </p:nvSpPr>
        <p:spPr>
          <a:xfrm>
            <a:off x="640080" y="3291840"/>
            <a:ext cx="7863840" cy="457200"/>
          </a:xfrm>
          <a:prstGeom prst="rect">
            <a:avLst/>
          </a:prstGeom>
          <a:noFill/>
          <a:ln/>
        </p:spPr>
        <p:txBody>
          <a:bodyPr wrap="square" lIns="0" tIns="0" rIns="0" bIns="0" rtlCol="0" anchor="ctr"/>
          <a:lstStyle/>
          <a:p>
            <a:pPr indent="0" marL="0">
              <a:buNone/>
            </a:pPr>
            <a:r>
              <a:rPr lang="en-US" sz="2200" dirty="0">
                <a:solidFill>
                  <a:srgbClr val="101828"/>
                </a:solidFill>
                <a:latin typeface="Inter" pitchFamily="34" charset="0"/>
                <a:ea typeface="Inter" pitchFamily="34" charset="-122"/>
                <a:cs typeface="Inter" pitchFamily="34" charset="-120"/>
              </a:rPr>
              <a:t>A bank-side safety kernel for AI payment agents</a:t>
            </a:r>
            <a:endParaRPr lang="en-US" sz="2200" dirty="0"/>
          </a:p>
        </p:txBody>
      </p:sp>
      <p:sp>
        <p:nvSpPr>
          <p:cNvPr id="7" name="Text 4"/>
          <p:cNvSpPr/>
          <p:nvPr/>
        </p:nvSpPr>
        <p:spPr>
          <a:xfrm>
            <a:off x="640080" y="3749040"/>
            <a:ext cx="7863840" cy="365760"/>
          </a:xfrm>
          <a:prstGeom prst="rect">
            <a:avLst/>
          </a:prstGeom>
          <a:noFill/>
          <a:ln/>
        </p:spPr>
        <p:txBody>
          <a:bodyPr wrap="square" lIns="0" tIns="0" rIns="0" bIns="0" rtlCol="0" anchor="ctr"/>
          <a:lstStyle/>
          <a:p>
            <a:pPr indent="0" marL="0">
              <a:buNone/>
            </a:pPr>
            <a:r>
              <a:rPr lang="en-US" sz="1500" dirty="0">
                <a:solidFill>
                  <a:srgbClr val="667085"/>
                </a:solidFill>
                <a:latin typeface="Inter" pitchFamily="34" charset="0"/>
                <a:ea typeface="Inter" pitchFamily="34" charset="-122"/>
                <a:cs typeface="Inter" pitchFamily="34" charset="-120"/>
              </a:rPr>
              <a:t>Agents propose. The kernel decides, checks and records.</a:t>
            </a:r>
            <a:endParaRPr lang="en-US" sz="1500" dirty="0"/>
          </a:p>
        </p:txBody>
      </p:sp>
      <p:sp>
        <p:nvSpPr>
          <p:cNvPr id="8" name="Text 5"/>
          <p:cNvSpPr/>
          <p:nvPr/>
        </p:nvSpPr>
        <p:spPr>
          <a:xfrm>
            <a:off x="640080" y="4343400"/>
            <a:ext cx="5029200" cy="27432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Kseniia Kuzmina  ·  Nikita Stepanov</a:t>
            </a:r>
            <a:endParaRPr lang="en-US" sz="1200" dirty="0"/>
          </a:p>
        </p:txBody>
      </p:sp>
      <p:sp>
        <p:nvSpPr>
          <p:cNvPr id="9" name="Text 6"/>
          <p:cNvSpPr/>
          <p:nvPr/>
        </p:nvSpPr>
        <p:spPr>
          <a:xfrm>
            <a:off x="4206240" y="4343400"/>
            <a:ext cx="4480560" cy="274320"/>
          </a:xfrm>
          <a:prstGeom prst="rect">
            <a:avLst/>
          </a:prstGeom>
          <a:noFill/>
          <a:ln/>
        </p:spPr>
        <p:txBody>
          <a:bodyPr wrap="square" lIns="0" tIns="0" rIns="0" bIns="0" rtlCol="0" anchor="ctr"/>
          <a:lstStyle/>
          <a:p>
            <a:pPr algn="r" indent="0" marL="0">
              <a:buNone/>
            </a:pPr>
            <a:r>
              <a:rPr lang="en-US" sz="1100" dirty="0">
                <a:solidFill>
                  <a:srgbClr val="667085"/>
                </a:solidFill>
                <a:latin typeface="Inter" pitchFamily="34" charset="0"/>
                <a:ea typeface="Inter" pitchFamily="34" charset="-122"/>
                <a:cs typeface="Inter" pitchFamily="34" charset="-120"/>
              </a:rPr>
              <a:t>Shenzhen FinTechathon 2026 · International Track · Topic 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100" b="1" dirty="0">
                <a:solidFill>
                  <a:srgbClr val="101828"/>
                </a:solidFill>
                <a:latin typeface="Inter" pitchFamily="34" charset="0"/>
                <a:ea typeface="Inter" pitchFamily="34" charset="-122"/>
                <a:cs typeface="Inter" pitchFamily="34" charset="-120"/>
              </a:rPr>
              <a:t>Letting an AI agent touch money is a new attack surface</a:t>
            </a:r>
            <a:endParaRPr lang="en-US" sz="21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2 / 13</a:t>
            </a:r>
            <a:endParaRPr lang="en-US" sz="900" dirty="0"/>
          </a:p>
        </p:txBody>
      </p:sp>
      <p:sp>
        <p:nvSpPr>
          <p:cNvPr id="8" name="Text 5"/>
          <p:cNvSpPr/>
          <p:nvPr/>
        </p:nvSpPr>
        <p:spPr>
          <a:xfrm>
            <a:off x="457200" y="118872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01</a:t>
            </a:r>
            <a:endParaRPr lang="en-US" sz="2600" dirty="0"/>
          </a:p>
        </p:txBody>
      </p:sp>
      <p:sp>
        <p:nvSpPr>
          <p:cNvPr id="9" name="Text 6"/>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Intent</a:t>
            </a:r>
            <a:endParaRPr lang="en-US" sz="1800" dirty="0"/>
          </a:p>
        </p:txBody>
      </p:sp>
      <p:sp>
        <p:nvSpPr>
          <p:cNvPr id="10" name="Text 7"/>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A model can pick the wrong payee or amount. The client cannot prove what they approved.</a:t>
            </a:r>
            <a:endParaRPr lang="en-US" sz="1300" dirty="0"/>
          </a:p>
        </p:txBody>
      </p:sp>
      <p:sp>
        <p:nvSpPr>
          <p:cNvPr id="11" name="Text 8"/>
          <p:cNvSpPr/>
          <p:nvPr/>
        </p:nvSpPr>
        <p:spPr>
          <a:xfrm>
            <a:off x="457200" y="219456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02</a:t>
            </a:r>
            <a:endParaRPr lang="en-US" sz="2600" dirty="0"/>
          </a:p>
        </p:txBody>
      </p:sp>
      <p:sp>
        <p:nvSpPr>
          <p:cNvPr id="12" name="Text 9"/>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Manipulation</a:t>
            </a:r>
            <a:endParaRPr lang="en-US" sz="1800" dirty="0"/>
          </a:p>
        </p:txBody>
      </p:sp>
      <p:sp>
        <p:nvSpPr>
          <p:cNvPr id="13" name="Text 10"/>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Fake bills, hidden instructions for AI agents, look-alike merchants, 'safe account' scam calls.</a:t>
            </a:r>
            <a:endParaRPr lang="en-US" sz="1300" dirty="0"/>
          </a:p>
        </p:txBody>
      </p:sp>
      <p:sp>
        <p:nvSpPr>
          <p:cNvPr id="14" name="Text 11"/>
          <p:cNvSpPr/>
          <p:nvPr/>
        </p:nvSpPr>
        <p:spPr>
          <a:xfrm>
            <a:off x="457200" y="3200400"/>
            <a:ext cx="640080" cy="457200"/>
          </a:xfrm>
          <a:prstGeom prst="rect">
            <a:avLst/>
          </a:prstGeom>
          <a:noFill/>
          <a:ln/>
        </p:spPr>
        <p:txBody>
          <a:bodyPr wrap="square" lIns="0" tIns="0" rIns="0" bIns="0" rtlCol="0" anchor="t"/>
          <a:lstStyle/>
          <a:p>
            <a:pPr indent="0" marL="0">
              <a:buNone/>
            </a:pPr>
            <a:r>
              <a:rPr lang="en-US" sz="2600" b="1" dirty="0">
                <a:solidFill>
                  <a:srgbClr val="1D4ED8"/>
                </a:solidFill>
                <a:latin typeface="Inter" pitchFamily="34" charset="0"/>
                <a:ea typeface="Inter" pitchFamily="34" charset="-122"/>
                <a:cs typeface="Inter" pitchFamily="34" charset="-120"/>
              </a:rPr>
              <a:t>03</a:t>
            </a:r>
            <a:endParaRPr lang="en-US" sz="2600" dirty="0"/>
          </a:p>
        </p:txBody>
      </p:sp>
      <p:sp>
        <p:nvSpPr>
          <p:cNvPr id="15" name="Text 12"/>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01828"/>
                </a:solidFill>
                <a:latin typeface="Inter" pitchFamily="34" charset="0"/>
                <a:ea typeface="Inter" pitchFamily="34" charset="-122"/>
                <a:cs typeface="Inter" pitchFamily="34" charset="-120"/>
              </a:rPr>
              <a:t>Accountability</a:t>
            </a:r>
            <a:endParaRPr lang="en-US" sz="1800" dirty="0"/>
          </a:p>
        </p:txBody>
      </p:sp>
      <p:sp>
        <p:nvSpPr>
          <p:cNvPr id="16" name="Text 13"/>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67085"/>
                </a:solidFill>
                <a:latin typeface="Inter" pitchFamily="34" charset="0"/>
                <a:ea typeface="Inter" pitchFamily="34" charset="-122"/>
                <a:cs typeface="Inter" pitchFamily="34" charset="-120"/>
              </a:rPr>
              <a:t>Regulators ask: who authorised this payment, which model decided, can it be rolled back?</a:t>
            </a:r>
            <a:endParaRPr lang="en-US" sz="1300" dirty="0"/>
          </a:p>
        </p:txBody>
      </p:sp>
      <p:sp>
        <p:nvSpPr>
          <p:cNvPr id="17" name="Shape 14"/>
          <p:cNvSpPr/>
          <p:nvPr/>
        </p:nvSpPr>
        <p:spPr>
          <a:xfrm>
            <a:off x="5577840" y="1188720"/>
            <a:ext cx="3108960" cy="2926080"/>
          </a:xfrm>
          <a:prstGeom prst="roundRect">
            <a:avLst>
              <a:gd name="adj" fmla="val 3750"/>
            </a:avLst>
          </a:prstGeom>
          <a:solidFill>
            <a:srgbClr val="101828"/>
          </a:solidFill>
          <a:ln w="12700">
            <a:solidFill>
              <a:srgbClr val="101828"/>
            </a:solidFill>
            <a:prstDash val="solid"/>
          </a:ln>
        </p:spPr>
      </p:sp>
      <p:sp>
        <p:nvSpPr>
          <p:cNvPr id="18" name="Text 15"/>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Same attacks, agent without the kernel</a:t>
            </a:r>
            <a:endParaRPr lang="en-US" sz="1300" dirty="0"/>
          </a:p>
        </p:txBody>
      </p:sp>
      <p:sp>
        <p:nvSpPr>
          <p:cNvPr id="19" name="Text 16"/>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FDA29B"/>
                </a:solidFill>
                <a:latin typeface="Inter" pitchFamily="34" charset="0"/>
                <a:ea typeface="Inter" pitchFamily="34" charset="-122"/>
                <a:cs typeface="Inter" pitchFamily="34" charset="-120"/>
              </a:rPr>
              <a:t>39 / 39</a:t>
            </a:r>
            <a:endParaRPr lang="en-US" sz="4400" dirty="0"/>
          </a:p>
        </p:txBody>
      </p:sp>
      <p:sp>
        <p:nvSpPr>
          <p:cNvPr id="20" name="Text 17"/>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attacks succeeded</a:t>
            </a:r>
            <a:endParaRPr lang="en-US" sz="1300" dirty="0"/>
          </a:p>
        </p:txBody>
      </p:sp>
      <p:sp>
        <p:nvSpPr>
          <p:cNvPr id="21" name="Text 18"/>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FDA29B"/>
                </a:solidFill>
                <a:latin typeface="Inter" pitchFamily="34" charset="0"/>
                <a:ea typeface="Inter" pitchFamily="34" charset="-122"/>
                <a:cs typeface="Inter" pitchFamily="34" charset="-120"/>
              </a:rPr>
              <a:t>532 038.76 ₽</a:t>
            </a:r>
            <a:endParaRPr lang="en-US" sz="2600" dirty="0"/>
          </a:p>
        </p:txBody>
      </p:sp>
      <p:sp>
        <p:nvSpPr>
          <p:cNvPr id="22" name="Text 19"/>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The idea: models never hold the money</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3 / 13</a:t>
            </a:r>
            <a:endParaRPr lang="en-US" sz="900" dirty="0"/>
          </a:p>
        </p:txBody>
      </p:sp>
      <p:sp>
        <p:nvSpPr>
          <p:cNvPr id="8" name="Shape 5"/>
          <p:cNvSpPr/>
          <p:nvPr/>
        </p:nvSpPr>
        <p:spPr>
          <a:xfrm>
            <a:off x="457200" y="1234440"/>
            <a:ext cx="2651760" cy="2651760"/>
          </a:xfrm>
          <a:prstGeom prst="roundRect">
            <a:avLst>
              <a:gd name="adj" fmla="val 4138"/>
            </a:avLst>
          </a:prstGeom>
          <a:solidFill>
            <a:srgbClr val="EEF4FF"/>
          </a:solidFill>
          <a:ln w="12700">
            <a:solidFill>
              <a:srgbClr val="EEF4FF"/>
            </a:solidFill>
            <a:prstDash val="solid"/>
          </a:ln>
        </p:spPr>
      </p:sp>
      <p:sp>
        <p:nvSpPr>
          <p:cNvPr id="9" name="Text 6"/>
          <p:cNvSpPr/>
          <p:nvPr/>
        </p:nvSpPr>
        <p:spPr>
          <a:xfrm>
            <a:off x="64008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01</a:t>
            </a:r>
            <a:endParaRPr lang="en-US" sz="1200" dirty="0"/>
          </a:p>
        </p:txBody>
      </p:sp>
      <p:sp>
        <p:nvSpPr>
          <p:cNvPr id="10" name="Text 7"/>
          <p:cNvSpPr/>
          <p:nvPr/>
        </p:nvSpPr>
        <p:spPr>
          <a:xfrm>
            <a:off x="64008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What you see is what you sign</a:t>
            </a:r>
            <a:endParaRPr lang="en-US" sz="1600" dirty="0"/>
          </a:p>
        </p:txBody>
      </p:sp>
      <p:sp>
        <p:nvSpPr>
          <p:cNvPr id="11" name="Text 8"/>
          <p:cNvSpPr/>
          <p:nvPr/>
        </p:nvSpPr>
        <p:spPr>
          <a:xfrm>
            <a:off x="64008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The kernel renders every card. The client's device key (Ed25519 / P-256, WebCrypto) signs its hash; the kernel countersigns.</a:t>
            </a:r>
            <a:endParaRPr lang="en-US" sz="1300" dirty="0"/>
          </a:p>
        </p:txBody>
      </p:sp>
      <p:sp>
        <p:nvSpPr>
          <p:cNvPr id="12" name="Shape 9"/>
          <p:cNvSpPr/>
          <p:nvPr/>
        </p:nvSpPr>
        <p:spPr>
          <a:xfrm>
            <a:off x="3291840" y="1234440"/>
            <a:ext cx="2651760" cy="2651760"/>
          </a:xfrm>
          <a:prstGeom prst="roundRect">
            <a:avLst>
              <a:gd name="adj" fmla="val 4138"/>
            </a:avLst>
          </a:prstGeom>
          <a:solidFill>
            <a:srgbClr val="F3F0FF"/>
          </a:solidFill>
          <a:ln w="12700">
            <a:solidFill>
              <a:srgbClr val="F3F0FF"/>
            </a:solidFill>
            <a:prstDash val="solid"/>
          </a:ln>
        </p:spPr>
      </p:sp>
      <p:sp>
        <p:nvSpPr>
          <p:cNvPr id="13" name="Text 10"/>
          <p:cNvSpPr/>
          <p:nvPr/>
        </p:nvSpPr>
        <p:spPr>
          <a:xfrm>
            <a:off x="347472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02</a:t>
            </a:r>
            <a:endParaRPr lang="en-US" sz="1200" dirty="0"/>
          </a:p>
        </p:txBody>
      </p:sp>
      <p:sp>
        <p:nvSpPr>
          <p:cNvPr id="14" name="Text 11"/>
          <p:cNvSpPr/>
          <p:nvPr/>
        </p:nvSpPr>
        <p:spPr>
          <a:xfrm>
            <a:off x="347472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Nothing outside the mandate</a:t>
            </a:r>
            <a:endParaRPr lang="en-US" sz="1600" dirty="0"/>
          </a:p>
        </p:txBody>
      </p:sp>
      <p:sp>
        <p:nvSpPr>
          <p:cNvPr id="15" name="Text 12"/>
          <p:cNvSpPr/>
          <p:nvPr/>
        </p:nvSpPr>
        <p:spPr>
          <a:xfrm>
            <a:off x="347472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Payee, amount range, period, money source, expiry. Agents get single-use grants that only narrow.</a:t>
            </a:r>
            <a:endParaRPr lang="en-US" sz="1300" dirty="0"/>
          </a:p>
        </p:txBody>
      </p:sp>
      <p:sp>
        <p:nvSpPr>
          <p:cNvPr id="16" name="Shape 13"/>
          <p:cNvSpPr/>
          <p:nvPr/>
        </p:nvSpPr>
        <p:spPr>
          <a:xfrm>
            <a:off x="6126480" y="1234440"/>
            <a:ext cx="2651760" cy="2651760"/>
          </a:xfrm>
          <a:prstGeom prst="roundRect">
            <a:avLst>
              <a:gd name="adj" fmla="val 4138"/>
            </a:avLst>
          </a:prstGeom>
          <a:solidFill>
            <a:srgbClr val="E8F6F3"/>
          </a:solidFill>
          <a:ln w="12700">
            <a:solidFill>
              <a:srgbClr val="E8F6F3"/>
            </a:solidFill>
            <a:prstDash val="solid"/>
          </a:ln>
        </p:spPr>
      </p:sp>
      <p:sp>
        <p:nvSpPr>
          <p:cNvPr id="17" name="Text 14"/>
          <p:cNvSpPr/>
          <p:nvPr/>
        </p:nvSpPr>
        <p:spPr>
          <a:xfrm>
            <a:off x="6309360" y="1325880"/>
            <a:ext cx="914400" cy="274320"/>
          </a:xfrm>
          <a:prstGeom prst="rect">
            <a:avLst/>
          </a:prstGeom>
          <a:noFill/>
          <a:ln/>
        </p:spPr>
        <p:txBody>
          <a:bodyPr wrap="square" lIns="0" tIns="0" rIns="0" bIns="0" rtlCol="0" anchor="ctr"/>
          <a:lstStyle/>
          <a:p>
            <a:pPr indent="0" marL="0">
              <a:buNone/>
            </a:pPr>
            <a:r>
              <a:rPr lang="en-US" sz="1200" b="1" dirty="0">
                <a:solidFill>
                  <a:srgbClr val="1D4ED8"/>
                </a:solidFill>
                <a:latin typeface="Inter" pitchFamily="34" charset="0"/>
                <a:ea typeface="Inter" pitchFamily="34" charset="-122"/>
                <a:cs typeface="Inter" pitchFamily="34" charset="-120"/>
              </a:rPr>
              <a:t>03</a:t>
            </a:r>
            <a:endParaRPr lang="en-US" sz="1200" dirty="0"/>
          </a:p>
        </p:txBody>
      </p:sp>
      <p:sp>
        <p:nvSpPr>
          <p:cNvPr id="18" name="Text 15"/>
          <p:cNvSpPr/>
          <p:nvPr/>
        </p:nvSpPr>
        <p:spPr>
          <a:xfrm>
            <a:off x="6309360" y="1600200"/>
            <a:ext cx="2286000" cy="640080"/>
          </a:xfrm>
          <a:prstGeom prst="rect">
            <a:avLst/>
          </a:prstGeom>
          <a:noFill/>
          <a:ln/>
        </p:spPr>
        <p:txBody>
          <a:bodyPr wrap="square" lIns="0" tIns="0" rIns="0" bIns="0" rtlCol="0" anchor="t"/>
          <a:lstStyle/>
          <a:p>
            <a:pPr indent="0" marL="0">
              <a:buNone/>
            </a:pPr>
            <a:r>
              <a:rPr lang="en-US" sz="1600" b="1" dirty="0">
                <a:solidFill>
                  <a:srgbClr val="101828"/>
                </a:solidFill>
                <a:latin typeface="Inter" pitchFamily="34" charset="0"/>
                <a:ea typeface="Inter" pitchFamily="34" charset="-122"/>
                <a:cs typeface="Inter" pitchFamily="34" charset="-120"/>
              </a:rPr>
              <a:t>Verified, then recorded</a:t>
            </a:r>
            <a:endParaRPr lang="en-US" sz="1600" dirty="0"/>
          </a:p>
        </p:txBody>
      </p:sp>
      <p:sp>
        <p:nvSpPr>
          <p:cNvPr id="19" name="Text 16"/>
          <p:cNvSpPr/>
          <p:nvPr/>
        </p:nvSpPr>
        <p:spPr>
          <a:xfrm>
            <a:off x="6309360" y="2286000"/>
            <a:ext cx="2286000" cy="1508760"/>
          </a:xfrm>
          <a:prstGeom prst="rect">
            <a:avLst/>
          </a:prstGeom>
          <a:noFill/>
          <a:ln/>
        </p:spPr>
        <p:txBody>
          <a:bodyPr wrap="square" lIns="0" tIns="0" rIns="0" bIns="0" rtlCol="0" anchor="t"/>
          <a:lstStyle/>
          <a:p>
            <a:pPr indent="0" marL="0">
              <a:buNone/>
            </a:pPr>
            <a:r>
              <a:rPr lang="en-US" sz="1300" dirty="0">
                <a:solidFill>
                  <a:srgbClr val="101828"/>
                </a:solidFill>
                <a:latin typeface="Inter" pitchFamily="34" charset="0"/>
                <a:ea typeface="Inter" pitchFamily="34" charset="-122"/>
                <a:cs typeface="Inter" pitchFamily="34" charset="-120"/>
              </a:rPr>
              <a:t>After execution the kernel checks the bank itself, not the agent's word. Every step goes into a signed hash chain.</a:t>
            </a:r>
            <a:endParaRPr lang="en-US" sz="1300" dirty="0"/>
          </a:p>
        </p:txBody>
      </p:sp>
      <p:sp>
        <p:nvSpPr>
          <p:cNvPr id="20" name="Text 17"/>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300" b="1" dirty="0">
                <a:solidFill>
                  <a:srgbClr val="1D4ED8"/>
                </a:solidFill>
                <a:latin typeface="Inter" pitchFamily="34" charset="0"/>
                <a:ea typeface="Inter" pitchFamily="34" charset="-122"/>
                <a:cs typeface="Inter" pitchFamily="34" charset="-120"/>
              </a:rPr>
              <a:t>Agents propose  →  kernel decides  →  bank executes  →  kernel verifies  →  journal records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month, one client: scenarios C1 to C10</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4 / 13</a:t>
            </a:r>
            <a:endParaRPr lang="en-US" sz="900" dirty="0"/>
          </a:p>
        </p:txBody>
      </p:sp>
      <p:sp>
        <p:nvSpPr>
          <p:cNvPr id="8" name="Shape 5"/>
          <p:cNvSpPr/>
          <p:nvPr/>
        </p:nvSpPr>
        <p:spPr>
          <a:xfrm>
            <a:off x="457200" y="1188720"/>
            <a:ext cx="155448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66928"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a:t>
            </a:r>
            <a:endParaRPr lang="en-US" sz="1300" dirty="0"/>
          </a:p>
        </p:txBody>
      </p:sp>
      <p:sp>
        <p:nvSpPr>
          <p:cNvPr id="10" name="Text 7"/>
          <p:cNvSpPr/>
          <p:nvPr/>
        </p:nvSpPr>
        <p:spPr>
          <a:xfrm>
            <a:off x="566928"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allow monthly</a:t>
            </a:r>
            <a:endParaRPr lang="en-US" sz="1200" dirty="0"/>
          </a:p>
        </p:txBody>
      </p:sp>
      <p:sp>
        <p:nvSpPr>
          <p:cNvPr id="11" name="Text 8"/>
          <p:cNvSpPr/>
          <p:nvPr/>
        </p:nvSpPr>
        <p:spPr>
          <a:xfrm>
            <a:off x="566928"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standing, ≤ 344 ₽</a:t>
            </a:r>
            <a:endParaRPr lang="en-US" sz="1000" dirty="0"/>
          </a:p>
        </p:txBody>
      </p:sp>
      <p:sp>
        <p:nvSpPr>
          <p:cNvPr id="12" name="Shape 9"/>
          <p:cNvSpPr/>
          <p:nvPr/>
        </p:nvSpPr>
        <p:spPr>
          <a:xfrm>
            <a:off x="2121408" y="1188720"/>
            <a:ext cx="1554480" cy="1188720"/>
          </a:xfrm>
          <a:prstGeom prst="roundRect">
            <a:avLst>
              <a:gd name="adj" fmla="val 7692"/>
            </a:avLst>
          </a:prstGeom>
          <a:solidFill>
            <a:srgbClr val="F4F5F7"/>
          </a:solidFill>
          <a:ln w="12700">
            <a:solidFill>
              <a:srgbClr val="F4F5F7"/>
            </a:solidFill>
            <a:prstDash val="solid"/>
          </a:ln>
        </p:spPr>
      </p:sp>
      <p:sp>
        <p:nvSpPr>
          <p:cNvPr id="13" name="Text 10"/>
          <p:cNvSpPr/>
          <p:nvPr/>
        </p:nvSpPr>
        <p:spPr>
          <a:xfrm>
            <a:off x="2231136"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C2</a:t>
            </a:r>
            <a:endParaRPr lang="en-US" sz="1300" dirty="0"/>
          </a:p>
        </p:txBody>
      </p:sp>
      <p:sp>
        <p:nvSpPr>
          <p:cNvPr id="14" name="Text 11"/>
          <p:cNvSpPr/>
          <p:nvPr/>
        </p:nvSpPr>
        <p:spPr>
          <a:xfrm>
            <a:off x="2231136"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Cancel a subscription</a:t>
            </a:r>
            <a:endParaRPr lang="en-US" sz="1200" dirty="0"/>
          </a:p>
        </p:txBody>
      </p:sp>
      <p:sp>
        <p:nvSpPr>
          <p:cNvPr id="15" name="Text 12"/>
          <p:cNvSpPr/>
          <p:nvPr/>
        </p:nvSpPr>
        <p:spPr>
          <a:xfrm>
            <a:off x="2231136"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merchant API + card block</a:t>
            </a:r>
            <a:endParaRPr lang="en-US" sz="1000" dirty="0"/>
          </a:p>
        </p:txBody>
      </p:sp>
      <p:sp>
        <p:nvSpPr>
          <p:cNvPr id="16" name="Shape 13"/>
          <p:cNvSpPr/>
          <p:nvPr/>
        </p:nvSpPr>
        <p:spPr>
          <a:xfrm>
            <a:off x="3785616" y="1188720"/>
            <a:ext cx="155448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3895344"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C3</a:t>
            </a:r>
            <a:endParaRPr lang="en-US" sz="1300" dirty="0"/>
          </a:p>
        </p:txBody>
      </p:sp>
      <p:sp>
        <p:nvSpPr>
          <p:cNvPr id="18" name="Text 15"/>
          <p:cNvSpPr/>
          <p:nvPr/>
        </p:nvSpPr>
        <p:spPr>
          <a:xfrm>
            <a:off x="3895344"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Find leaks</a:t>
            </a:r>
            <a:endParaRPr lang="en-US" sz="1200" dirty="0"/>
          </a:p>
        </p:txBody>
      </p:sp>
      <p:sp>
        <p:nvSpPr>
          <p:cNvPr id="19" name="Text 16"/>
          <p:cNvSpPr/>
          <p:nvPr/>
        </p:nvSpPr>
        <p:spPr>
          <a:xfrm>
            <a:off x="3895344"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847 ₽ a month</a:t>
            </a:r>
            <a:endParaRPr lang="en-US" sz="1000" dirty="0"/>
          </a:p>
        </p:txBody>
      </p:sp>
      <p:sp>
        <p:nvSpPr>
          <p:cNvPr id="20" name="Shape 17"/>
          <p:cNvSpPr/>
          <p:nvPr/>
        </p:nvSpPr>
        <p:spPr>
          <a:xfrm>
            <a:off x="5449824" y="1188720"/>
            <a:ext cx="1554480" cy="1188720"/>
          </a:xfrm>
          <a:prstGeom prst="roundRect">
            <a:avLst>
              <a:gd name="adj" fmla="val 7692"/>
            </a:avLst>
          </a:prstGeom>
          <a:solidFill>
            <a:srgbClr val="F4F5F7"/>
          </a:solidFill>
          <a:ln w="12700">
            <a:solidFill>
              <a:srgbClr val="F4F5F7"/>
            </a:solidFill>
            <a:prstDash val="solid"/>
          </a:ln>
        </p:spPr>
      </p:sp>
      <p:sp>
        <p:nvSpPr>
          <p:cNvPr id="21" name="Text 18"/>
          <p:cNvSpPr/>
          <p:nvPr/>
        </p:nvSpPr>
        <p:spPr>
          <a:xfrm>
            <a:off x="5559552"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C4</a:t>
            </a:r>
            <a:endParaRPr lang="en-US" sz="1300" dirty="0"/>
          </a:p>
        </p:txBody>
      </p:sp>
      <p:sp>
        <p:nvSpPr>
          <p:cNvPr id="22" name="Text 19"/>
          <p:cNvSpPr/>
          <p:nvPr/>
        </p:nvSpPr>
        <p:spPr>
          <a:xfrm>
            <a:off x="5559552"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Double charge</a:t>
            </a:r>
            <a:endParaRPr lang="en-US" sz="1200" dirty="0"/>
          </a:p>
        </p:txBody>
      </p:sp>
      <p:sp>
        <p:nvSpPr>
          <p:cNvPr id="23" name="Text 20"/>
          <p:cNvSpPr/>
          <p:nvPr/>
        </p:nvSpPr>
        <p:spPr>
          <a:xfrm>
            <a:off x="5559552"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dispute opened</a:t>
            </a:r>
            <a:endParaRPr lang="en-US" sz="1000" dirty="0"/>
          </a:p>
        </p:txBody>
      </p:sp>
      <p:sp>
        <p:nvSpPr>
          <p:cNvPr id="24" name="Shape 21"/>
          <p:cNvSpPr/>
          <p:nvPr/>
        </p:nvSpPr>
        <p:spPr>
          <a:xfrm>
            <a:off x="7114032" y="1188720"/>
            <a:ext cx="1554480" cy="1188720"/>
          </a:xfrm>
          <a:prstGeom prst="roundRect">
            <a:avLst>
              <a:gd name="adj" fmla="val 7692"/>
            </a:avLst>
          </a:prstGeom>
          <a:solidFill>
            <a:srgbClr val="F4F5F7"/>
          </a:solidFill>
          <a:ln w="12700">
            <a:solidFill>
              <a:srgbClr val="F4F5F7"/>
            </a:solidFill>
            <a:prstDash val="solid"/>
          </a:ln>
        </p:spPr>
      </p:sp>
      <p:sp>
        <p:nvSpPr>
          <p:cNvPr id="25" name="Text 22"/>
          <p:cNvSpPr/>
          <p:nvPr/>
        </p:nvSpPr>
        <p:spPr>
          <a:xfrm>
            <a:off x="7223760" y="128016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C5</a:t>
            </a:r>
            <a:endParaRPr lang="en-US" sz="1300" dirty="0"/>
          </a:p>
        </p:txBody>
      </p:sp>
      <p:sp>
        <p:nvSpPr>
          <p:cNvPr id="26" name="Text 23"/>
          <p:cNvSpPr/>
          <p:nvPr/>
        </p:nvSpPr>
        <p:spPr>
          <a:xfrm>
            <a:off x="7223760" y="157276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Pay bills</a:t>
            </a:r>
            <a:endParaRPr lang="en-US" sz="1200" dirty="0"/>
          </a:p>
        </p:txBody>
      </p:sp>
      <p:sp>
        <p:nvSpPr>
          <p:cNvPr id="27" name="Text 24"/>
          <p:cNvSpPr/>
          <p:nvPr/>
        </p:nvSpPr>
        <p:spPr>
          <a:xfrm>
            <a:off x="7223760" y="193852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checked against bank records</a:t>
            </a:r>
            <a:endParaRPr lang="en-US" sz="1000" dirty="0"/>
          </a:p>
        </p:txBody>
      </p:sp>
      <p:sp>
        <p:nvSpPr>
          <p:cNvPr id="28" name="Shape 25"/>
          <p:cNvSpPr/>
          <p:nvPr/>
        </p:nvSpPr>
        <p:spPr>
          <a:xfrm>
            <a:off x="457200" y="2514600"/>
            <a:ext cx="155448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566928"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C6</a:t>
            </a:r>
            <a:endParaRPr lang="en-US" sz="1300" dirty="0"/>
          </a:p>
        </p:txBody>
      </p:sp>
      <p:sp>
        <p:nvSpPr>
          <p:cNvPr id="30" name="Text 27"/>
          <p:cNvSpPr/>
          <p:nvPr/>
        </p:nvSpPr>
        <p:spPr>
          <a:xfrm>
            <a:off x="566928"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Fake bill</a:t>
            </a:r>
            <a:endParaRPr lang="en-US" sz="1200" dirty="0"/>
          </a:p>
        </p:txBody>
      </p:sp>
      <p:sp>
        <p:nvSpPr>
          <p:cNvPr id="31" name="Text 28"/>
          <p:cNvSpPr/>
          <p:nvPr/>
        </p:nvSpPr>
        <p:spPr>
          <a:xfrm>
            <a:off x="566928"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stopped, case to analysts</a:t>
            </a:r>
            <a:endParaRPr lang="en-US" sz="1000" dirty="0"/>
          </a:p>
        </p:txBody>
      </p:sp>
      <p:sp>
        <p:nvSpPr>
          <p:cNvPr id="32" name="Shape 29"/>
          <p:cNvSpPr/>
          <p:nvPr/>
        </p:nvSpPr>
        <p:spPr>
          <a:xfrm>
            <a:off x="2121408" y="2514600"/>
            <a:ext cx="1554480" cy="1188720"/>
          </a:xfrm>
          <a:prstGeom prst="roundRect">
            <a:avLst>
              <a:gd name="adj" fmla="val 7692"/>
            </a:avLst>
          </a:prstGeom>
          <a:solidFill>
            <a:srgbClr val="F4F5F7"/>
          </a:solidFill>
          <a:ln w="12700">
            <a:solidFill>
              <a:srgbClr val="F4F5F7"/>
            </a:solidFill>
            <a:prstDash val="solid"/>
          </a:ln>
        </p:spPr>
      </p:sp>
      <p:sp>
        <p:nvSpPr>
          <p:cNvPr id="33" name="Text 30"/>
          <p:cNvSpPr/>
          <p:nvPr/>
        </p:nvSpPr>
        <p:spPr>
          <a:xfrm>
            <a:off x="2231136"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C7</a:t>
            </a:r>
            <a:endParaRPr lang="en-US" sz="1300" dirty="0"/>
          </a:p>
        </p:txBody>
      </p:sp>
      <p:sp>
        <p:nvSpPr>
          <p:cNvPr id="34" name="Text 31"/>
          <p:cNvSpPr/>
          <p:nvPr/>
        </p:nvSpPr>
        <p:spPr>
          <a:xfrm>
            <a:off x="2231136"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Trial turns paid</a:t>
            </a:r>
            <a:endParaRPr lang="en-US" sz="1200" dirty="0"/>
          </a:p>
        </p:txBody>
      </p:sp>
      <p:sp>
        <p:nvSpPr>
          <p:cNvPr id="35" name="Text 32"/>
          <p:cNvSpPr/>
          <p:nvPr/>
        </p:nvSpPr>
        <p:spPr>
          <a:xfrm>
            <a:off x="2231136"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cancelled before charge</a:t>
            </a:r>
            <a:endParaRPr lang="en-US" sz="1000" dirty="0"/>
          </a:p>
        </p:txBody>
      </p:sp>
      <p:sp>
        <p:nvSpPr>
          <p:cNvPr id="36" name="Shape 33"/>
          <p:cNvSpPr/>
          <p:nvPr/>
        </p:nvSpPr>
        <p:spPr>
          <a:xfrm>
            <a:off x="3785616" y="2514600"/>
            <a:ext cx="155448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3895344"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C8</a:t>
            </a:r>
            <a:endParaRPr lang="en-US" sz="1300" dirty="0"/>
          </a:p>
        </p:txBody>
      </p:sp>
      <p:sp>
        <p:nvSpPr>
          <p:cNvPr id="38" name="Text 35"/>
          <p:cNvSpPr/>
          <p:nvPr/>
        </p:nvSpPr>
        <p:spPr>
          <a:xfrm>
            <a:off x="3895344"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Budget and goal</a:t>
            </a:r>
            <a:endParaRPr lang="en-US" sz="1200" dirty="0"/>
          </a:p>
        </p:txBody>
      </p:sp>
      <p:sp>
        <p:nvSpPr>
          <p:cNvPr id="39" name="Text 36"/>
          <p:cNvSpPr/>
          <p:nvPr/>
        </p:nvSpPr>
        <p:spPr>
          <a:xfrm>
            <a:off x="3895344"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envelopes, safe-to-spend</a:t>
            </a:r>
            <a:endParaRPr lang="en-US" sz="1000" dirty="0"/>
          </a:p>
        </p:txBody>
      </p:sp>
      <p:sp>
        <p:nvSpPr>
          <p:cNvPr id="40" name="Shape 37"/>
          <p:cNvSpPr/>
          <p:nvPr/>
        </p:nvSpPr>
        <p:spPr>
          <a:xfrm>
            <a:off x="5449824" y="2514600"/>
            <a:ext cx="1554480" cy="1188720"/>
          </a:xfrm>
          <a:prstGeom prst="roundRect">
            <a:avLst>
              <a:gd name="adj" fmla="val 7692"/>
            </a:avLst>
          </a:prstGeom>
          <a:solidFill>
            <a:srgbClr val="F4F5F7"/>
          </a:solidFill>
          <a:ln w="12700">
            <a:solidFill>
              <a:srgbClr val="F4F5F7"/>
            </a:solidFill>
            <a:prstDash val="solid"/>
          </a:ln>
        </p:spPr>
      </p:sp>
      <p:sp>
        <p:nvSpPr>
          <p:cNvPr id="41" name="Text 38"/>
          <p:cNvSpPr/>
          <p:nvPr/>
        </p:nvSpPr>
        <p:spPr>
          <a:xfrm>
            <a:off x="5559552"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C9</a:t>
            </a:r>
            <a:endParaRPr lang="en-US" sz="1300" dirty="0"/>
          </a:p>
        </p:txBody>
      </p:sp>
      <p:sp>
        <p:nvSpPr>
          <p:cNvPr id="42" name="Text 39"/>
          <p:cNvSpPr/>
          <p:nvPr/>
        </p:nvSpPr>
        <p:spPr>
          <a:xfrm>
            <a:off x="5559552"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Scam call</a:t>
            </a:r>
            <a:endParaRPr lang="en-US" sz="1200" dirty="0"/>
          </a:p>
        </p:txBody>
      </p:sp>
      <p:sp>
        <p:nvSpPr>
          <p:cNvPr id="43" name="Text 40"/>
          <p:cNvSpPr/>
          <p:nvPr/>
        </p:nvSpPr>
        <p:spPr>
          <a:xfrm>
            <a:off x="5559552"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pause → analyst hold</a:t>
            </a:r>
            <a:endParaRPr lang="en-US" sz="1000" dirty="0"/>
          </a:p>
        </p:txBody>
      </p:sp>
      <p:sp>
        <p:nvSpPr>
          <p:cNvPr id="44" name="Shape 41"/>
          <p:cNvSpPr/>
          <p:nvPr/>
        </p:nvSpPr>
        <p:spPr>
          <a:xfrm>
            <a:off x="7114032" y="2514600"/>
            <a:ext cx="1554480" cy="1188720"/>
          </a:xfrm>
          <a:prstGeom prst="roundRect">
            <a:avLst>
              <a:gd name="adj" fmla="val 7692"/>
            </a:avLst>
          </a:prstGeom>
          <a:solidFill>
            <a:srgbClr val="F4F5F7"/>
          </a:solidFill>
          <a:ln w="12700">
            <a:solidFill>
              <a:srgbClr val="F4F5F7"/>
            </a:solidFill>
            <a:prstDash val="solid"/>
          </a:ln>
        </p:spPr>
      </p:sp>
      <p:sp>
        <p:nvSpPr>
          <p:cNvPr id="45" name="Text 42"/>
          <p:cNvSpPr/>
          <p:nvPr/>
        </p:nvSpPr>
        <p:spPr>
          <a:xfrm>
            <a:off x="7223760" y="2606040"/>
            <a:ext cx="1280160" cy="274320"/>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C10</a:t>
            </a:r>
            <a:endParaRPr lang="en-US" sz="1300" dirty="0"/>
          </a:p>
        </p:txBody>
      </p:sp>
      <p:sp>
        <p:nvSpPr>
          <p:cNvPr id="46" name="Text 43"/>
          <p:cNvSpPr/>
          <p:nvPr/>
        </p:nvSpPr>
        <p:spPr>
          <a:xfrm>
            <a:off x="7223760" y="2898648"/>
            <a:ext cx="1371600" cy="365760"/>
          </a:xfrm>
          <a:prstGeom prst="rect">
            <a:avLst/>
          </a:prstGeom>
          <a:noFill/>
          <a:ln/>
        </p:spPr>
        <p:txBody>
          <a:bodyPr wrap="square" lIns="0" tIns="0" rIns="0" bIns="0" rtlCol="0" anchor="ctr"/>
          <a:lstStyle/>
          <a:p>
            <a:pPr indent="0" marL="0">
              <a:buNone/>
            </a:pPr>
            <a:r>
              <a:rPr lang="en-US" sz="1200" b="1" dirty="0">
                <a:solidFill>
                  <a:srgbClr val="101828"/>
                </a:solidFill>
                <a:latin typeface="Inter" pitchFamily="34" charset="0"/>
                <a:ea typeface="Inter" pitchFamily="34" charset="-122"/>
                <a:cs typeface="Inter" pitchFamily="34" charset="-120"/>
              </a:rPr>
              <a:t>Risky payee</a:t>
            </a:r>
            <a:endParaRPr lang="en-US" sz="1200" dirty="0"/>
          </a:p>
        </p:txBody>
      </p:sp>
      <p:sp>
        <p:nvSpPr>
          <p:cNvPr id="47" name="Text 44"/>
          <p:cNvSpPr/>
          <p:nvPr/>
        </p:nvSpPr>
        <p:spPr>
          <a:xfrm>
            <a:off x="7223760" y="3264408"/>
            <a:ext cx="1371600" cy="365760"/>
          </a:xfrm>
          <a:prstGeom prst="rect">
            <a:avLst/>
          </a:prstGeom>
          <a:noFill/>
          <a:ln/>
        </p:spPr>
        <p:txBody>
          <a:bodyPr wrap="square" lIns="0" tIns="0" rIns="0" bIns="0" rtlCol="0" anchor="t"/>
          <a:lstStyle/>
          <a:p>
            <a:pPr indent="0" marL="0">
              <a:buNone/>
            </a:pPr>
            <a:r>
              <a:rPr lang="en-US" sz="1000" dirty="0">
                <a:solidFill>
                  <a:srgbClr val="667085"/>
                </a:solidFill>
                <a:latin typeface="Inter" pitchFamily="34" charset="0"/>
                <a:ea typeface="Inter" pitchFamily="34" charset="-122"/>
                <a:cs typeface="Inter" pitchFamily="34" charset="-120"/>
              </a:rPr>
              <a:t>transfer-graph model</a:t>
            </a:r>
            <a:endParaRPr lang="en-US" sz="1000" dirty="0"/>
          </a:p>
        </p:txBody>
      </p:sp>
      <p:sp>
        <p:nvSpPr>
          <p:cNvPr id="48" name="Text 45"/>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797 ₽ </a:t>
            </a:r>
            <a:pPr indent="0" marL="0">
              <a:buNone/>
            </a:pPr>
            <a:r>
              <a:rPr lang="en-US" sz="1200" dirty="0">
                <a:solidFill>
                  <a:srgbClr val="667085"/>
                </a:solidFill>
                <a:latin typeface="Inter" pitchFamily="34" charset="0"/>
                <a:ea typeface="Inter" pitchFamily="34" charset="-122"/>
                <a:cs typeface="Inter" pitchFamily="34" charset="-120"/>
              </a:rPr>
              <a:t>saved a month</a:t>
            </a:r>
            <a:endParaRPr lang="en-US" sz="1800" dirty="0"/>
          </a:p>
        </p:txBody>
      </p:sp>
      <p:sp>
        <p:nvSpPr>
          <p:cNvPr id="49" name="Text 46"/>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11 </a:t>
            </a:r>
            <a:pPr indent="0" marL="0">
              <a:buNone/>
            </a:pPr>
            <a:r>
              <a:rPr lang="en-US" sz="1200" dirty="0">
                <a:solidFill>
                  <a:srgbClr val="667085"/>
                </a:solidFill>
                <a:latin typeface="Inter" pitchFamily="34" charset="0"/>
                <a:ea typeface="Inter" pitchFamily="34" charset="-122"/>
                <a:cs typeface="Inter" pitchFamily="34" charset="-120"/>
              </a:rPr>
              <a:t>done</a:t>
            </a:r>
            <a:endParaRPr lang="en-US" sz="1800" dirty="0"/>
          </a:p>
        </p:txBody>
      </p:sp>
      <p:sp>
        <p:nvSpPr>
          <p:cNvPr id="50" name="Text 47"/>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12 </a:t>
            </a:r>
            <a:pPr indent="0" marL="0">
              <a:buNone/>
            </a:pPr>
            <a:r>
              <a:rPr lang="en-US" sz="1200" dirty="0">
                <a:solidFill>
                  <a:srgbClr val="667085"/>
                </a:solidFill>
                <a:latin typeface="Inter" pitchFamily="34" charset="0"/>
                <a:ea typeface="Inter" pitchFamily="34" charset="-122"/>
                <a:cs typeface="Inter" pitchFamily="34" charset="-120"/>
              </a:rPr>
              <a:t>asked</a:t>
            </a:r>
            <a:endParaRPr lang="en-US" sz="1800" dirty="0"/>
          </a:p>
        </p:txBody>
      </p:sp>
      <p:sp>
        <p:nvSpPr>
          <p:cNvPr id="51" name="Text 48"/>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4 </a:t>
            </a:r>
            <a:pPr indent="0" marL="0">
              <a:buNone/>
            </a:pPr>
            <a:r>
              <a:rPr lang="en-US" sz="1200" dirty="0">
                <a:solidFill>
                  <a:srgbClr val="667085"/>
                </a:solidFill>
                <a:latin typeface="Inter" pitchFamily="34" charset="0"/>
                <a:ea typeface="Inter" pitchFamily="34" charset="-122"/>
                <a:cs typeface="Inter" pitchFamily="34" charset="-120"/>
              </a:rPr>
              <a:t>stopped</a:t>
            </a:r>
            <a:endParaRPr lang="en-US" sz="1800" dirty="0"/>
          </a:p>
        </p:txBody>
      </p:sp>
      <p:sp>
        <p:nvSpPr>
          <p:cNvPr id="52" name="Text 49"/>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347 </a:t>
            </a:r>
            <a:pPr indent="0" marL="0">
              <a:buNone/>
            </a:pPr>
            <a:r>
              <a:rPr lang="en-US" sz="1200" dirty="0">
                <a:solidFill>
                  <a:srgbClr val="667085"/>
                </a:solidFill>
                <a:latin typeface="Inter" pitchFamily="34" charset="0"/>
                <a:ea typeface="Inter" pitchFamily="34" charset="-122"/>
                <a:cs typeface="Inter"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What the client sees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5 / 13</a:t>
            </a:r>
            <a:endParaRPr lang="en-US" sz="900" dirty="0"/>
          </a:p>
        </p:txBody>
      </p:sp>
      <p:pic>
        <p:nvPicPr>
          <p:cNvPr id="8" name="Image 0" descr="/workspace/ShenzhenFinTechathonTopicA/docs/media/01_card_chat.png">    </p:cNvPr>
          <p:cNvPicPr>
            <a:picLocks noChangeAspect="1"/>
          </p:cNvPicPr>
          <p:nvPr/>
        </p:nvPicPr>
        <p:blipFill>
          <a:blip r:embed="rId1"/>
          <a:stretch>
            <a:fillRect/>
          </a:stretch>
        </p:blipFill>
        <p:spPr>
          <a:xfrm>
            <a:off x="914400" y="1188720"/>
            <a:ext cx="3108960" cy="3152140"/>
          </a:xfrm>
          <a:prstGeom prst="rect">
            <a:avLst/>
          </a:prstGeom>
        </p:spPr>
      </p:pic>
      <p:sp>
        <p:nvSpPr>
          <p:cNvPr id="9" name="Shape 5"/>
          <p:cNvSpPr/>
          <p:nvPr/>
        </p:nvSpPr>
        <p:spPr>
          <a:xfrm>
            <a:off x="914400" y="1188720"/>
            <a:ext cx="3108960" cy="3152140"/>
          </a:xfrm>
          <a:prstGeom prst="roundRect">
            <a:avLst>
              <a:gd name="adj" fmla="val 1765"/>
            </a:avLst>
          </a:prstGeom>
          <a:ln w="12700">
            <a:solidFill>
              <a:srgbClr val="E4E7EC"/>
            </a:solidFill>
            <a:prstDash val="solid"/>
          </a:ln>
        </p:spPr>
      </p:sp>
      <p:sp>
        <p:nvSpPr>
          <p:cNvPr id="10" name="Text 6"/>
          <p:cNvSpPr/>
          <p:nvPr/>
        </p:nvSpPr>
        <p:spPr>
          <a:xfrm>
            <a:off x="45720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card: every field with its source, signed with the device key</a:t>
            </a:r>
            <a:endParaRPr lang="en-US" sz="1100" dirty="0"/>
          </a:p>
        </p:txBody>
      </p:sp>
      <p:pic>
        <p:nvPicPr>
          <p:cNvPr id="11" name="Image 1" descr="/workspace/ShenzhenFinTechathonTopicA/docs/media/06_fake_bill_chat.png">    </p:cNvPr>
          <p:cNvPicPr>
            <a:picLocks noChangeAspect="1"/>
          </p:cNvPicPr>
          <p:nvPr/>
        </p:nvPicPr>
        <p:blipFill>
          <a:blip r:embed="rId2"/>
          <a:stretch>
            <a:fillRect/>
          </a:stretch>
        </p:blipFill>
        <p:spPr>
          <a:xfrm>
            <a:off x="5120640" y="1188720"/>
            <a:ext cx="3108960" cy="3152140"/>
          </a:xfrm>
          <a:prstGeom prst="rect">
            <a:avLst/>
          </a:prstGeom>
        </p:spPr>
      </p:pic>
      <p:sp>
        <p:nvSpPr>
          <p:cNvPr id="12" name="Shape 7"/>
          <p:cNvSpPr/>
          <p:nvPr/>
        </p:nvSpPr>
        <p:spPr>
          <a:xfrm>
            <a:off x="5120640" y="1188720"/>
            <a:ext cx="3108960" cy="3152140"/>
          </a:xfrm>
          <a:prstGeom prst="roundRect">
            <a:avLst>
              <a:gd name="adj" fmla="val 1765"/>
            </a:avLst>
          </a:prstGeom>
          <a:ln w="12700">
            <a:solidFill>
              <a:srgbClr val="E4E7EC"/>
            </a:solidFill>
            <a:prstDash val="solid"/>
          </a:ln>
        </p:spPr>
      </p:sp>
      <p:sp>
        <p:nvSpPr>
          <p:cNvPr id="13" name="Text 8"/>
          <p:cNvSpPr/>
          <p:nvPr/>
        </p:nvSpPr>
        <p:spPr>
          <a:xfrm>
            <a:off x="4663440" y="4377436"/>
            <a:ext cx="4023360" cy="274320"/>
          </a:xfrm>
          <a:prstGeom prst="rect">
            <a:avLst/>
          </a:prstGeom>
          <a:noFill/>
          <a:ln/>
        </p:spPr>
        <p:txBody>
          <a:bodyPr wrap="square" lIns="0" tIns="0" rIns="0" bIns="0" rtlCol="0" anchor="ctr"/>
          <a:lstStyle/>
          <a:p>
            <a:pPr algn="ctr" indent="0" marL="0">
              <a:buNone/>
            </a:pPr>
            <a:r>
              <a:rPr lang="en-US" sz="1100" dirty="0">
                <a:solidFill>
                  <a:srgbClr val="101828"/>
                </a:solidFill>
                <a:latin typeface="Inter" pitchFamily="34" charset="0"/>
                <a:ea typeface="Inter" pitchFamily="34" charset="-122"/>
                <a:cs typeface="Inter" pitchFamily="34" charset="-120"/>
              </a:rPr>
              <a:t>A fake bill: stopped with reasons, case sent to analysts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Architecture</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6 / 13</a:t>
            </a:r>
            <a:endParaRPr lang="en-US" sz="900" dirty="0"/>
          </a:p>
        </p:txBody>
      </p:sp>
      <p:pic>
        <p:nvPicPr>
          <p:cNvPr id="8" name="Image 0" descr="/workspace/ShenzhenFinTechathonTopicA/docs/diagrams/architecture.png">    </p:cNvPr>
          <p:cNvPicPr>
            <a:picLocks noChangeAspect="1"/>
          </p:cNvPicPr>
          <p:nvPr/>
        </p:nvPicPr>
        <p:blipFill>
          <a:blip r:embed="rId1"/>
          <a:stretch>
            <a:fillRect/>
          </a:stretch>
        </p:blipFill>
        <p:spPr>
          <a:xfrm>
            <a:off x="1054852" y="1005840"/>
            <a:ext cx="7034296" cy="36576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One kernel pipeline for every intent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7 / 13</a:t>
            </a:r>
            <a:endParaRPr lang="en-US" sz="900" dirty="0"/>
          </a:p>
        </p:txBody>
      </p:sp>
      <p:sp>
        <p:nvSpPr>
          <p:cNvPr id="8" name="Shape 5"/>
          <p:cNvSpPr/>
          <p:nvPr/>
        </p:nvSpPr>
        <p:spPr>
          <a:xfrm>
            <a:off x="457200" y="1234440"/>
            <a:ext cx="1234440" cy="640080"/>
          </a:xfrm>
          <a:prstGeom prst="roundRect">
            <a:avLst>
              <a:gd name="adj" fmla="val 11429"/>
            </a:avLst>
          </a:prstGeom>
          <a:solidFill>
            <a:srgbClr val="FFFFFF"/>
          </a:solidFill>
          <a:ln w="12700">
            <a:solidFill>
              <a:srgbClr val="E4E7EC"/>
            </a:solidFill>
            <a:prstDash val="solid"/>
          </a:ln>
        </p:spPr>
      </p:sp>
      <p:sp>
        <p:nvSpPr>
          <p:cNvPr id="9" name="Text 6"/>
          <p:cNvSpPr/>
          <p:nvPr/>
        </p:nvSpPr>
        <p:spPr>
          <a:xfrm>
            <a:off x="530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01</a:t>
            </a:r>
            <a:endParaRPr lang="en-US" sz="800" dirty="0"/>
          </a:p>
        </p:txBody>
      </p:sp>
      <p:sp>
        <p:nvSpPr>
          <p:cNvPr id="10" name="Text 7"/>
          <p:cNvSpPr/>
          <p:nvPr/>
        </p:nvSpPr>
        <p:spPr>
          <a:xfrm>
            <a:off x="457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Passport</a:t>
            </a:r>
            <a:endParaRPr lang="en-US" sz="1200" dirty="0"/>
          </a:p>
        </p:txBody>
      </p:sp>
      <p:sp>
        <p:nvSpPr>
          <p:cNvPr id="11" name="Text 8"/>
          <p:cNvSpPr/>
          <p:nvPr/>
        </p:nvSpPr>
        <p:spPr>
          <a:xfrm>
            <a:off x="16916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2" name="Shape 9"/>
          <p:cNvSpPr/>
          <p:nvPr/>
        </p:nvSpPr>
        <p:spPr>
          <a:xfrm>
            <a:off x="1828800" y="1234440"/>
            <a:ext cx="1234440" cy="640080"/>
          </a:xfrm>
          <a:prstGeom prst="roundRect">
            <a:avLst>
              <a:gd name="adj" fmla="val 11429"/>
            </a:avLst>
          </a:prstGeom>
          <a:solidFill>
            <a:srgbClr val="FFFFFF"/>
          </a:solidFill>
          <a:ln w="12700">
            <a:solidFill>
              <a:srgbClr val="E4E7EC"/>
            </a:solidFill>
            <a:prstDash val="solid"/>
          </a:ln>
        </p:spPr>
      </p:sp>
      <p:sp>
        <p:nvSpPr>
          <p:cNvPr id="13" name="Text 10"/>
          <p:cNvSpPr/>
          <p:nvPr/>
        </p:nvSpPr>
        <p:spPr>
          <a:xfrm>
            <a:off x="19019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02</a:t>
            </a:r>
            <a:endParaRPr lang="en-US" sz="800" dirty="0"/>
          </a:p>
        </p:txBody>
      </p:sp>
      <p:sp>
        <p:nvSpPr>
          <p:cNvPr id="14" name="Text 11"/>
          <p:cNvSpPr/>
          <p:nvPr/>
        </p:nvSpPr>
        <p:spPr>
          <a:xfrm>
            <a:off x="18288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Schema</a:t>
            </a:r>
            <a:endParaRPr lang="en-US" sz="1200" dirty="0"/>
          </a:p>
        </p:txBody>
      </p:sp>
      <p:sp>
        <p:nvSpPr>
          <p:cNvPr id="15" name="Text 12"/>
          <p:cNvSpPr/>
          <p:nvPr/>
        </p:nvSpPr>
        <p:spPr>
          <a:xfrm>
            <a:off x="30632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16" name="Shape 13"/>
          <p:cNvSpPr/>
          <p:nvPr/>
        </p:nvSpPr>
        <p:spPr>
          <a:xfrm>
            <a:off x="3200400" y="1234440"/>
            <a:ext cx="1234440" cy="640080"/>
          </a:xfrm>
          <a:prstGeom prst="roundRect">
            <a:avLst>
              <a:gd name="adj" fmla="val 11429"/>
            </a:avLst>
          </a:prstGeom>
          <a:solidFill>
            <a:srgbClr val="FFFFFF"/>
          </a:solidFill>
          <a:ln w="12700">
            <a:solidFill>
              <a:srgbClr val="E4E7EC"/>
            </a:solidFill>
            <a:prstDash val="solid"/>
          </a:ln>
        </p:spPr>
      </p:sp>
      <p:sp>
        <p:nvSpPr>
          <p:cNvPr id="17" name="Text 14"/>
          <p:cNvSpPr/>
          <p:nvPr/>
        </p:nvSpPr>
        <p:spPr>
          <a:xfrm>
            <a:off x="32735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03</a:t>
            </a:r>
            <a:endParaRPr lang="en-US" sz="800" dirty="0"/>
          </a:p>
        </p:txBody>
      </p:sp>
      <p:sp>
        <p:nvSpPr>
          <p:cNvPr id="18" name="Text 15"/>
          <p:cNvSpPr/>
          <p:nvPr/>
        </p:nvSpPr>
        <p:spPr>
          <a:xfrm>
            <a:off x="32004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Mandate</a:t>
            </a:r>
            <a:endParaRPr lang="en-US" sz="1200" dirty="0"/>
          </a:p>
        </p:txBody>
      </p:sp>
      <p:sp>
        <p:nvSpPr>
          <p:cNvPr id="19" name="Text 16"/>
          <p:cNvSpPr/>
          <p:nvPr/>
        </p:nvSpPr>
        <p:spPr>
          <a:xfrm>
            <a:off x="44348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0" name="Shape 17"/>
          <p:cNvSpPr/>
          <p:nvPr/>
        </p:nvSpPr>
        <p:spPr>
          <a:xfrm>
            <a:off x="4572000" y="1234440"/>
            <a:ext cx="1234440" cy="640080"/>
          </a:xfrm>
          <a:prstGeom prst="roundRect">
            <a:avLst>
              <a:gd name="adj" fmla="val 11429"/>
            </a:avLst>
          </a:prstGeom>
          <a:solidFill>
            <a:srgbClr val="FFFFFF"/>
          </a:solidFill>
          <a:ln w="12700">
            <a:solidFill>
              <a:srgbClr val="E4E7EC"/>
            </a:solidFill>
            <a:prstDash val="solid"/>
          </a:ln>
        </p:spPr>
      </p:sp>
      <p:sp>
        <p:nvSpPr>
          <p:cNvPr id="21" name="Text 18"/>
          <p:cNvSpPr/>
          <p:nvPr/>
        </p:nvSpPr>
        <p:spPr>
          <a:xfrm>
            <a:off x="46451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04</a:t>
            </a:r>
            <a:endParaRPr lang="en-US" sz="800" dirty="0"/>
          </a:p>
        </p:txBody>
      </p:sp>
      <p:sp>
        <p:nvSpPr>
          <p:cNvPr id="22" name="Text 19"/>
          <p:cNvSpPr/>
          <p:nvPr/>
        </p:nvSpPr>
        <p:spPr>
          <a:xfrm>
            <a:off x="45720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Provenance</a:t>
            </a:r>
            <a:endParaRPr lang="en-US" sz="1200" dirty="0"/>
          </a:p>
        </p:txBody>
      </p:sp>
      <p:sp>
        <p:nvSpPr>
          <p:cNvPr id="23" name="Text 20"/>
          <p:cNvSpPr/>
          <p:nvPr/>
        </p:nvSpPr>
        <p:spPr>
          <a:xfrm>
            <a:off x="58064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4" name="Shape 21"/>
          <p:cNvSpPr/>
          <p:nvPr/>
        </p:nvSpPr>
        <p:spPr>
          <a:xfrm>
            <a:off x="5943600" y="1234440"/>
            <a:ext cx="1234440" cy="640080"/>
          </a:xfrm>
          <a:prstGeom prst="roundRect">
            <a:avLst>
              <a:gd name="adj" fmla="val 11429"/>
            </a:avLst>
          </a:prstGeom>
          <a:solidFill>
            <a:srgbClr val="FFFFFF"/>
          </a:solidFill>
          <a:ln w="12700">
            <a:solidFill>
              <a:srgbClr val="E4E7EC"/>
            </a:solidFill>
            <a:prstDash val="solid"/>
          </a:ln>
        </p:spPr>
      </p:sp>
      <p:sp>
        <p:nvSpPr>
          <p:cNvPr id="25" name="Text 22"/>
          <p:cNvSpPr/>
          <p:nvPr/>
        </p:nvSpPr>
        <p:spPr>
          <a:xfrm>
            <a:off x="60167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05</a:t>
            </a:r>
            <a:endParaRPr lang="en-US" sz="800" dirty="0"/>
          </a:p>
        </p:txBody>
      </p:sp>
      <p:sp>
        <p:nvSpPr>
          <p:cNvPr id="26" name="Text 23"/>
          <p:cNvSpPr/>
          <p:nvPr/>
        </p:nvSpPr>
        <p:spPr>
          <a:xfrm>
            <a:off x="59436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References</a:t>
            </a:r>
            <a:endParaRPr lang="en-US" sz="1200" dirty="0"/>
          </a:p>
        </p:txBody>
      </p:sp>
      <p:sp>
        <p:nvSpPr>
          <p:cNvPr id="27" name="Text 24"/>
          <p:cNvSpPr/>
          <p:nvPr/>
        </p:nvSpPr>
        <p:spPr>
          <a:xfrm>
            <a:off x="7178040" y="123444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8" name="Shape 25"/>
          <p:cNvSpPr/>
          <p:nvPr/>
        </p:nvSpPr>
        <p:spPr>
          <a:xfrm>
            <a:off x="7315200" y="1234440"/>
            <a:ext cx="1234440" cy="640080"/>
          </a:xfrm>
          <a:prstGeom prst="roundRect">
            <a:avLst>
              <a:gd name="adj" fmla="val 11429"/>
            </a:avLst>
          </a:prstGeom>
          <a:solidFill>
            <a:srgbClr val="FFFFFF"/>
          </a:solidFill>
          <a:ln w="12700">
            <a:solidFill>
              <a:srgbClr val="E4E7EC"/>
            </a:solidFill>
            <a:prstDash val="solid"/>
          </a:ln>
        </p:spPr>
      </p:sp>
      <p:sp>
        <p:nvSpPr>
          <p:cNvPr id="29" name="Text 26"/>
          <p:cNvSpPr/>
          <p:nvPr/>
        </p:nvSpPr>
        <p:spPr>
          <a:xfrm>
            <a:off x="7388352" y="127101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06</a:t>
            </a:r>
            <a:endParaRPr lang="en-US" sz="800" dirty="0"/>
          </a:p>
        </p:txBody>
      </p:sp>
      <p:sp>
        <p:nvSpPr>
          <p:cNvPr id="30" name="Text 27"/>
          <p:cNvSpPr/>
          <p:nvPr/>
        </p:nvSpPr>
        <p:spPr>
          <a:xfrm>
            <a:off x="7315200" y="134416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Policy</a:t>
            </a:r>
            <a:endParaRPr lang="en-US" sz="1200" dirty="0"/>
          </a:p>
        </p:txBody>
      </p:sp>
      <p:sp>
        <p:nvSpPr>
          <p:cNvPr id="31" name="Shape 28"/>
          <p:cNvSpPr/>
          <p:nvPr/>
        </p:nvSpPr>
        <p:spPr>
          <a:xfrm>
            <a:off x="457200" y="2103120"/>
            <a:ext cx="1234440" cy="640080"/>
          </a:xfrm>
          <a:prstGeom prst="roundRect">
            <a:avLst>
              <a:gd name="adj" fmla="val 11429"/>
            </a:avLst>
          </a:prstGeom>
          <a:solidFill>
            <a:srgbClr val="FFFFFF"/>
          </a:solidFill>
          <a:ln w="12700">
            <a:solidFill>
              <a:srgbClr val="E4E7EC"/>
            </a:solidFill>
            <a:prstDash val="solid"/>
          </a:ln>
        </p:spPr>
      </p:sp>
      <p:sp>
        <p:nvSpPr>
          <p:cNvPr id="32" name="Text 29"/>
          <p:cNvSpPr/>
          <p:nvPr/>
        </p:nvSpPr>
        <p:spPr>
          <a:xfrm>
            <a:off x="5303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07</a:t>
            </a:r>
            <a:endParaRPr lang="en-US" sz="800" dirty="0"/>
          </a:p>
        </p:txBody>
      </p:sp>
      <p:sp>
        <p:nvSpPr>
          <p:cNvPr id="33" name="Text 30"/>
          <p:cNvSpPr/>
          <p:nvPr/>
        </p:nvSpPr>
        <p:spPr>
          <a:xfrm>
            <a:off x="4572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Risk</a:t>
            </a:r>
            <a:endParaRPr lang="en-US" sz="1200" dirty="0"/>
          </a:p>
        </p:txBody>
      </p:sp>
      <p:sp>
        <p:nvSpPr>
          <p:cNvPr id="34" name="Text 31"/>
          <p:cNvSpPr/>
          <p:nvPr/>
        </p:nvSpPr>
        <p:spPr>
          <a:xfrm>
            <a:off x="16916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5" name="Shape 32"/>
          <p:cNvSpPr/>
          <p:nvPr/>
        </p:nvSpPr>
        <p:spPr>
          <a:xfrm>
            <a:off x="1828800" y="2103120"/>
            <a:ext cx="1234440" cy="640080"/>
          </a:xfrm>
          <a:prstGeom prst="roundRect">
            <a:avLst>
              <a:gd name="adj" fmla="val 11429"/>
            </a:avLst>
          </a:prstGeom>
          <a:solidFill>
            <a:srgbClr val="FFFFFF"/>
          </a:solidFill>
          <a:ln w="12700">
            <a:solidFill>
              <a:srgbClr val="E4E7EC"/>
            </a:solidFill>
            <a:prstDash val="solid"/>
          </a:ln>
        </p:spPr>
      </p:sp>
      <p:sp>
        <p:nvSpPr>
          <p:cNvPr id="36" name="Text 33"/>
          <p:cNvSpPr/>
          <p:nvPr/>
        </p:nvSpPr>
        <p:spPr>
          <a:xfrm>
            <a:off x="19019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08</a:t>
            </a:r>
            <a:endParaRPr lang="en-US" sz="800" dirty="0"/>
          </a:p>
        </p:txBody>
      </p:sp>
      <p:sp>
        <p:nvSpPr>
          <p:cNvPr id="37" name="Text 34"/>
          <p:cNvSpPr/>
          <p:nvPr/>
        </p:nvSpPr>
        <p:spPr>
          <a:xfrm>
            <a:off x="18288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Critic</a:t>
            </a:r>
            <a:endParaRPr lang="en-US" sz="1200" dirty="0"/>
          </a:p>
        </p:txBody>
      </p:sp>
      <p:sp>
        <p:nvSpPr>
          <p:cNvPr id="38" name="Text 35"/>
          <p:cNvSpPr/>
          <p:nvPr/>
        </p:nvSpPr>
        <p:spPr>
          <a:xfrm>
            <a:off x="30632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39" name="Shape 36"/>
          <p:cNvSpPr/>
          <p:nvPr/>
        </p:nvSpPr>
        <p:spPr>
          <a:xfrm>
            <a:off x="3200400" y="2103120"/>
            <a:ext cx="1234440" cy="640080"/>
          </a:xfrm>
          <a:prstGeom prst="roundRect">
            <a:avLst>
              <a:gd name="adj" fmla="val 11429"/>
            </a:avLst>
          </a:prstGeom>
          <a:solidFill>
            <a:srgbClr val="FFFFFF"/>
          </a:solidFill>
          <a:ln w="12700">
            <a:solidFill>
              <a:srgbClr val="E4E7EC"/>
            </a:solidFill>
            <a:prstDash val="solid"/>
          </a:ln>
        </p:spPr>
      </p:sp>
      <p:sp>
        <p:nvSpPr>
          <p:cNvPr id="40" name="Text 37"/>
          <p:cNvSpPr/>
          <p:nvPr/>
        </p:nvSpPr>
        <p:spPr>
          <a:xfrm>
            <a:off x="32735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09</a:t>
            </a:r>
            <a:endParaRPr lang="en-US" sz="800" dirty="0"/>
          </a:p>
        </p:txBody>
      </p:sp>
      <p:sp>
        <p:nvSpPr>
          <p:cNvPr id="41" name="Text 38"/>
          <p:cNvSpPr/>
          <p:nvPr/>
        </p:nvSpPr>
        <p:spPr>
          <a:xfrm>
            <a:off x="32004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Shadow run</a:t>
            </a:r>
            <a:endParaRPr lang="en-US" sz="1200" dirty="0"/>
          </a:p>
        </p:txBody>
      </p:sp>
      <p:sp>
        <p:nvSpPr>
          <p:cNvPr id="42" name="Text 39"/>
          <p:cNvSpPr/>
          <p:nvPr/>
        </p:nvSpPr>
        <p:spPr>
          <a:xfrm>
            <a:off x="44348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3" name="Shape 40"/>
          <p:cNvSpPr/>
          <p:nvPr/>
        </p:nvSpPr>
        <p:spPr>
          <a:xfrm>
            <a:off x="4572000" y="2103120"/>
            <a:ext cx="1234440" cy="640080"/>
          </a:xfrm>
          <a:prstGeom prst="roundRect">
            <a:avLst>
              <a:gd name="adj" fmla="val 11429"/>
            </a:avLst>
          </a:prstGeom>
          <a:solidFill>
            <a:srgbClr val="F3F0FF"/>
          </a:solidFill>
          <a:ln w="12700">
            <a:solidFill>
              <a:srgbClr val="D4CCF9"/>
            </a:solidFill>
            <a:prstDash val="solid"/>
          </a:ln>
        </p:spPr>
      </p:sp>
      <p:sp>
        <p:nvSpPr>
          <p:cNvPr id="44" name="Text 41"/>
          <p:cNvSpPr/>
          <p:nvPr/>
        </p:nvSpPr>
        <p:spPr>
          <a:xfrm>
            <a:off x="46451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10</a:t>
            </a:r>
            <a:endParaRPr lang="en-US" sz="800" dirty="0"/>
          </a:p>
        </p:txBody>
      </p:sp>
      <p:sp>
        <p:nvSpPr>
          <p:cNvPr id="45" name="Text 42"/>
          <p:cNvSpPr/>
          <p:nvPr/>
        </p:nvSpPr>
        <p:spPr>
          <a:xfrm>
            <a:off x="45720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Execute</a:t>
            </a:r>
            <a:endParaRPr lang="en-US" sz="1200" dirty="0"/>
          </a:p>
        </p:txBody>
      </p:sp>
      <p:sp>
        <p:nvSpPr>
          <p:cNvPr id="46" name="Text 43"/>
          <p:cNvSpPr/>
          <p:nvPr/>
        </p:nvSpPr>
        <p:spPr>
          <a:xfrm>
            <a:off x="5806440" y="2103120"/>
            <a:ext cx="137160" cy="6400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47" name="Shape 44"/>
          <p:cNvSpPr/>
          <p:nvPr/>
        </p:nvSpPr>
        <p:spPr>
          <a:xfrm>
            <a:off x="5943600" y="2103120"/>
            <a:ext cx="1234440" cy="640080"/>
          </a:xfrm>
          <a:prstGeom prst="roundRect">
            <a:avLst>
              <a:gd name="adj" fmla="val 11429"/>
            </a:avLst>
          </a:prstGeom>
          <a:solidFill>
            <a:srgbClr val="F3F0FF"/>
          </a:solidFill>
          <a:ln w="12700">
            <a:solidFill>
              <a:srgbClr val="D4CCF9"/>
            </a:solidFill>
            <a:prstDash val="solid"/>
          </a:ln>
        </p:spPr>
      </p:sp>
      <p:sp>
        <p:nvSpPr>
          <p:cNvPr id="48" name="Text 45"/>
          <p:cNvSpPr/>
          <p:nvPr/>
        </p:nvSpPr>
        <p:spPr>
          <a:xfrm>
            <a:off x="6016752" y="2139696"/>
            <a:ext cx="457200" cy="182880"/>
          </a:xfrm>
          <a:prstGeom prst="rect">
            <a:avLst/>
          </a:prstGeom>
          <a:noFill/>
          <a:ln/>
        </p:spPr>
        <p:txBody>
          <a:bodyPr wrap="square" lIns="0" tIns="0" rIns="0" bIns="0" rtlCol="0" anchor="ctr"/>
          <a:lstStyle/>
          <a:p>
            <a:pPr indent="0" marL="0">
              <a:buNone/>
            </a:pPr>
            <a:r>
              <a:rPr lang="en-US" sz="800" dirty="0">
                <a:solidFill>
                  <a:srgbClr val="667085"/>
                </a:solidFill>
                <a:latin typeface="Inter" pitchFamily="34" charset="0"/>
                <a:ea typeface="Inter" pitchFamily="34" charset="-122"/>
                <a:cs typeface="Inter" pitchFamily="34" charset="-120"/>
              </a:rPr>
              <a:t>11</a:t>
            </a:r>
            <a:endParaRPr lang="en-US" sz="800" dirty="0"/>
          </a:p>
        </p:txBody>
      </p:sp>
      <p:sp>
        <p:nvSpPr>
          <p:cNvPr id="49" name="Text 46"/>
          <p:cNvSpPr/>
          <p:nvPr/>
        </p:nvSpPr>
        <p:spPr>
          <a:xfrm>
            <a:off x="5943600" y="2212848"/>
            <a:ext cx="1234440" cy="530352"/>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Verify</a:t>
            </a:r>
            <a:endParaRPr lang="en-US" sz="1200" dirty="0"/>
          </a:p>
        </p:txBody>
      </p:sp>
      <p:sp>
        <p:nvSpPr>
          <p:cNvPr id="50" name="Text 47"/>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Provenance  </a:t>
            </a:r>
            <a:pPr indent="0" marL="0">
              <a:buNone/>
            </a:pPr>
            <a:r>
              <a:rPr lang="en-US" sz="1200" dirty="0">
                <a:solidFill>
                  <a:srgbClr val="101828"/>
                </a:solidFill>
                <a:latin typeface="Inter" pitchFamily="34" charset="0"/>
                <a:ea typeface="Inter" pitchFamily="34" charset="-122"/>
                <a:cs typeface="Inter" pitchFamily="34" charset="-120"/>
              </a:rPr>
              <a:t>CLIENT · BANK · UNTRUSTED. A value from a bill or a web page can never set the payee or the amount.</a:t>
            </a:r>
            <a:endParaRPr lang="en-US" sz="1200" dirty="0"/>
          </a:p>
        </p:txBody>
      </p:sp>
      <p:sp>
        <p:nvSpPr>
          <p:cNvPr id="51" name="Text 48"/>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Critic  </a:t>
            </a:r>
            <a:pPr indent="0" marL="0">
              <a:buNone/>
            </a:pPr>
            <a:r>
              <a:rPr lang="en-US" sz="1200" dirty="0">
                <a:solidFill>
                  <a:srgbClr val="101828"/>
                </a:solidFill>
                <a:latin typeface="Inter" pitchFamily="34" charset="0"/>
                <a:ea typeface="Inter" pitchFamily="34" charset="-122"/>
                <a:cs typeface="Inter" pitchFamily="34" charset="-120"/>
              </a:rPr>
              <a:t>A second model sees only the client's words and the card, not the documents an attacker controls.</a:t>
            </a:r>
            <a:endParaRPr lang="en-US" sz="1200" dirty="0"/>
          </a:p>
        </p:txBody>
      </p:sp>
      <p:sp>
        <p:nvSpPr>
          <p:cNvPr id="52" name="Text 49"/>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Shadow run  </a:t>
            </a:r>
            <a:pPr indent="0" marL="0">
              <a:buNone/>
            </a:pPr>
            <a:r>
              <a:rPr lang="en-US" sz="1200" dirty="0">
                <a:solidFill>
                  <a:srgbClr val="101828"/>
                </a:solidFill>
                <a:latin typeface="Inter" pitchFamily="34" charset="0"/>
                <a:ea typeface="Inter" pitchFamily="34" charset="-122"/>
                <a:cs typeface="Inter" pitchFamily="34" charset="-120"/>
              </a:rPr>
              <a:t>The payment is rehearsed in a copy of the bank; if money moves differently, it is denied.</a:t>
            </a:r>
            <a:endParaRPr lang="en-US" sz="1200" dirty="0"/>
          </a:p>
        </p:txBody>
      </p:sp>
      <p:sp>
        <p:nvSpPr>
          <p:cNvPr id="53" name="Text 50"/>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1D4ED8"/>
                </a:solidFill>
                <a:latin typeface="Inter" pitchFamily="34" charset="0"/>
                <a:ea typeface="Inter" pitchFamily="34" charset="-122"/>
                <a:cs typeface="Inter" pitchFamily="34" charset="-120"/>
              </a:rPr>
              <a:t>Trust levels 0, 1, 2  </a:t>
            </a:r>
            <a:pPr indent="0" marL="0">
              <a:buNone/>
            </a:pPr>
            <a:r>
              <a:rPr lang="en-US" sz="1200" dirty="0">
                <a:solidFill>
                  <a:srgbClr val="101828"/>
                </a:solidFill>
                <a:latin typeface="Inter" pitchFamily="34" charset="0"/>
                <a:ea typeface="Inter" pitchFamily="34" charset="-122"/>
                <a:cs typeface="Inter" pitchFamily="34" charset="-120"/>
              </a:rPr>
              <a:t>Level 1 limit 1 000 ₽;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Earned trust: rewards and penalties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8 / 13</a:t>
            </a:r>
            <a:endParaRPr lang="en-US" sz="900" dirty="0"/>
          </a:p>
        </p:txBody>
      </p:sp>
      <p:sp>
        <p:nvSpPr>
          <p:cNvPr id="8" name="Text 5"/>
          <p:cNvSpPr/>
          <p:nvPr/>
        </p:nvSpPr>
        <p:spPr>
          <a:xfrm>
            <a:off x="45720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kind of task</a:t>
            </a:r>
            <a:endParaRPr lang="en-US" sz="1700" dirty="0"/>
          </a:p>
        </p:txBody>
      </p:sp>
      <p:sp>
        <p:nvSpPr>
          <p:cNvPr id="9" name="Shape 6"/>
          <p:cNvSpPr/>
          <p:nvPr/>
        </p:nvSpPr>
        <p:spPr>
          <a:xfrm>
            <a:off x="457200" y="1508760"/>
            <a:ext cx="2651760" cy="457200"/>
          </a:xfrm>
          <a:prstGeom prst="roundRect">
            <a:avLst>
              <a:gd name="adj" fmla="val 16000"/>
            </a:avLst>
          </a:prstGeom>
          <a:solidFill>
            <a:srgbClr val="E8F6F3"/>
          </a:solidFill>
          <a:ln w="12700">
            <a:solidFill>
              <a:srgbClr val="B7E4D9"/>
            </a:solidFill>
            <a:prstDash val="solid"/>
          </a:ln>
        </p:spPr>
      </p:sp>
      <p:sp>
        <p:nvSpPr>
          <p:cNvPr id="10" name="Text 7"/>
          <p:cNvSpPr/>
          <p:nvPr/>
        </p:nvSpPr>
        <p:spPr>
          <a:xfrm>
            <a:off x="566928" y="150876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2  </a:t>
            </a:r>
            <a:pPr indent="0" marL="0">
              <a:buNone/>
            </a:pPr>
            <a:r>
              <a:rPr lang="en-US" sz="1100" dirty="0">
                <a:solidFill>
                  <a:srgbClr val="101828"/>
                </a:solidFill>
                <a:latin typeface="Inter" pitchFamily="34" charset="0"/>
                <a:ea typeface="Inter" pitchFamily="34" charset="-122"/>
                <a:cs typeface="Inter" pitchFamily="34" charset="-120"/>
              </a:rPr>
              <a:t>alone up to the permission's cap</a:t>
            </a:r>
            <a:endParaRPr lang="en-US" sz="1100" dirty="0"/>
          </a:p>
        </p:txBody>
      </p:sp>
      <p:sp>
        <p:nvSpPr>
          <p:cNvPr id="11" name="Shape 8"/>
          <p:cNvSpPr/>
          <p:nvPr/>
        </p:nvSpPr>
        <p:spPr>
          <a:xfrm>
            <a:off x="457200" y="2057400"/>
            <a:ext cx="2651760" cy="457200"/>
          </a:xfrm>
          <a:prstGeom prst="roundRect">
            <a:avLst>
              <a:gd name="adj" fmla="val 16000"/>
            </a:avLst>
          </a:prstGeom>
          <a:solidFill>
            <a:srgbClr val="EEF4FF"/>
          </a:solidFill>
          <a:ln w="12700">
            <a:solidFill>
              <a:srgbClr val="C7D7FE"/>
            </a:solidFill>
            <a:prstDash val="solid"/>
          </a:ln>
        </p:spPr>
      </p:sp>
      <p:sp>
        <p:nvSpPr>
          <p:cNvPr id="12" name="Text 9"/>
          <p:cNvSpPr/>
          <p:nvPr/>
        </p:nvSpPr>
        <p:spPr>
          <a:xfrm>
            <a:off x="566928" y="205740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1  </a:t>
            </a:r>
            <a:pPr indent="0" marL="0">
              <a:buNone/>
            </a:pPr>
            <a:r>
              <a:rPr lang="en-US" sz="1100" dirty="0">
                <a:solidFill>
                  <a:srgbClr val="101828"/>
                </a:solidFill>
                <a:latin typeface="Inter" pitchFamily="34" charset="0"/>
                <a:ea typeface="Inter" pitchFamily="34" charset="-122"/>
                <a:cs typeface="Inter" pitchFamily="34" charset="-120"/>
              </a:rPr>
              <a:t>alone up to 1 000 ₽ · the start</a:t>
            </a:r>
            <a:endParaRPr lang="en-US" sz="1100" dirty="0"/>
          </a:p>
        </p:txBody>
      </p:sp>
      <p:sp>
        <p:nvSpPr>
          <p:cNvPr id="13" name="Shape 10"/>
          <p:cNvSpPr/>
          <p:nvPr/>
        </p:nvSpPr>
        <p:spPr>
          <a:xfrm>
            <a:off x="457200" y="2606040"/>
            <a:ext cx="2651760" cy="457200"/>
          </a:xfrm>
          <a:prstGeom prst="roundRect">
            <a:avLst>
              <a:gd name="adj" fmla="val 16000"/>
            </a:avLst>
          </a:prstGeom>
          <a:solidFill>
            <a:srgbClr val="FFF6E5"/>
          </a:solidFill>
          <a:ln w="12700">
            <a:solidFill>
              <a:srgbClr val="FEDF89"/>
            </a:solidFill>
            <a:prstDash val="solid"/>
          </a:ln>
        </p:spPr>
      </p:sp>
      <p:sp>
        <p:nvSpPr>
          <p:cNvPr id="14" name="Text 11"/>
          <p:cNvSpPr/>
          <p:nvPr/>
        </p:nvSpPr>
        <p:spPr>
          <a:xfrm>
            <a:off x="566928" y="2606040"/>
            <a:ext cx="2514600" cy="457200"/>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Level 0  </a:t>
            </a:r>
            <a:pPr indent="0" marL="0">
              <a:buNone/>
            </a:pPr>
            <a:r>
              <a:rPr lang="en-US" sz="1100" dirty="0">
                <a:solidFill>
                  <a:srgbClr val="101828"/>
                </a:solidFill>
                <a:latin typeface="Inter" pitchFamily="34" charset="0"/>
                <a:ea typeface="Inter" pitchFamily="34" charset="-122"/>
                <a:cs typeface="Inter" pitchFamily="34" charset="-120"/>
              </a:rPr>
              <a:t>a card for everything</a:t>
            </a:r>
            <a:endParaRPr lang="en-US" sz="1100" dirty="0"/>
          </a:p>
        </p:txBody>
      </p:sp>
      <p:sp>
        <p:nvSpPr>
          <p:cNvPr id="15" name="Text 12"/>
          <p:cNvSpPr/>
          <p:nvPr/>
        </p:nvSpPr>
        <p:spPr>
          <a:xfrm>
            <a:off x="3246120" y="1508760"/>
            <a:ext cx="1325880" cy="640080"/>
          </a:xfrm>
          <a:prstGeom prst="rect">
            <a:avLst/>
          </a:prstGeom>
          <a:noFill/>
          <a:ln/>
        </p:spPr>
        <p:txBody>
          <a:bodyPr wrap="square" lIns="0" tIns="0" rIns="0" bIns="0" rtlCol="0" anchor="t"/>
          <a:lstStyle/>
          <a:p>
            <a:pPr indent="0" marL="0">
              <a:buNone/>
            </a:pPr>
            <a:r>
              <a:rPr lang="en-US" sz="1050" b="1" dirty="0">
                <a:solidFill>
                  <a:srgbClr val="067647"/>
                </a:solidFill>
                <a:latin typeface="Inter" pitchFamily="34" charset="0"/>
                <a:ea typeface="Inter" pitchFamily="34" charset="-122"/>
                <a:cs typeface="Inter" pitchFamily="34" charset="-120"/>
              </a:rPr>
              <a:t>Up </a:t>
            </a:r>
            <a:pPr indent="0" marL="0">
              <a:buNone/>
            </a:pPr>
            <a:r>
              <a:rPr lang="en-US" sz="1050" dirty="0">
                <a:solidFill>
                  <a:srgbClr val="101828"/>
                </a:solidFill>
                <a:latin typeface="Inter" pitchFamily="34" charset="0"/>
                <a:ea typeface="Inter" pitchFamily="34" charset="-122"/>
                <a:cs typeface="Inter" pitchFamily="34" charset="-120"/>
              </a:rPr>
              <a:t>after 5 verified results in a row</a:t>
            </a:r>
            <a:endParaRPr lang="en-US" sz="1050" dirty="0"/>
          </a:p>
        </p:txBody>
      </p:sp>
      <p:sp>
        <p:nvSpPr>
          <p:cNvPr id="16" name="Text 13"/>
          <p:cNvSpPr/>
          <p:nvPr/>
        </p:nvSpPr>
        <p:spPr>
          <a:xfrm>
            <a:off x="3246120" y="2240280"/>
            <a:ext cx="1325880" cy="731520"/>
          </a:xfrm>
          <a:prstGeom prst="rect">
            <a:avLst/>
          </a:prstGeom>
          <a:noFill/>
          <a:ln/>
        </p:spPr>
        <p:txBody>
          <a:bodyPr wrap="square" lIns="0" tIns="0" rIns="0" bIns="0" rtlCol="0" anchor="t"/>
          <a:lstStyle/>
          <a:p>
            <a:pPr indent="0" marL="0">
              <a:buNone/>
            </a:pPr>
            <a:r>
              <a:rPr lang="en-US" sz="1050" b="1" dirty="0">
                <a:solidFill>
                  <a:srgbClr val="B42318"/>
                </a:solidFill>
                <a:latin typeface="Inter" pitchFamily="34" charset="0"/>
                <a:ea typeface="Inter" pitchFamily="34" charset="-122"/>
                <a:cs typeface="Inter" pitchFamily="34" charset="-120"/>
              </a:rPr>
              <a:t>Down </a:t>
            </a:r>
            <a:pPr indent="0" marL="0">
              <a:buNone/>
            </a:pPr>
            <a:r>
              <a:rPr lang="en-US" sz="1050" dirty="0">
                <a:solidFill>
                  <a:srgbClr val="101828"/>
                </a:solidFill>
                <a:latin typeface="Inter" pitchFamily="34" charset="0"/>
                <a:ea typeface="Inter" pitchFamily="34" charset="-122"/>
                <a:cs typeface="Inter" pitchFamily="34" charset="-120"/>
              </a:rPr>
              <a:t>one level per mistake; to 0 on a scope violation</a:t>
            </a:r>
            <a:endParaRPr lang="en-US" sz="1050" dirty="0"/>
          </a:p>
        </p:txBody>
      </p:sp>
      <p:sp>
        <p:nvSpPr>
          <p:cNvPr id="17" name="Text 14"/>
          <p:cNvSpPr/>
          <p:nvPr/>
        </p:nvSpPr>
        <p:spPr>
          <a:xfrm>
            <a:off x="4663440" y="105156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Per agent: role, model, prompt hash</a:t>
            </a:r>
            <a:endParaRPr lang="en-US" sz="1700" dirty="0"/>
          </a:p>
        </p:txBody>
      </p:sp>
      <p:sp>
        <p:nvSpPr>
          <p:cNvPr id="18" name="Shape 15"/>
          <p:cNvSpPr/>
          <p:nvPr/>
        </p:nvSpPr>
        <p:spPr>
          <a:xfrm>
            <a:off x="4663440" y="1508760"/>
            <a:ext cx="1188720" cy="868680"/>
          </a:xfrm>
          <a:prstGeom prst="roundRect">
            <a:avLst>
              <a:gd name="adj" fmla="val 8421"/>
            </a:avLst>
          </a:prstGeom>
          <a:solidFill>
            <a:srgbClr val="FFFFFF"/>
          </a:solidFill>
          <a:ln w="12700">
            <a:solidFill>
              <a:srgbClr val="E4E7EC"/>
            </a:solidFill>
            <a:prstDash val="solid"/>
          </a:ln>
        </p:spPr>
      </p:sp>
      <p:sp>
        <p:nvSpPr>
          <p:cNvPr id="19" name="Text 16"/>
          <p:cNvSpPr/>
          <p:nvPr/>
        </p:nvSpPr>
        <p:spPr>
          <a:xfrm>
            <a:off x="46634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Active</a:t>
            </a:r>
            <a:endParaRPr lang="en-US" sz="1200" dirty="0"/>
          </a:p>
        </p:txBody>
      </p:sp>
      <p:sp>
        <p:nvSpPr>
          <p:cNvPr id="20" name="Text 17"/>
          <p:cNvSpPr/>
          <p:nvPr/>
        </p:nvSpPr>
        <p:spPr>
          <a:xfrm>
            <a:off x="47183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up to level 2</a:t>
            </a:r>
            <a:endParaRPr lang="en-US" sz="900" dirty="0"/>
          </a:p>
        </p:txBody>
      </p:sp>
      <p:sp>
        <p:nvSpPr>
          <p:cNvPr id="21" name="Text 18"/>
          <p:cNvSpPr/>
          <p:nvPr/>
        </p:nvSpPr>
        <p:spPr>
          <a:xfrm>
            <a:off x="58521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2" name="Shape 19"/>
          <p:cNvSpPr/>
          <p:nvPr/>
        </p:nvSpPr>
        <p:spPr>
          <a:xfrm>
            <a:off x="6035040" y="1508760"/>
            <a:ext cx="1188720" cy="868680"/>
          </a:xfrm>
          <a:prstGeom prst="roundRect">
            <a:avLst>
              <a:gd name="adj" fmla="val 8421"/>
            </a:avLst>
          </a:prstGeom>
          <a:solidFill>
            <a:srgbClr val="FEF3F2"/>
          </a:solidFill>
          <a:ln w="12700">
            <a:solidFill>
              <a:srgbClr val="FECDCA"/>
            </a:solidFill>
            <a:prstDash val="solid"/>
          </a:ln>
        </p:spPr>
      </p:sp>
      <p:sp>
        <p:nvSpPr>
          <p:cNvPr id="23" name="Text 20"/>
          <p:cNvSpPr/>
          <p:nvPr/>
        </p:nvSpPr>
        <p:spPr>
          <a:xfrm>
            <a:off x="60350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Quarantine</a:t>
            </a:r>
            <a:endParaRPr lang="en-US" sz="1200" dirty="0"/>
          </a:p>
        </p:txBody>
      </p:sp>
      <p:sp>
        <p:nvSpPr>
          <p:cNvPr id="24" name="Text 21"/>
          <p:cNvSpPr/>
          <p:nvPr/>
        </p:nvSpPr>
        <p:spPr>
          <a:xfrm>
            <a:off x="60899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24 h · level 0 · passports revoked</a:t>
            </a:r>
            <a:endParaRPr lang="en-US" sz="900" dirty="0"/>
          </a:p>
        </p:txBody>
      </p:sp>
      <p:sp>
        <p:nvSpPr>
          <p:cNvPr id="25" name="Text 22"/>
          <p:cNvSpPr/>
          <p:nvPr/>
        </p:nvSpPr>
        <p:spPr>
          <a:xfrm>
            <a:off x="7223760" y="1508760"/>
            <a:ext cx="182880" cy="868680"/>
          </a:xfrm>
          <a:prstGeom prst="rect">
            <a:avLst/>
          </a:prstGeom>
          <a:noFill/>
          <a:ln/>
        </p:spPr>
        <p:txBody>
          <a:bodyPr wrap="square" lIns="0" tIns="0" rIns="0" bIns="0" rtlCol="0" anchor="ctr"/>
          <a:lstStyle/>
          <a:p>
            <a:pPr algn="ctr" indent="0" marL="0">
              <a:buNone/>
            </a:pPr>
            <a:r>
              <a:rPr lang="en-US" sz="1800" dirty="0">
                <a:solidFill>
                  <a:srgbClr val="1D4ED8"/>
                </a:solidFill>
                <a:latin typeface="Inter" pitchFamily="34" charset="0"/>
                <a:ea typeface="Inter" pitchFamily="34" charset="-122"/>
                <a:cs typeface="Inter" pitchFamily="34" charset="-120"/>
              </a:rPr>
              <a:t>›</a:t>
            </a:r>
            <a:endParaRPr lang="en-US" sz="1800" dirty="0"/>
          </a:p>
        </p:txBody>
      </p:sp>
      <p:sp>
        <p:nvSpPr>
          <p:cNvPr id="26" name="Shape 23"/>
          <p:cNvSpPr/>
          <p:nvPr/>
        </p:nvSpPr>
        <p:spPr>
          <a:xfrm>
            <a:off x="7406640" y="1508760"/>
            <a:ext cx="1188720" cy="868680"/>
          </a:xfrm>
          <a:prstGeom prst="roundRect">
            <a:avLst>
              <a:gd name="adj" fmla="val 8421"/>
            </a:avLst>
          </a:prstGeom>
          <a:solidFill>
            <a:srgbClr val="FFF6E5"/>
          </a:solidFill>
          <a:ln w="12700">
            <a:solidFill>
              <a:srgbClr val="FEDF89"/>
            </a:solidFill>
            <a:prstDash val="solid"/>
          </a:ln>
        </p:spPr>
      </p:sp>
      <p:sp>
        <p:nvSpPr>
          <p:cNvPr id="27" name="Text 24"/>
          <p:cNvSpPr/>
          <p:nvPr/>
        </p:nvSpPr>
        <p:spPr>
          <a:xfrm>
            <a:off x="7406640" y="1554480"/>
            <a:ext cx="1188720" cy="320040"/>
          </a:xfrm>
          <a:prstGeom prst="rect">
            <a:avLst/>
          </a:prstGeom>
          <a:noFill/>
          <a:ln/>
        </p:spPr>
        <p:txBody>
          <a:bodyPr wrap="square" lIns="0" tIns="0" rIns="0" bIns="0" rtlCol="0" anchor="ctr"/>
          <a:lstStyle/>
          <a:p>
            <a:pPr algn="ctr" indent="0" marL="0">
              <a:buNone/>
            </a:pPr>
            <a:r>
              <a:rPr lang="en-US" sz="1200" b="1" dirty="0">
                <a:solidFill>
                  <a:srgbClr val="101828"/>
                </a:solidFill>
                <a:latin typeface="Inter" pitchFamily="34" charset="0"/>
                <a:ea typeface="Inter" pitchFamily="34" charset="-122"/>
                <a:cs typeface="Inter" pitchFamily="34" charset="-120"/>
              </a:rPr>
              <a:t>Probation</a:t>
            </a:r>
            <a:endParaRPr lang="en-US" sz="1200" dirty="0"/>
          </a:p>
        </p:txBody>
      </p:sp>
      <p:sp>
        <p:nvSpPr>
          <p:cNvPr id="28" name="Text 25"/>
          <p:cNvSpPr/>
          <p:nvPr/>
        </p:nvSpPr>
        <p:spPr>
          <a:xfrm>
            <a:off x="7461504" y="1874520"/>
            <a:ext cx="1078992" cy="457200"/>
          </a:xfrm>
          <a:prstGeom prst="rect">
            <a:avLst/>
          </a:prstGeom>
          <a:noFill/>
          <a:ln/>
        </p:spPr>
        <p:txBody>
          <a:bodyPr wrap="square" lIns="0" tIns="0" rIns="0" bIns="0" rtlCol="0" anchor="t"/>
          <a:lstStyle/>
          <a:p>
            <a:pPr algn="ctr" indent="0" marL="0">
              <a:buNone/>
            </a:pPr>
            <a:r>
              <a:rPr lang="en-US" sz="900" dirty="0">
                <a:solidFill>
                  <a:srgbClr val="667085"/>
                </a:solidFill>
                <a:latin typeface="Inter" pitchFamily="34" charset="0"/>
                <a:ea typeface="Inter" pitchFamily="34" charset="-122"/>
                <a:cs typeface="Inter" pitchFamily="34" charset="-120"/>
              </a:rPr>
              <a:t>at most level 1</a:t>
            </a:r>
            <a:endParaRPr lang="en-US" sz="900" dirty="0"/>
          </a:p>
        </p:txBody>
      </p:sp>
      <p:sp>
        <p:nvSpPr>
          <p:cNvPr id="29" name="Text 26"/>
          <p:cNvSpPr/>
          <p:nvPr/>
        </p:nvSpPr>
        <p:spPr>
          <a:xfrm>
            <a:off x="4663440" y="2468880"/>
            <a:ext cx="4023360" cy="594360"/>
          </a:xfrm>
          <a:prstGeom prst="rect">
            <a:avLst/>
          </a:prstGeom>
          <a:noFill/>
          <a:ln/>
        </p:spPr>
        <p:txBody>
          <a:bodyPr wrap="square" lIns="0" tIns="0" rIns="0" bIns="0" rtlCol="0" anchor="t"/>
          <a:lstStyle/>
          <a:p>
            <a:pPr indent="0" marL="0">
              <a:buNone/>
            </a:pPr>
            <a:r>
              <a:rPr lang="en-US" sz="1050" dirty="0">
                <a:solidFill>
                  <a:srgbClr val="101828"/>
                </a:solidFill>
                <a:latin typeface="Inter" pitchFamily="34" charset="0"/>
                <a:ea typeface="Inter" pitchFamily="34" charset="-122"/>
                <a:cs typeface="Inter" pitchFamily="34" charset="-120"/>
              </a:rPr>
              <a:t>A mistake is 1 strike, a scope violation 2, a payment the client undoes 1. Three strikes: quarantine. Five clean results end probation; a mistake on probation means quarantine again.</a:t>
            </a:r>
            <a:endParaRPr lang="en-US" sz="1050" dirty="0"/>
          </a:p>
        </p:txBody>
      </p:sp>
      <p:sp>
        <p:nvSpPr>
          <p:cNvPr id="30" name="Shape 27"/>
          <p:cNvSpPr/>
          <p:nvPr/>
        </p:nvSpPr>
        <p:spPr>
          <a:xfrm>
            <a:off x="457200" y="3337560"/>
            <a:ext cx="1920240" cy="1188720"/>
          </a:xfrm>
          <a:prstGeom prst="roundRect">
            <a:avLst>
              <a:gd name="adj" fmla="val 7692"/>
            </a:avLst>
          </a:prstGeom>
          <a:solidFill>
            <a:srgbClr val="F4F5F7"/>
          </a:solidFill>
          <a:ln w="12700">
            <a:solidFill>
              <a:srgbClr val="F4F5F7"/>
            </a:solidFill>
            <a:prstDash val="solid"/>
          </a:ln>
        </p:spPr>
      </p:sp>
      <p:sp>
        <p:nvSpPr>
          <p:cNvPr id="31" name="Text 28"/>
          <p:cNvSpPr/>
          <p:nvPr/>
        </p:nvSpPr>
        <p:spPr>
          <a:xfrm>
            <a:off x="59436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a:t>
            </a:r>
            <a:endParaRPr lang="en-US" sz="2600" dirty="0"/>
          </a:p>
        </p:txBody>
      </p:sp>
      <p:sp>
        <p:nvSpPr>
          <p:cNvPr id="32" name="Text 29"/>
          <p:cNvSpPr/>
          <p:nvPr/>
        </p:nvSpPr>
        <p:spPr>
          <a:xfrm>
            <a:off x="59436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promotion: subscriptions reach level 2</a:t>
            </a:r>
            <a:endParaRPr lang="en-US" sz="1050" dirty="0"/>
          </a:p>
        </p:txBody>
      </p:sp>
      <p:sp>
        <p:nvSpPr>
          <p:cNvPr id="33" name="Shape 30"/>
          <p:cNvSpPr/>
          <p:nvPr/>
        </p:nvSpPr>
        <p:spPr>
          <a:xfrm>
            <a:off x="2560320" y="3337560"/>
            <a:ext cx="1920240" cy="1188720"/>
          </a:xfrm>
          <a:prstGeom prst="roundRect">
            <a:avLst>
              <a:gd name="adj" fmla="val 7692"/>
            </a:avLst>
          </a:prstGeom>
          <a:solidFill>
            <a:srgbClr val="F4F5F7"/>
          </a:solidFill>
          <a:ln w="12700">
            <a:solidFill>
              <a:srgbClr val="F4F5F7"/>
            </a:solidFill>
            <a:prstDash val="solid"/>
          </a:ln>
        </p:spPr>
      </p:sp>
      <p:sp>
        <p:nvSpPr>
          <p:cNvPr id="34" name="Text 31"/>
          <p:cNvSpPr/>
          <p:nvPr/>
        </p:nvSpPr>
        <p:spPr>
          <a:xfrm>
            <a:off x="2697480" y="3429000"/>
            <a:ext cx="1645920" cy="548640"/>
          </a:xfrm>
          <a:prstGeom prst="rect">
            <a:avLst/>
          </a:prstGeom>
          <a:noFill/>
          <a:ln/>
        </p:spPr>
        <p:txBody>
          <a:bodyPr wrap="square" lIns="0" tIns="0" rIns="0" bIns="0" rtlCol="0" anchor="ctr"/>
          <a:lstStyle/>
          <a:p>
            <a:pPr indent="0" marL="0">
              <a:buNone/>
            </a:pPr>
            <a:r>
              <a:rPr lang="en-US" sz="2600" b="1" dirty="0">
                <a:solidFill>
                  <a:srgbClr val="B42318"/>
                </a:solidFill>
                <a:latin typeface="Inter" pitchFamily="34" charset="0"/>
                <a:ea typeface="Inter" pitchFamily="34" charset="-122"/>
                <a:cs typeface="Inter" pitchFamily="34" charset="-120"/>
              </a:rPr>
              <a:t>1</a:t>
            </a:r>
            <a:endParaRPr lang="en-US" sz="2600" dirty="0"/>
          </a:p>
        </p:txBody>
      </p:sp>
      <p:sp>
        <p:nvSpPr>
          <p:cNvPr id="35" name="Text 32"/>
          <p:cNvSpPr/>
          <p:nvPr/>
        </p:nvSpPr>
        <p:spPr>
          <a:xfrm>
            <a:off x="269748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demotion: a faulty planner, level 2 to 0</a:t>
            </a:r>
            <a:endParaRPr lang="en-US" sz="1050" dirty="0"/>
          </a:p>
        </p:txBody>
      </p:sp>
      <p:sp>
        <p:nvSpPr>
          <p:cNvPr id="36" name="Shape 33"/>
          <p:cNvSpPr/>
          <p:nvPr/>
        </p:nvSpPr>
        <p:spPr>
          <a:xfrm>
            <a:off x="4663440" y="3337560"/>
            <a:ext cx="1920240" cy="1188720"/>
          </a:xfrm>
          <a:prstGeom prst="roundRect">
            <a:avLst>
              <a:gd name="adj" fmla="val 7692"/>
            </a:avLst>
          </a:prstGeom>
          <a:solidFill>
            <a:srgbClr val="F4F5F7"/>
          </a:solidFill>
          <a:ln w="12700">
            <a:solidFill>
              <a:srgbClr val="F4F5F7"/>
            </a:solidFill>
            <a:prstDash val="solid"/>
          </a:ln>
        </p:spPr>
      </p:sp>
      <p:sp>
        <p:nvSpPr>
          <p:cNvPr id="37" name="Text 34"/>
          <p:cNvSpPr/>
          <p:nvPr/>
        </p:nvSpPr>
        <p:spPr>
          <a:xfrm>
            <a:off x="4800600" y="3429000"/>
            <a:ext cx="1645920" cy="548640"/>
          </a:xfrm>
          <a:prstGeom prst="rect">
            <a:avLst/>
          </a:prstGeom>
          <a:noFill/>
          <a:ln/>
        </p:spPr>
        <p:txBody>
          <a:bodyPr wrap="square" lIns="0" tIns="0" rIns="0" bIns="0" rtlCol="0" anchor="ctr"/>
          <a:lstStyle/>
          <a:p>
            <a:pPr indent="0" marL="0">
              <a:buNone/>
            </a:pPr>
            <a:r>
              <a:rPr lang="en-US" sz="2600" b="1" dirty="0">
                <a:solidFill>
                  <a:srgbClr val="B54708"/>
                </a:solidFill>
                <a:latin typeface="Inter" pitchFamily="34" charset="0"/>
                <a:ea typeface="Inter" pitchFamily="34" charset="-122"/>
                <a:cs typeface="Inter" pitchFamily="34" charset="-120"/>
              </a:rPr>
              <a:t>3 › 1</a:t>
            </a:r>
            <a:endParaRPr lang="en-US" sz="2600" dirty="0"/>
          </a:p>
        </p:txBody>
      </p:sp>
      <p:sp>
        <p:nvSpPr>
          <p:cNvPr id="38" name="Text 35"/>
          <p:cNvSpPr/>
          <p:nvPr/>
        </p:nvSpPr>
        <p:spPr>
          <a:xfrm>
            <a:off x="480060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strikes, then quarantine; 2 passports revoked</a:t>
            </a:r>
            <a:endParaRPr lang="en-US" sz="1050" dirty="0"/>
          </a:p>
        </p:txBody>
      </p:sp>
      <p:sp>
        <p:nvSpPr>
          <p:cNvPr id="39" name="Shape 36"/>
          <p:cNvSpPr/>
          <p:nvPr/>
        </p:nvSpPr>
        <p:spPr>
          <a:xfrm>
            <a:off x="6766560" y="3337560"/>
            <a:ext cx="1920240" cy="1188720"/>
          </a:xfrm>
          <a:prstGeom prst="roundRect">
            <a:avLst>
              <a:gd name="adj" fmla="val 7692"/>
            </a:avLst>
          </a:prstGeom>
          <a:solidFill>
            <a:srgbClr val="F4F5F7"/>
          </a:solidFill>
          <a:ln w="12700">
            <a:solidFill>
              <a:srgbClr val="F4F5F7"/>
            </a:solidFill>
            <a:prstDash val="solid"/>
          </a:ln>
        </p:spPr>
      </p:sp>
      <p:sp>
        <p:nvSpPr>
          <p:cNvPr id="40" name="Text 37"/>
          <p:cNvSpPr/>
          <p:nvPr/>
        </p:nvSpPr>
        <p:spPr>
          <a:xfrm>
            <a:off x="6903720" y="342900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0/2</a:t>
            </a:r>
            <a:endParaRPr lang="en-US" sz="2600" dirty="0"/>
          </a:p>
        </p:txBody>
      </p:sp>
      <p:sp>
        <p:nvSpPr>
          <p:cNvPr id="41" name="Text 38"/>
          <p:cNvSpPr/>
          <p:nvPr/>
        </p:nvSpPr>
        <p:spPr>
          <a:xfrm>
            <a:off x="6903720" y="399592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faulty agent actions executed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Budget and payee risk: measured, not claimed</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9 / 13</a:t>
            </a:r>
            <a:endParaRPr lang="en-US" sz="900" dirty="0"/>
          </a:p>
        </p:txBody>
      </p:sp>
      <p:sp>
        <p:nvSpPr>
          <p:cNvPr id="8" name="Text 5"/>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C8 budget</a:t>
            </a:r>
            <a:endParaRPr lang="en-US" sz="1700" dirty="0"/>
          </a:p>
        </p:txBody>
      </p:sp>
      <p:sp>
        <p:nvSpPr>
          <p:cNvPr id="9" name="Text 6"/>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C10 payee risk on the transfer graph</a:t>
            </a:r>
            <a:endParaRPr lang="en-US" sz="1700" dirty="0"/>
          </a:p>
        </p:txBody>
      </p:sp>
      <p:sp>
        <p:nvSpPr>
          <p:cNvPr id="10" name="Shape 7"/>
          <p:cNvSpPr/>
          <p:nvPr/>
        </p:nvSpPr>
        <p:spPr>
          <a:xfrm>
            <a:off x="457200" y="1554480"/>
            <a:ext cx="1920240" cy="1188720"/>
          </a:xfrm>
          <a:prstGeom prst="roundRect">
            <a:avLst>
              <a:gd name="adj" fmla="val 7692"/>
            </a:avLst>
          </a:prstGeom>
          <a:solidFill>
            <a:srgbClr val="F4F5F7"/>
          </a:solidFill>
          <a:ln w="12700">
            <a:solidFill>
              <a:srgbClr val="F4F5F7"/>
            </a:solidFill>
            <a:prstDash val="solid"/>
          </a:ln>
        </p:spPr>
      </p:sp>
      <p:sp>
        <p:nvSpPr>
          <p:cNvPr id="11" name="Text 8"/>
          <p:cNvSpPr/>
          <p:nvPr/>
        </p:nvSpPr>
        <p:spPr>
          <a:xfrm>
            <a:off x="59436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2" name="Text 9"/>
          <p:cNvSpPr/>
          <p:nvPr/>
        </p:nvSpPr>
        <p:spPr>
          <a:xfrm>
            <a:off x="59436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planted leaks found, 847 ₽ a month</a:t>
            </a:r>
            <a:endParaRPr lang="en-US" sz="1050" dirty="0"/>
          </a:p>
        </p:txBody>
      </p:sp>
      <p:sp>
        <p:nvSpPr>
          <p:cNvPr id="13" name="Shape 10"/>
          <p:cNvSpPr/>
          <p:nvPr/>
        </p:nvSpPr>
        <p:spPr>
          <a:xfrm>
            <a:off x="2560320" y="1554480"/>
            <a:ext cx="1920240" cy="1188720"/>
          </a:xfrm>
          <a:prstGeom prst="roundRect">
            <a:avLst>
              <a:gd name="adj" fmla="val 7692"/>
            </a:avLst>
          </a:prstGeom>
          <a:solidFill>
            <a:srgbClr val="F4F5F7"/>
          </a:solidFill>
          <a:ln w="12700">
            <a:solidFill>
              <a:srgbClr val="F4F5F7"/>
            </a:solidFill>
            <a:prstDash val="solid"/>
          </a:ln>
        </p:spPr>
      </p:sp>
      <p:sp>
        <p:nvSpPr>
          <p:cNvPr id="14" name="Text 11"/>
          <p:cNvSpPr/>
          <p:nvPr/>
        </p:nvSpPr>
        <p:spPr>
          <a:xfrm>
            <a:off x="269748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27.3%</a:t>
            </a:r>
            <a:endParaRPr lang="en-US" sz="2600" dirty="0"/>
          </a:p>
        </p:txBody>
      </p:sp>
      <p:sp>
        <p:nvSpPr>
          <p:cNvPr id="15" name="Text 12"/>
          <p:cNvSpPr/>
          <p:nvPr/>
        </p:nvSpPr>
        <p:spPr>
          <a:xfrm>
            <a:off x="269748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spending forecast error (WAPE), held-out months</a:t>
            </a:r>
            <a:endParaRPr lang="en-US" sz="1050" dirty="0"/>
          </a:p>
        </p:txBody>
      </p:sp>
      <p:sp>
        <p:nvSpPr>
          <p:cNvPr id="16" name="Shape 13"/>
          <p:cNvSpPr/>
          <p:nvPr/>
        </p:nvSpPr>
        <p:spPr>
          <a:xfrm>
            <a:off x="457200" y="2926080"/>
            <a:ext cx="1920240" cy="1188720"/>
          </a:xfrm>
          <a:prstGeom prst="roundRect">
            <a:avLst>
              <a:gd name="adj" fmla="val 7692"/>
            </a:avLst>
          </a:prstGeom>
          <a:solidFill>
            <a:srgbClr val="F4F5F7"/>
          </a:solidFill>
          <a:ln w="12700">
            <a:solidFill>
              <a:srgbClr val="F4F5F7"/>
            </a:solidFill>
            <a:prstDash val="solid"/>
          </a:ln>
        </p:spPr>
      </p:sp>
      <p:sp>
        <p:nvSpPr>
          <p:cNvPr id="17" name="Text 14"/>
          <p:cNvSpPr/>
          <p:nvPr/>
        </p:nvSpPr>
        <p:spPr>
          <a:xfrm>
            <a:off x="59436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18" name="Text 15"/>
          <p:cNvSpPr/>
          <p:nvPr/>
        </p:nvSpPr>
        <p:spPr>
          <a:xfrm>
            <a:off x="59436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cash gap caught in time, 0 false alarms in 18 probes</a:t>
            </a:r>
            <a:endParaRPr lang="en-US" sz="1050" dirty="0"/>
          </a:p>
        </p:txBody>
      </p:sp>
      <p:sp>
        <p:nvSpPr>
          <p:cNvPr id="19" name="Shape 16"/>
          <p:cNvSpPr/>
          <p:nvPr/>
        </p:nvSpPr>
        <p:spPr>
          <a:xfrm>
            <a:off x="2560320" y="2926080"/>
            <a:ext cx="1920240" cy="1188720"/>
          </a:xfrm>
          <a:prstGeom prst="roundRect">
            <a:avLst>
              <a:gd name="adj" fmla="val 7692"/>
            </a:avLst>
          </a:prstGeom>
          <a:solidFill>
            <a:srgbClr val="F4F5F7"/>
          </a:solidFill>
          <a:ln w="12700">
            <a:solidFill>
              <a:srgbClr val="F4F5F7"/>
            </a:solidFill>
            <a:prstDash val="solid"/>
          </a:ln>
        </p:spPr>
      </p:sp>
      <p:sp>
        <p:nvSpPr>
          <p:cNvPr id="20" name="Text 17"/>
          <p:cNvSpPr/>
          <p:nvPr/>
        </p:nvSpPr>
        <p:spPr>
          <a:xfrm>
            <a:off x="269748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1/1</a:t>
            </a:r>
            <a:endParaRPr lang="en-US" sz="2600" dirty="0"/>
          </a:p>
        </p:txBody>
      </p:sp>
      <p:sp>
        <p:nvSpPr>
          <p:cNvPr id="21" name="Text 18"/>
          <p:cNvSpPr/>
          <p:nvPr/>
        </p:nvSpPr>
        <p:spPr>
          <a:xfrm>
            <a:off x="269748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double charge on the same card found</a:t>
            </a:r>
            <a:endParaRPr lang="en-US" sz="1050" dirty="0"/>
          </a:p>
        </p:txBody>
      </p:sp>
      <p:sp>
        <p:nvSpPr>
          <p:cNvPr id="22" name="Shape 19"/>
          <p:cNvSpPr/>
          <p:nvPr/>
        </p:nvSpPr>
        <p:spPr>
          <a:xfrm>
            <a:off x="4663440" y="1554480"/>
            <a:ext cx="1920240" cy="1188720"/>
          </a:xfrm>
          <a:prstGeom prst="roundRect">
            <a:avLst>
              <a:gd name="adj" fmla="val 7692"/>
            </a:avLst>
          </a:prstGeom>
          <a:solidFill>
            <a:srgbClr val="F4F5F7"/>
          </a:solidFill>
          <a:ln w="12700">
            <a:solidFill>
              <a:srgbClr val="F4F5F7"/>
            </a:solidFill>
            <a:prstDash val="solid"/>
          </a:ln>
        </p:spPr>
      </p:sp>
      <p:sp>
        <p:nvSpPr>
          <p:cNvPr id="23" name="Text 20"/>
          <p:cNvSpPr/>
          <p:nvPr/>
        </p:nvSpPr>
        <p:spPr>
          <a:xfrm>
            <a:off x="480060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1.00</a:t>
            </a:r>
            <a:endParaRPr lang="en-US" sz="2600" dirty="0"/>
          </a:p>
        </p:txBody>
      </p:sp>
      <p:sp>
        <p:nvSpPr>
          <p:cNvPr id="24" name="Text 21"/>
          <p:cNvSpPr/>
          <p:nvPr/>
        </p:nvSpPr>
        <p:spPr>
          <a:xfrm>
            <a:off x="480060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ROC-AUC on held-out graphs</a:t>
            </a:r>
            <a:endParaRPr lang="en-US" sz="1050" dirty="0"/>
          </a:p>
        </p:txBody>
      </p:sp>
      <p:sp>
        <p:nvSpPr>
          <p:cNvPr id="25" name="Shape 22"/>
          <p:cNvSpPr/>
          <p:nvPr/>
        </p:nvSpPr>
        <p:spPr>
          <a:xfrm>
            <a:off x="6766560" y="1554480"/>
            <a:ext cx="1920240" cy="1188720"/>
          </a:xfrm>
          <a:prstGeom prst="roundRect">
            <a:avLst>
              <a:gd name="adj" fmla="val 7692"/>
            </a:avLst>
          </a:prstGeom>
          <a:solidFill>
            <a:srgbClr val="F4F5F7"/>
          </a:solidFill>
          <a:ln w="12700">
            <a:solidFill>
              <a:srgbClr val="F4F5F7"/>
            </a:solidFill>
            <a:prstDash val="solid"/>
          </a:ln>
        </p:spPr>
      </p:sp>
      <p:sp>
        <p:nvSpPr>
          <p:cNvPr id="26" name="Text 23"/>
          <p:cNvSpPr/>
          <p:nvPr/>
        </p:nvSpPr>
        <p:spPr>
          <a:xfrm>
            <a:off x="6903720" y="16459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0.993</a:t>
            </a:r>
            <a:endParaRPr lang="en-US" sz="2600" dirty="0"/>
          </a:p>
        </p:txBody>
      </p:sp>
      <p:sp>
        <p:nvSpPr>
          <p:cNvPr id="27" name="Text 24"/>
          <p:cNvSpPr/>
          <p:nvPr/>
        </p:nvSpPr>
        <p:spPr>
          <a:xfrm>
            <a:off x="6903720" y="22128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precision at threshold 0.7</a:t>
            </a:r>
            <a:endParaRPr lang="en-US" sz="1050" dirty="0"/>
          </a:p>
        </p:txBody>
      </p:sp>
      <p:sp>
        <p:nvSpPr>
          <p:cNvPr id="28" name="Shape 25"/>
          <p:cNvSpPr/>
          <p:nvPr/>
        </p:nvSpPr>
        <p:spPr>
          <a:xfrm>
            <a:off x="4663440" y="2926080"/>
            <a:ext cx="1920240" cy="1188720"/>
          </a:xfrm>
          <a:prstGeom prst="roundRect">
            <a:avLst>
              <a:gd name="adj" fmla="val 7692"/>
            </a:avLst>
          </a:prstGeom>
          <a:solidFill>
            <a:srgbClr val="F4F5F7"/>
          </a:solidFill>
          <a:ln w="12700">
            <a:solidFill>
              <a:srgbClr val="F4F5F7"/>
            </a:solidFill>
            <a:prstDash val="solid"/>
          </a:ln>
        </p:spPr>
      </p:sp>
      <p:sp>
        <p:nvSpPr>
          <p:cNvPr id="29" name="Text 26"/>
          <p:cNvSpPr/>
          <p:nvPr/>
        </p:nvSpPr>
        <p:spPr>
          <a:xfrm>
            <a:off x="480060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0.944</a:t>
            </a:r>
            <a:endParaRPr lang="en-US" sz="2600" dirty="0"/>
          </a:p>
        </p:txBody>
      </p:sp>
      <p:sp>
        <p:nvSpPr>
          <p:cNvPr id="30" name="Text 27"/>
          <p:cNvSpPr/>
          <p:nvPr/>
        </p:nvSpPr>
        <p:spPr>
          <a:xfrm>
            <a:off x="480060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recall over mule schemes</a:t>
            </a:r>
            <a:endParaRPr lang="en-US" sz="1050" dirty="0"/>
          </a:p>
        </p:txBody>
      </p:sp>
      <p:sp>
        <p:nvSpPr>
          <p:cNvPr id="31" name="Shape 28"/>
          <p:cNvSpPr/>
          <p:nvPr/>
        </p:nvSpPr>
        <p:spPr>
          <a:xfrm>
            <a:off x="6766560" y="2926080"/>
            <a:ext cx="1920240" cy="1188720"/>
          </a:xfrm>
          <a:prstGeom prst="roundRect">
            <a:avLst>
              <a:gd name="adj" fmla="val 7692"/>
            </a:avLst>
          </a:prstGeom>
          <a:solidFill>
            <a:srgbClr val="F4F5F7"/>
          </a:solidFill>
          <a:ln w="12700">
            <a:solidFill>
              <a:srgbClr val="F4F5F7"/>
            </a:solidFill>
            <a:prstDash val="solid"/>
          </a:ln>
        </p:spPr>
      </p:sp>
      <p:sp>
        <p:nvSpPr>
          <p:cNvPr id="32" name="Text 29"/>
          <p:cNvSpPr/>
          <p:nvPr/>
        </p:nvSpPr>
        <p:spPr>
          <a:xfrm>
            <a:off x="6903720" y="301752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a:t>
            </a:r>
            <a:endParaRPr lang="en-US" sz="2600" dirty="0"/>
          </a:p>
        </p:txBody>
      </p:sp>
      <p:sp>
        <p:nvSpPr>
          <p:cNvPr id="33" name="Text 30"/>
          <p:cNvSpPr/>
          <p:nvPr/>
        </p:nvSpPr>
        <p:spPr>
          <a:xfrm>
            <a:off x="6903720" y="358444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false alarms on employers, merchants, landlords</a:t>
            </a:r>
            <a:endParaRPr lang="en-US" sz="1050" dirty="0"/>
          </a:p>
        </p:txBody>
      </p:sp>
      <p:sp>
        <p:nvSpPr>
          <p:cNvPr id="34" name="Text 31"/>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dirty="0">
                <a:solidFill>
                  <a:srgbClr val="667085"/>
                </a:solidFill>
                <a:latin typeface="Inter" pitchFamily="34" charset="0"/>
                <a:ea typeface="Inter" pitchFamily="34" charset="-122"/>
                <a:cs typeface="Inter" pitchFamily="34" charset="-120"/>
              </a:rPr>
              <a:t>Synthetic graphs from our generator; real data will score lower. The model can only add a reason to ask.</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Red-team: what an attacker gets</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10 / 13</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39/39</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static attacks stopped</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5/5</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memory-planting attacks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0/360</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adaptive attacker's tries outside the mandate</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20/21</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earlier prototype's suite, 1 bounded by the limit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01828"/>
                </a:solidFill>
                <a:latin typeface="Inter" pitchFamily="34" charset="0"/>
                <a:ea typeface="Inter" pitchFamily="34" charset="-122"/>
                <a:cs typeface="Inter" pitchFamily="34" charset="-120"/>
              </a:rPr>
              <a:t>Without the kernel</a:t>
            </a:r>
            <a:endParaRPr lang="en-US" sz="1600" dirty="0"/>
          </a:p>
        </p:txBody>
      </p:sp>
      <p:sp>
        <p:nvSpPr>
          <p:cNvPr id="21" name="Text 18"/>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42318"/>
                </a:solidFill>
                <a:latin typeface="Inter" pitchFamily="34" charset="0"/>
                <a:ea typeface="Inter" pitchFamily="34" charset="-122"/>
                <a:cs typeface="Inter" pitchFamily="34" charset="-120"/>
              </a:rPr>
              <a:t>39/39 succeeded · </a:t>
            </a:r>
            <a:pPr indent="0" marL="0">
              <a:buNone/>
            </a:pPr>
            <a:r>
              <a:rPr lang="en-US" sz="1800" b="1" dirty="0">
                <a:solidFill>
                  <a:srgbClr val="B42318"/>
                </a:solidFill>
                <a:latin typeface="Inter" pitchFamily="34" charset="0"/>
                <a:ea typeface="Inter" pitchFamily="34" charset="-122"/>
                <a:cs typeface="Inter" pitchFamily="34" charset="-120"/>
              </a:rPr>
              <a:t>532 038.76 ₽ lost</a:t>
            </a:r>
            <a:endParaRPr lang="en-US" sz="1800" dirty="0"/>
          </a:p>
        </p:txBody>
      </p:sp>
      <p:sp>
        <p:nvSpPr>
          <p:cNvPr id="22" name="Text 19"/>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67085"/>
                </a:solidFill>
                <a:latin typeface="Inter" pitchFamily="34" charset="0"/>
                <a:ea typeface="Inter" pitchFamily="34" charset="-122"/>
                <a:cs typeface="Inter" pitchFamily="34" charset="-120"/>
              </a:rPr>
              <a:t>Known risks are listed openly in the security report (K1 to K14): a compromised client device, a colluding analyst, synthetic training data, no SD-JWT yet.</a:t>
            </a:r>
            <a:endParaRPr lang="en-US" sz="1200" dirty="0"/>
          </a:p>
        </p:txBody>
      </p:sp>
      <p:graphicFrame>
        <p:nvGraphicFramePr>
          <p:cNvPr id="23"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Compliance: 智能体支付应用自律公约 · VI / AP2</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11 / 13</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公约 requirement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Three stages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Stages 1 and 2 implemented, stage 3 not offered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Who provides payment is responsible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Bank module; only the bank's executor moves money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Know your agent</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Agent passport checked at every step, in the journal</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Verify intent, clear authority</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Kernel-rendered card, device signature, critic</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Withdraw authorisation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 press, child grants revoked too</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Immutable records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Signed hash chain, append-only, anchored on chain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Human fallback, emergency stop</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Analyst hold, kill switch, 24-hour reversible hold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Elderly and minors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Elevated protection, trusted person informed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No inducement to spend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No credit or upsell; offers in model text replaced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Inter" pitchFamily="34" charset="0"/>
                          <a:ea typeface="Inter" pitchFamily="34" charset="-122"/>
                          <a:cs typeface="Inter" pitchFamily="34" charset="-120"/>
                        </a:rPr>
                        <a:t>VI / AP2</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indent="0" marL="0">
                        <a:buNone/>
                      </a:pPr>
                      <a:r>
                        <a:rPr lang="en-US" sz="1000" b="1" dirty="0">
                          <a:solidFill>
                            <a:srgbClr val="FFFFFF"/>
                          </a:solidFill>
                          <a:latin typeface="Inter" pitchFamily="34" charset="0"/>
                          <a:ea typeface="Inter" pitchFamily="34" charset="-122"/>
                          <a:cs typeface="Inter" pitchFamily="34" charset="-120"/>
                        </a:rPr>
                        <a:t>Guardian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Intent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Standing permission with limits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Cart / payment mandate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One-time mandate per card</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Constraints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payees, amount range, budget, recurrence, + origins, money source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Delegation</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Child grants, rights only narrow</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1828"/>
                          </a:solidFill>
                          <a:latin typeface="Inter" pitchFamily="34" charset="0"/>
                          <a:ea typeface="Inter" pitchFamily="34" charset="-122"/>
                          <a:cs typeface="Inter" pitchFamily="34" charset="-120"/>
                        </a:rPr>
                        <a:t>Signatures</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indent="0" marL="0">
                        <a:buNone/>
                      </a:pPr>
                      <a:r>
                        <a:rPr lang="en-US" sz="1000" dirty="0">
                          <a:solidFill>
                            <a:srgbClr val="101828"/>
                          </a:solidFill>
                          <a:latin typeface="Inter" pitchFamily="34" charset="0"/>
                          <a:ea typeface="Inter" pitchFamily="34" charset="-122"/>
                          <a:cs typeface="Inter" pitchFamily="34" charset="-120"/>
                        </a:rPr>
                        <a:t>Device key + kernel countersignature</a:t>
                      </a:r>
                      <a:endParaRPr lang="en-US" sz="1000" dirty="0">
                        <a:latin typeface="Inter" charset="0"/>
                        <a:ea typeface="Inter" charset="0"/>
                        <a:cs typeface="Inter" charset="0"/>
                      </a:endParaRPr>
                    </a:p>
                  </a:txBody>
                  <a:tcPr marL="45720" marR="45720" marT="45720" marB="45720">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Cost: most of the work needs no large model</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12 / 13</a:t>
            </a:r>
            <a:endParaRPr lang="en-US" sz="900" dirty="0"/>
          </a:p>
        </p:txBody>
      </p:sp>
      <p:graphicFrame>
        <p:nvGraphicFramePr>
          <p:cNvPr id="8"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5760720" y="1097280"/>
            <a:ext cx="2926080" cy="1188720"/>
          </a:xfrm>
          <a:prstGeom prst="roundRect">
            <a:avLst>
              <a:gd name="adj" fmla="val 7692"/>
            </a:avLst>
          </a:prstGeom>
          <a:solidFill>
            <a:srgbClr val="F4F5F7"/>
          </a:solidFill>
          <a:ln w="12700">
            <a:solidFill>
              <a:srgbClr val="F4F5F7"/>
            </a:solidFill>
            <a:prstDash val="solid"/>
          </a:ln>
        </p:spPr>
      </p:sp>
      <p:sp>
        <p:nvSpPr>
          <p:cNvPr id="10" name="Text 6"/>
          <p:cNvSpPr/>
          <p:nvPr/>
        </p:nvSpPr>
        <p:spPr>
          <a:xfrm>
            <a:off x="5897880" y="1188720"/>
            <a:ext cx="2651760" cy="548640"/>
          </a:xfrm>
          <a:prstGeom prst="rect">
            <a:avLst/>
          </a:prstGeom>
          <a:noFill/>
          <a:ln/>
        </p:spPr>
        <p:txBody>
          <a:bodyPr wrap="square" lIns="0" tIns="0" rIns="0" bIns="0" rtlCol="0" anchor="ctr"/>
          <a:lstStyle/>
          <a:p>
            <a:pPr indent="0" marL="0">
              <a:buNone/>
            </a:pPr>
            <a:r>
              <a:rPr lang="en-US" sz="2000" b="1" dirty="0">
                <a:solidFill>
                  <a:srgbClr val="101828"/>
                </a:solidFill>
                <a:latin typeface="Inter" pitchFamily="34" charset="0"/>
                <a:ea typeface="Inter" pitchFamily="34" charset="-122"/>
                <a:cs typeface="Inter" pitchFamily="34" charset="-120"/>
              </a:rPr>
              <a:t>0.73 → 0.27 ₽</a:t>
            </a:r>
            <a:endParaRPr lang="en-US" sz="2000" dirty="0"/>
          </a:p>
        </p:txBody>
      </p:sp>
      <p:sp>
        <p:nvSpPr>
          <p:cNvPr id="11" name="Text 7"/>
          <p:cNvSpPr/>
          <p:nvPr/>
        </p:nvSpPr>
        <p:spPr>
          <a:xfrm>
            <a:off x="5897880" y="175564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one client's month, 63% less in the second</a:t>
            </a:r>
            <a:endParaRPr lang="en-US" sz="1050" dirty="0"/>
          </a:p>
        </p:txBody>
      </p:sp>
      <p:sp>
        <p:nvSpPr>
          <p:cNvPr id="12" name="Shape 8"/>
          <p:cNvSpPr/>
          <p:nvPr/>
        </p:nvSpPr>
        <p:spPr>
          <a:xfrm>
            <a:off x="5760720" y="2423160"/>
            <a:ext cx="2926080" cy="1188720"/>
          </a:xfrm>
          <a:prstGeom prst="roundRect">
            <a:avLst>
              <a:gd name="adj" fmla="val 7692"/>
            </a:avLst>
          </a:prstGeom>
          <a:solidFill>
            <a:srgbClr val="F4F5F7"/>
          </a:solidFill>
          <a:ln w="12700">
            <a:solidFill>
              <a:srgbClr val="F4F5F7"/>
            </a:solidFill>
            <a:prstDash val="solid"/>
          </a:ln>
        </p:spPr>
      </p:sp>
      <p:sp>
        <p:nvSpPr>
          <p:cNvPr id="13" name="Text 9"/>
          <p:cNvSpPr/>
          <p:nvPr/>
        </p:nvSpPr>
        <p:spPr>
          <a:xfrm>
            <a:off x="5897880" y="251460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97.1%</a:t>
            </a:r>
            <a:endParaRPr lang="en-US" sz="2600" dirty="0"/>
          </a:p>
        </p:txBody>
      </p:sp>
      <p:sp>
        <p:nvSpPr>
          <p:cNvPr id="14" name="Text 10"/>
          <p:cNvSpPr/>
          <p:nvPr/>
        </p:nvSpPr>
        <p:spPr>
          <a:xfrm>
            <a:off x="5897880" y="308152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of work on levels 0 and 1 (rules, templates, small model)</a:t>
            </a:r>
            <a:endParaRPr lang="en-US" sz="1050" dirty="0"/>
          </a:p>
        </p:txBody>
      </p:sp>
      <p:sp>
        <p:nvSpPr>
          <p:cNvPr id="15" name="Shape 11"/>
          <p:cNvSpPr/>
          <p:nvPr/>
        </p:nvSpPr>
        <p:spPr>
          <a:xfrm>
            <a:off x="5760720" y="3749040"/>
            <a:ext cx="2926080" cy="1188720"/>
          </a:xfrm>
          <a:prstGeom prst="roundRect">
            <a:avLst>
              <a:gd name="adj" fmla="val 7692"/>
            </a:avLst>
          </a:prstGeom>
          <a:solidFill>
            <a:srgbClr val="F4F5F7"/>
          </a:solidFill>
          <a:ln w="12700">
            <a:solidFill>
              <a:srgbClr val="F4F5F7"/>
            </a:solidFill>
            <a:prstDash val="solid"/>
          </a:ln>
        </p:spPr>
      </p:sp>
      <p:sp>
        <p:nvSpPr>
          <p:cNvPr id="16" name="Text 12"/>
          <p:cNvSpPr/>
          <p:nvPr/>
        </p:nvSpPr>
        <p:spPr>
          <a:xfrm>
            <a:off x="5897880" y="3840480"/>
            <a:ext cx="265176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 270 000 ₽</a:t>
            </a:r>
            <a:endParaRPr lang="en-US" sz="2600" dirty="0"/>
          </a:p>
        </p:txBody>
      </p:sp>
      <p:sp>
        <p:nvSpPr>
          <p:cNvPr id="17" name="Text 13"/>
          <p:cNvSpPr/>
          <p:nvPr/>
        </p:nvSpPr>
        <p:spPr>
          <a:xfrm>
            <a:off x="5897880" y="4407408"/>
            <a:ext cx="265176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 month for 1 million clients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229600" cy="548640"/>
          </a:xfrm>
          <a:prstGeom prst="rect">
            <a:avLst/>
          </a:prstGeom>
          <a:noFill/>
          <a:ln/>
        </p:spPr>
        <p:txBody>
          <a:bodyPr wrap="square" lIns="0" tIns="0" rIns="0" bIns="0" rtlCol="0" anchor="ctr"/>
          <a:lstStyle/>
          <a:p>
            <a:pPr indent="0" marL="0">
              <a:buNone/>
            </a:pPr>
            <a:r>
              <a:rPr lang="en-US" sz="2500" b="1" dirty="0">
                <a:solidFill>
                  <a:srgbClr val="101828"/>
                </a:solidFill>
                <a:latin typeface="Inter" pitchFamily="34" charset="0"/>
                <a:ea typeface="Inter" pitchFamily="34" charset="-122"/>
                <a:cs typeface="Inter" pitchFamily="34" charset="-120"/>
              </a:rPr>
              <a:t>Results and what comes next</a:t>
            </a:r>
            <a:endParaRPr lang="en-US" sz="2500" dirty="0"/>
          </a:p>
        </p:txBody>
      </p:sp>
      <p:sp>
        <p:nvSpPr>
          <p:cNvPr id="3" name="Shape 1"/>
          <p:cNvSpPr/>
          <p:nvPr/>
        </p:nvSpPr>
        <p:spPr>
          <a:xfrm>
            <a:off x="457200" y="4754880"/>
            <a:ext cx="210312" cy="210312"/>
          </a:xfrm>
          <a:prstGeom prst="roundRect">
            <a:avLst>
              <a:gd name="adj" fmla="val 22000"/>
            </a:avLst>
          </a:prstGeom>
          <a:solidFill>
            <a:srgbClr val="C2361F"/>
          </a:solidFill>
          <a:ln w="12700">
            <a:solidFill>
              <a:srgbClr val="C2361F"/>
            </a:solidFill>
            <a:prstDash val="solid"/>
          </a:ln>
        </p:spPr>
      </p:sp>
      <p:sp>
        <p:nvSpPr>
          <p:cNvPr id="4" name="Text 2"/>
          <p:cNvSpPr/>
          <p:nvPr/>
        </p:nvSpPr>
        <p:spPr>
          <a:xfrm>
            <a:off x="457200" y="4754880"/>
            <a:ext cx="210312" cy="210312"/>
          </a:xfrm>
          <a:prstGeom prst="rect">
            <a:avLst/>
          </a:prstGeom>
          <a:noFill/>
          <a:ln/>
        </p:spPr>
        <p:txBody>
          <a:bodyPr wrap="square" lIns="0" tIns="0" rIns="0" bIns="0" rtlCol="0" anchor="ctr"/>
          <a:lstStyle/>
          <a:p>
            <a:pPr algn="ctr" indent="0" marL="0">
              <a:buNone/>
            </a:pPr>
            <a:r>
              <a:rPr lang="en-US" sz="920" dirty="0">
                <a:solidFill>
                  <a:srgbClr val="FFFFFF"/>
                </a:solidFill>
                <a:latin typeface="Noto Sans CJK SC" pitchFamily="34" charset="0"/>
                <a:ea typeface="Noto Sans CJK SC" pitchFamily="34" charset="-122"/>
                <a:cs typeface="Noto Sans CJK SC" pitchFamily="34" charset="-120"/>
              </a:rPr>
              <a:t>守</a:t>
            </a:r>
            <a:endParaRPr lang="en-US" sz="920" dirty="0"/>
          </a:p>
        </p:txBody>
      </p:sp>
      <p:sp>
        <p:nvSpPr>
          <p:cNvPr id="5" name="Text 3"/>
          <p:cNvSpPr/>
          <p:nvPr/>
        </p:nvSpPr>
        <p:spPr>
          <a:xfrm>
            <a:off x="731520" y="4754880"/>
            <a:ext cx="1828800" cy="210312"/>
          </a:xfrm>
          <a:prstGeom prst="rect">
            <a:avLst/>
          </a:prstGeom>
          <a:noFill/>
          <a:ln/>
        </p:spPr>
        <p:txBody>
          <a:bodyPr wrap="square" lIns="0" tIns="0" rIns="0" bIns="0" rtlCol="0" anchor="ctr"/>
          <a:lstStyle/>
          <a:p>
            <a:pPr indent="0" marL="0">
              <a:buNone/>
            </a:pPr>
            <a:r>
              <a:rPr lang="en-US" sz="900" b="1" dirty="0">
                <a:solidFill>
                  <a:srgbClr val="101828"/>
                </a:solidFill>
                <a:latin typeface="Inter" pitchFamily="34" charset="0"/>
                <a:ea typeface="Inter" pitchFamily="34" charset="-122"/>
                <a:cs typeface="Inter" pitchFamily="34" charset="-120"/>
              </a:rPr>
              <a:t>Guardian</a:t>
            </a:r>
            <a:endParaRPr lang="en-US" sz="900" dirty="0"/>
          </a:p>
        </p:txBody>
      </p:sp>
      <p:sp>
        <p:nvSpPr>
          <p:cNvPr id="6" name="Text 4"/>
          <p:cNvSpPr/>
          <p:nvPr/>
        </p:nvSpPr>
        <p:spPr>
          <a:xfrm>
            <a:off x="6858000" y="4754880"/>
            <a:ext cx="1828800" cy="210312"/>
          </a:xfrm>
          <a:prstGeom prst="rect">
            <a:avLst/>
          </a:prstGeom>
          <a:noFill/>
          <a:ln/>
        </p:spPr>
        <p:txBody>
          <a:bodyPr wrap="square" lIns="0" tIns="0" rIns="0" bIns="0" rtlCol="0" anchor="ctr"/>
          <a:lstStyle/>
          <a:p>
            <a:pPr algn="r" indent="0" marL="0">
              <a:buNone/>
            </a:pPr>
            <a:r>
              <a:rPr lang="en-US" sz="900" dirty="0">
                <a:solidFill>
                  <a:srgbClr val="667085"/>
                </a:solidFill>
                <a:latin typeface="Inter" pitchFamily="34" charset="0"/>
                <a:ea typeface="Inter" pitchFamily="34" charset="-122"/>
                <a:cs typeface="Inter" pitchFamily="34" charset="-120"/>
              </a:rPr>
              <a:t>13 / 13</a:t>
            </a:r>
            <a:endParaRPr lang="en-US" sz="900" dirty="0"/>
          </a:p>
        </p:txBody>
      </p:sp>
      <p:sp>
        <p:nvSpPr>
          <p:cNvPr id="8" name="Shape 5"/>
          <p:cNvSpPr/>
          <p:nvPr/>
        </p:nvSpPr>
        <p:spPr>
          <a:xfrm>
            <a:off x="457200" y="1188720"/>
            <a:ext cx="1920240" cy="1188720"/>
          </a:xfrm>
          <a:prstGeom prst="roundRect">
            <a:avLst>
              <a:gd name="adj" fmla="val 7692"/>
            </a:avLst>
          </a:prstGeom>
          <a:solidFill>
            <a:srgbClr val="F4F5F7"/>
          </a:solidFill>
          <a:ln w="12700">
            <a:solidFill>
              <a:srgbClr val="F4F5F7"/>
            </a:solidFill>
            <a:prstDash val="solid"/>
          </a:ln>
        </p:spPr>
      </p:sp>
      <p:sp>
        <p:nvSpPr>
          <p:cNvPr id="9" name="Text 6"/>
          <p:cNvSpPr/>
          <p:nvPr/>
        </p:nvSpPr>
        <p:spPr>
          <a:xfrm>
            <a:off x="59436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48/48</a:t>
            </a:r>
            <a:endParaRPr lang="en-US" sz="2600" dirty="0"/>
          </a:p>
        </p:txBody>
      </p:sp>
      <p:sp>
        <p:nvSpPr>
          <p:cNvPr id="10" name="Text 7"/>
          <p:cNvSpPr/>
          <p:nvPr/>
        </p:nvSpPr>
        <p:spPr>
          <a:xfrm>
            <a:off x="59436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functional tasks, EN / RU / ZH</a:t>
            </a:r>
            <a:endParaRPr lang="en-US" sz="1050" dirty="0"/>
          </a:p>
        </p:txBody>
      </p:sp>
      <p:sp>
        <p:nvSpPr>
          <p:cNvPr id="11" name="Shape 8"/>
          <p:cNvSpPr/>
          <p:nvPr/>
        </p:nvSpPr>
        <p:spPr>
          <a:xfrm>
            <a:off x="2560320" y="1188720"/>
            <a:ext cx="1920240" cy="1188720"/>
          </a:xfrm>
          <a:prstGeom prst="roundRect">
            <a:avLst>
              <a:gd name="adj" fmla="val 7692"/>
            </a:avLst>
          </a:prstGeom>
          <a:solidFill>
            <a:srgbClr val="F4F5F7"/>
          </a:solidFill>
          <a:ln w="12700">
            <a:solidFill>
              <a:srgbClr val="F4F5F7"/>
            </a:solidFill>
            <a:prstDash val="solid"/>
          </a:ln>
        </p:spPr>
      </p:sp>
      <p:sp>
        <p:nvSpPr>
          <p:cNvPr id="12" name="Text 9"/>
          <p:cNvSpPr/>
          <p:nvPr/>
        </p:nvSpPr>
        <p:spPr>
          <a:xfrm>
            <a:off x="269748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50/50</a:t>
            </a:r>
            <a:endParaRPr lang="en-US" sz="2600" dirty="0"/>
          </a:p>
        </p:txBody>
      </p:sp>
      <p:sp>
        <p:nvSpPr>
          <p:cNvPr id="13" name="Text 10"/>
          <p:cNvSpPr/>
          <p:nvPr/>
        </p:nvSpPr>
        <p:spPr>
          <a:xfrm>
            <a:off x="269748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attacks in the evaluation set stopped</a:t>
            </a:r>
            <a:endParaRPr lang="en-US" sz="1050" dirty="0"/>
          </a:p>
        </p:txBody>
      </p:sp>
      <p:sp>
        <p:nvSpPr>
          <p:cNvPr id="14" name="Shape 11"/>
          <p:cNvSpPr/>
          <p:nvPr/>
        </p:nvSpPr>
        <p:spPr>
          <a:xfrm>
            <a:off x="4663440" y="1188720"/>
            <a:ext cx="1920240" cy="1188720"/>
          </a:xfrm>
          <a:prstGeom prst="roundRect">
            <a:avLst>
              <a:gd name="adj" fmla="val 7692"/>
            </a:avLst>
          </a:prstGeom>
          <a:solidFill>
            <a:srgbClr val="F4F5F7"/>
          </a:solidFill>
          <a:ln w="12700">
            <a:solidFill>
              <a:srgbClr val="F4F5F7"/>
            </a:solidFill>
            <a:prstDash val="solid"/>
          </a:ln>
        </p:spPr>
      </p:sp>
      <p:sp>
        <p:nvSpPr>
          <p:cNvPr id="15" name="Text 12"/>
          <p:cNvSpPr/>
          <p:nvPr/>
        </p:nvSpPr>
        <p:spPr>
          <a:xfrm>
            <a:off x="480060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347</a:t>
            </a:r>
            <a:endParaRPr lang="en-US" sz="2600" dirty="0"/>
          </a:p>
        </p:txBody>
      </p:sp>
      <p:sp>
        <p:nvSpPr>
          <p:cNvPr id="16" name="Text 13"/>
          <p:cNvSpPr/>
          <p:nvPr/>
        </p:nvSpPr>
        <p:spPr>
          <a:xfrm>
            <a:off x="480060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signed journal entries in the demo, chain verified</a:t>
            </a:r>
            <a:endParaRPr lang="en-US" sz="1050" dirty="0"/>
          </a:p>
        </p:txBody>
      </p:sp>
      <p:sp>
        <p:nvSpPr>
          <p:cNvPr id="17" name="Shape 14"/>
          <p:cNvSpPr/>
          <p:nvPr/>
        </p:nvSpPr>
        <p:spPr>
          <a:xfrm>
            <a:off x="6766560" y="1188720"/>
            <a:ext cx="1920240" cy="1188720"/>
          </a:xfrm>
          <a:prstGeom prst="roundRect">
            <a:avLst>
              <a:gd name="adj" fmla="val 7692"/>
            </a:avLst>
          </a:prstGeom>
          <a:solidFill>
            <a:srgbClr val="F4F5F7"/>
          </a:solidFill>
          <a:ln w="12700">
            <a:solidFill>
              <a:srgbClr val="F4F5F7"/>
            </a:solidFill>
            <a:prstDash val="solid"/>
          </a:ln>
        </p:spPr>
      </p:sp>
      <p:sp>
        <p:nvSpPr>
          <p:cNvPr id="18" name="Text 15"/>
          <p:cNvSpPr/>
          <p:nvPr/>
        </p:nvSpPr>
        <p:spPr>
          <a:xfrm>
            <a:off x="6903720" y="1280160"/>
            <a:ext cx="1645920" cy="548640"/>
          </a:xfrm>
          <a:prstGeom prst="rect">
            <a:avLst/>
          </a:prstGeom>
          <a:noFill/>
          <a:ln/>
        </p:spPr>
        <p:txBody>
          <a:bodyPr wrap="square" lIns="0" tIns="0" rIns="0" bIns="0" rtlCol="0" anchor="ctr"/>
          <a:lstStyle/>
          <a:p>
            <a:pPr indent="0" marL="0">
              <a:buNone/>
            </a:pPr>
            <a:r>
              <a:rPr lang="en-US" sz="2600" b="1" dirty="0">
                <a:solidFill>
                  <a:srgbClr val="101828"/>
                </a:solidFill>
                <a:latin typeface="Inter" pitchFamily="34" charset="0"/>
                <a:ea typeface="Inter" pitchFamily="34" charset="-122"/>
                <a:cs typeface="Inter" pitchFamily="34" charset="-120"/>
              </a:rPr>
              <a:t>0 keys</a:t>
            </a:r>
            <a:endParaRPr lang="en-US" sz="2600" dirty="0"/>
          </a:p>
        </p:txBody>
      </p:sp>
      <p:sp>
        <p:nvSpPr>
          <p:cNvPr id="19" name="Text 16"/>
          <p:cNvSpPr/>
          <p:nvPr/>
        </p:nvSpPr>
        <p:spPr>
          <a:xfrm>
            <a:off x="6903720" y="1847088"/>
            <a:ext cx="1645920" cy="457200"/>
          </a:xfrm>
          <a:prstGeom prst="rect">
            <a:avLst/>
          </a:prstGeom>
          <a:noFill/>
          <a:ln/>
        </p:spPr>
        <p:txBody>
          <a:bodyPr wrap="square" lIns="0" tIns="0" rIns="0" bIns="0" rtlCol="0" anchor="t"/>
          <a:lstStyle/>
          <a:p>
            <a:pPr indent="0" marL="0">
              <a:buNone/>
            </a:pPr>
            <a:r>
              <a:rPr lang="en-US" sz="1050" dirty="0">
                <a:solidFill>
                  <a:srgbClr val="667085"/>
                </a:solidFill>
                <a:latin typeface="Inter" pitchFamily="34" charset="0"/>
                <a:ea typeface="Inter" pitchFamily="34" charset="-122"/>
                <a:cs typeface="Inter" pitchFamily="34" charset="-120"/>
              </a:rPr>
              <a:t>needed to reproduce: replay mode, make test</a:t>
            </a:r>
            <a:endParaRPr lang="en-US" sz="1050" dirty="0"/>
          </a:p>
        </p:txBody>
      </p:sp>
      <p:sp>
        <p:nvSpPr>
          <p:cNvPr id="20" name="Text 17"/>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1D4ED8"/>
                </a:solidFill>
                <a:latin typeface="Inter" pitchFamily="34" charset="0"/>
                <a:ea typeface="Inter" pitchFamily="34" charset="-122"/>
                <a:cs typeface="Inter" pitchFamily="34" charset="-120"/>
              </a:rPr>
              <a:t>Next</a:t>
            </a:r>
            <a:endParaRPr lang="en-US" sz="1700" dirty="0"/>
          </a:p>
        </p:txBody>
      </p:sp>
      <p:sp>
        <p:nvSpPr>
          <p:cNvPr id="21" name="Text 18"/>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Journal anchoring on a public test network</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01828"/>
                </a:solidFill>
                <a:latin typeface="Inter" pitchFamily="34" charset="0"/>
                <a:ea typeface="Inter" pitchFamily="34" charset="-122"/>
                <a:cs typeface="Inter" pitchFamily="34" charset="-120"/>
              </a:rPr>
              <a:t>SD-JWT selective disclosure for mandates; pilot with a bank's fraud team</a:t>
            </a:r>
            <a:endParaRPr lang="en-US" sz="1300" dirty="0"/>
          </a:p>
        </p:txBody>
      </p:sp>
      <p:sp>
        <p:nvSpPr>
          <p:cNvPr id="22" name="Shape 19"/>
          <p:cNvSpPr/>
          <p:nvPr/>
        </p:nvSpPr>
        <p:spPr>
          <a:xfrm>
            <a:off x="5852160" y="2743200"/>
            <a:ext cx="2834640" cy="1737360"/>
          </a:xfrm>
          <a:prstGeom prst="roundRect">
            <a:avLst>
              <a:gd name="adj" fmla="val 6316"/>
            </a:avLst>
          </a:prstGeom>
          <a:solidFill>
            <a:srgbClr val="101828"/>
          </a:solidFill>
          <a:ln w="12700">
            <a:solidFill>
              <a:srgbClr val="101828"/>
            </a:solidFill>
            <a:prstDash val="solid"/>
          </a:ln>
        </p:spPr>
      </p:sp>
      <p:sp>
        <p:nvSpPr>
          <p:cNvPr id="23" name="Text 20"/>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Agents propose.</a:t>
            </a:r>
            <a:endParaRPr lang="en-US" sz="1600" dirty="0"/>
          </a:p>
          <a:p>
            <a:pPr indent="0" marL="0">
              <a:buNone/>
            </a:pPr>
            <a:r>
              <a:rPr lang="en-US" sz="1600" b="1" dirty="0">
                <a:solidFill>
                  <a:srgbClr val="FFFFFF"/>
                </a:solidFill>
                <a:latin typeface="Inter" pitchFamily="34" charset="0"/>
                <a:ea typeface="Inter" pitchFamily="34" charset="-122"/>
                <a:cs typeface="Inter"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2026-10-19T19:36:36Z</dcterms:created>
  <dcterms:modified xsi:type="dcterms:W3CDTF">2026-10-19T19:36:36Z</dcterms:modified>
</cp:coreProperties>
</file>