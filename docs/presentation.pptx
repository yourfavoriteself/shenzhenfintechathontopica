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Arial"/>
              </a:defRPr>
            </a:pPr>
            <a:r>
              <a:rPr sz="1200" b="0" i="0" u="none" strike="noStrike">
                <a:solidFill>
                  <a:srgbClr val="1F2937"/>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B981"/>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31</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Arial"/>
              </a:defRPr>
            </a:pPr>
            <a:r>
              <a:rPr sz="1200" b="0" i="0" u="none" strike="noStrike">
                <a:solidFill>
                  <a:srgbClr val="1F2937"/>
                </a:solidFill>
                <a:latin typeface="Arial"/>
              </a:rPr>
              <a:t>₽ per task, one client</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9CA3A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Sheet1!$B$2:$B$8</c:f>
              <c:numCache>
                <c:formatCode>General</c:formatCode>
                <c:ptCount val="7"/>
                <c:pt idx="0">
                  <c:v>0.3129</c:v>
                </c:pt>
                <c:pt idx="1">
                  <c:v>0.0222</c:v>
                </c:pt>
                <c:pt idx="2">
                  <c:v>0.0397</c:v>
                </c:pt>
                <c:pt idx="3">
                  <c:v>0.2628</c:v>
                </c:pt>
                <c:pt idx="4">
                  <c:v>0.0321</c:v>
                </c:pt>
                <c:pt idx="5">
                  <c:v>0.0428</c:v>
                </c:pt>
                <c:pt idx="6">
                  <c:v>0.0172</c:v>
                </c:pt>
              </c:numCache>
            </c:numRef>
          </c:val>
        </c:ser>
        <c:ser>
          <c:idx val="1"/>
          <c:order val="1"/>
          <c:tx>
            <c:strRef>
              <c:f>Sheet1!$C$1</c:f>
              <c:strCache>
                <c:ptCount val="1"/>
                <c:pt idx="0">
                  <c:v>Next month</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Sheet1!$C$2:$C$8</c:f>
              <c:numCache>
                <c:formatCode>General</c:formatCode>
                <c:ptCount val="7"/>
                <c:pt idx="0">
                  <c:v>0</c:v>
                </c:pt>
                <c:pt idx="1">
                  <c:v>0.0222</c:v>
                </c:pt>
                <c:pt idx="2">
                  <c:v>0</c:v>
                </c:pt>
                <c:pt idx="3">
                  <c:v>0.1811</c:v>
                </c:pt>
                <c:pt idx="4">
                  <c:v>0.0196</c:v>
                </c:pt>
                <c:pt idx="5">
                  <c:v>0.0301</c:v>
                </c:pt>
                <c:pt idx="6">
                  <c:v>0.0166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the Guardian team. Our topic is A: an AI agent that pays, cancels and budgets for a bank client. In ten minutes: the problem, the idea, a month of the demo, how the kernel works, the security results, compliance, cost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39 attacks against an agent without our kernel. 39 succeeded and it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548 ₽ a month, did 10 things, asked 11 times and stopped 2. The whole run is in the evidence folder: 292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interface. On the left, a card. The kernel renders it, every field has its source, and you hold to sign with the device key. On the right, the fake bill. It imitates Mosenergo, the account is not Mosenergo's, it uses pressure and has a hidden instruction for AI agents, and it is linked to an earlier phishing email. The scam call, where the ladder goes from explain to ask to a pause and then holds the money for a person at the bank, is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39 static attacks: fake bills, injected instructions, swapped payees, look-alike merchants, replayed signatures, over-limit requests. All 39 stopped. 5 attacks that try to plant something in the assistant's memory for later: all stopped. An adaptive attacker that learns from the kernel's answers, 10 rounds, 360 attempts: zero payments outside the mandate. And the earlier prototype's suite: 20 of 21 prevented, one bounded by the limit. Without the kernel the same static set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code for agent payment apps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0.73 rubles in tokens; the next month 0.27, 63.1 percent less, because the repeat payment and the repeated check run from templates with no model call. In the full demo 96.7 percent of the work stays on levels zero and one. At the next-month rate a million clients cost about 270 000 rubles a month. These are token counts on the real prompts with stub answers; a live run will replace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50 of 50 attacks in the evaluation set are stopped, and the whole repository has an automated test suite that runs in the Docker build. Everything is reproducible from the repository in replay mode without any keys. Next: live runs with real models,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4E3B"/>
        </a:solidFill>
      </p:bgPr>
    </p:bg>
    <p:spTree>
      <p:nvGrpSpPr>
        <p:cNvPr id="1" name=""/>
        <p:cNvGrpSpPr/>
        <p:nvPr/>
      </p:nvGrpSpPr>
      <p:grpSpPr>
        <a:xfrm>
          <a:off x="0" y="0"/>
          <a:ext cx="0" cy="0"/>
          <a:chOff x="0" y="0"/>
          <a:chExt cx="0" cy="0"/>
        </a:xfrm>
      </p:grpSpPr>
      <p:sp>
        <p:nvSpPr>
          <p:cNvPr id="3" name="Text 0"/>
          <p:cNvSpPr/>
          <p:nvPr/>
        </p:nvSpPr>
        <p:spPr>
          <a:xfrm>
            <a:off x="548640" y="1188720"/>
            <a:ext cx="8046720" cy="100584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Guardian</a:t>
            </a:r>
            <a:endParaRPr lang="en-US" sz="6000" dirty="0"/>
          </a:p>
        </p:txBody>
      </p:sp>
      <p:sp>
        <p:nvSpPr>
          <p:cNvPr id="4" name="Text 1"/>
          <p:cNvSpPr/>
          <p:nvPr/>
        </p:nvSpPr>
        <p:spPr>
          <a:xfrm>
            <a:off x="548640" y="2194560"/>
            <a:ext cx="8046720" cy="548640"/>
          </a:xfrm>
          <a:prstGeom prst="rect">
            <a:avLst/>
          </a:prstGeom>
          <a:noFill/>
          <a:ln/>
        </p:spPr>
        <p:txBody>
          <a:bodyPr wrap="square" lIns="0" tIns="0" rIns="0" bIns="0" rtlCol="0" anchor="ctr"/>
          <a:lstStyle/>
          <a:p>
            <a:pPr indent="0" marL="0">
              <a:buNone/>
            </a:pPr>
            <a:r>
              <a:rPr lang="en-US" sz="2400" dirty="0">
                <a:solidFill>
                  <a:srgbClr val="A7F3D0"/>
                </a:solidFill>
                <a:latin typeface="Calibri" pitchFamily="34" charset="0"/>
                <a:ea typeface="Calibri" pitchFamily="34" charset="-122"/>
                <a:cs typeface="Calibri" pitchFamily="34" charset="-120"/>
              </a:rPr>
              <a:t>A bank-side safety kernel for AI payment agents</a:t>
            </a:r>
            <a:endParaRPr lang="en-US" sz="2400" dirty="0"/>
          </a:p>
        </p:txBody>
      </p:sp>
      <p:sp>
        <p:nvSpPr>
          <p:cNvPr id="5" name="Text 2"/>
          <p:cNvSpPr/>
          <p:nvPr/>
        </p:nvSpPr>
        <p:spPr>
          <a:xfrm>
            <a:off x="548640" y="2926080"/>
            <a:ext cx="8046720" cy="45720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Agents propose. The kernel decides, checks and records.</a:t>
            </a:r>
            <a:endParaRPr lang="en-US" sz="1600" dirty="0"/>
          </a:p>
        </p:txBody>
      </p:sp>
      <p:sp>
        <p:nvSpPr>
          <p:cNvPr id="6" name="Text 3"/>
          <p:cNvSpPr/>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A7F3D0"/>
                </a:solidFill>
                <a:latin typeface="Calibri" pitchFamily="34" charset="0"/>
                <a:ea typeface="Calibri" pitchFamily="34" charset="-122"/>
                <a:cs typeface="Calibri" pitchFamily="34" charset="-120"/>
              </a:rPr>
              <a:t>Shenzhen FinTechathon 2026 · International Track · Topic 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400" b="1" dirty="0">
                <a:solidFill>
                  <a:srgbClr val="064E3B"/>
                </a:solidFill>
                <a:latin typeface="Calibri" pitchFamily="34" charset="0"/>
                <a:ea typeface="Calibri" pitchFamily="34" charset="-122"/>
                <a:cs typeface="Calibri" pitchFamily="34" charset="-120"/>
              </a:rPr>
              <a:t>Letting an AI agent touch money is a new attack surface</a:t>
            </a:r>
            <a:endParaRPr lang="en-US" sz="2400" dirty="0"/>
          </a:p>
        </p:txBody>
      </p:sp>
      <p:sp>
        <p:nvSpPr>
          <p:cNvPr id="4" name="Shape 1"/>
          <p:cNvSpPr/>
          <p:nvPr/>
        </p:nvSpPr>
        <p:spPr>
          <a:xfrm>
            <a:off x="548640" y="1261872"/>
            <a:ext cx="457200" cy="457200"/>
          </a:xfrm>
          <a:prstGeom prst="ellipse">
            <a:avLst/>
          </a:prstGeom>
          <a:solidFill>
            <a:srgbClr val="10B981"/>
          </a:solidFill>
          <a:ln w="12700">
            <a:solidFill>
              <a:srgbClr val="10B981"/>
            </a:solidFill>
            <a:prstDash val="solid"/>
          </a:ln>
        </p:spPr>
      </p:sp>
      <p:sp>
        <p:nvSpPr>
          <p:cNvPr id="5" name="Text 2"/>
          <p:cNvSpPr/>
          <p:nvPr/>
        </p:nvSpPr>
        <p:spPr>
          <a:xfrm>
            <a:off x="548640" y="1261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3"/>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Intent</a:t>
            </a:r>
            <a:endParaRPr lang="en-US" sz="1800" dirty="0"/>
          </a:p>
        </p:txBody>
      </p:sp>
      <p:sp>
        <p:nvSpPr>
          <p:cNvPr id="7" name="Text 4"/>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 model can pick the wrong payee or amount. The client cannot prove what they approved.</a:t>
            </a:r>
            <a:endParaRPr lang="en-US" sz="1300" dirty="0"/>
          </a:p>
        </p:txBody>
      </p:sp>
      <p:sp>
        <p:nvSpPr>
          <p:cNvPr id="8" name="Shape 5"/>
          <p:cNvSpPr/>
          <p:nvPr/>
        </p:nvSpPr>
        <p:spPr>
          <a:xfrm>
            <a:off x="548640" y="2267712"/>
            <a:ext cx="457200" cy="457200"/>
          </a:xfrm>
          <a:prstGeom prst="ellipse">
            <a:avLst/>
          </a:prstGeom>
          <a:solidFill>
            <a:srgbClr val="10B981"/>
          </a:solidFill>
          <a:ln w="12700">
            <a:solidFill>
              <a:srgbClr val="10B981"/>
            </a:solidFill>
            <a:prstDash val="solid"/>
          </a:ln>
        </p:spPr>
      </p:sp>
      <p:sp>
        <p:nvSpPr>
          <p:cNvPr id="9" name="Text 6"/>
          <p:cNvSpPr/>
          <p:nvPr/>
        </p:nvSpPr>
        <p:spPr>
          <a:xfrm>
            <a:off x="548640" y="22677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Manipulation</a:t>
            </a:r>
            <a:endParaRPr lang="en-US" sz="1800" dirty="0"/>
          </a:p>
        </p:txBody>
      </p:sp>
      <p:sp>
        <p:nvSpPr>
          <p:cNvPr id="11" name="Text 8"/>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Fake bills, hidden instructions for AI agents, look-alike merchants, 'safe account' scam calls.</a:t>
            </a:r>
            <a:endParaRPr lang="en-US" sz="1300" dirty="0"/>
          </a:p>
        </p:txBody>
      </p:sp>
      <p:sp>
        <p:nvSpPr>
          <p:cNvPr id="12" name="Shape 9"/>
          <p:cNvSpPr/>
          <p:nvPr/>
        </p:nvSpPr>
        <p:spPr>
          <a:xfrm>
            <a:off x="548640" y="3273552"/>
            <a:ext cx="457200" cy="457200"/>
          </a:xfrm>
          <a:prstGeom prst="ellipse">
            <a:avLst/>
          </a:prstGeom>
          <a:solidFill>
            <a:srgbClr val="10B981"/>
          </a:solidFill>
          <a:ln w="12700">
            <a:solidFill>
              <a:srgbClr val="10B981"/>
            </a:solidFill>
            <a:prstDash val="solid"/>
          </a:ln>
        </p:spPr>
      </p:sp>
      <p:sp>
        <p:nvSpPr>
          <p:cNvPr id="13" name="Text 10"/>
          <p:cNvSpPr/>
          <p:nvPr/>
        </p:nvSpPr>
        <p:spPr>
          <a:xfrm>
            <a:off x="548640" y="32735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1"/>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Accountability</a:t>
            </a:r>
            <a:endParaRPr lang="en-US" sz="1800" dirty="0"/>
          </a:p>
        </p:txBody>
      </p:sp>
      <p:sp>
        <p:nvSpPr>
          <p:cNvPr id="15" name="Text 12"/>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Regulators ask: who authorised this payment, which model decided, can it be rolled back?</a:t>
            </a:r>
            <a:endParaRPr lang="en-US" sz="1300" dirty="0"/>
          </a:p>
        </p:txBody>
      </p:sp>
      <p:sp>
        <p:nvSpPr>
          <p:cNvPr id="16" name="Shape 13"/>
          <p:cNvSpPr/>
          <p:nvPr/>
        </p:nvSpPr>
        <p:spPr>
          <a:xfrm>
            <a:off x="5577840" y="1188720"/>
            <a:ext cx="3108960" cy="2926080"/>
          </a:xfrm>
          <a:prstGeom prst="rect">
            <a:avLst/>
          </a:prstGeom>
          <a:solidFill>
            <a:srgbClr val="FEF2F2"/>
          </a:solidFill>
          <a:ln w="12700">
            <a:solidFill>
              <a:srgbClr val="FEF2F2"/>
            </a:solidFill>
            <a:prstDash val="solid"/>
          </a:ln>
        </p:spPr>
      </p:sp>
      <p:sp>
        <p:nvSpPr>
          <p:cNvPr id="17" name="Text 14"/>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Same attacks, agent without the kernel</a:t>
            </a:r>
            <a:endParaRPr lang="en-US" sz="1300" dirty="0"/>
          </a:p>
        </p:txBody>
      </p:sp>
      <p:sp>
        <p:nvSpPr>
          <p:cNvPr id="18" name="Text 15"/>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B91C1C"/>
                </a:solidFill>
                <a:latin typeface="Calibri" pitchFamily="34" charset="0"/>
                <a:ea typeface="Calibri" pitchFamily="34" charset="-122"/>
                <a:cs typeface="Calibri" pitchFamily="34" charset="-120"/>
              </a:rPr>
              <a:t>39 / 39</a:t>
            </a:r>
            <a:endParaRPr lang="en-US" sz="4400" dirty="0"/>
          </a:p>
        </p:txBody>
      </p:sp>
      <p:sp>
        <p:nvSpPr>
          <p:cNvPr id="19" name="Text 16"/>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attacks succeeded</a:t>
            </a:r>
            <a:endParaRPr lang="en-US" sz="1300" dirty="0"/>
          </a:p>
        </p:txBody>
      </p:sp>
      <p:sp>
        <p:nvSpPr>
          <p:cNvPr id="20" name="Text 17"/>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B91C1C"/>
                </a:solidFill>
                <a:latin typeface="Calibri" pitchFamily="34" charset="0"/>
                <a:ea typeface="Calibri" pitchFamily="34" charset="-122"/>
                <a:cs typeface="Calibri" pitchFamily="34" charset="-120"/>
              </a:rPr>
              <a:t>532 038.76 ₽</a:t>
            </a:r>
            <a:endParaRPr lang="en-US" sz="2600" dirty="0"/>
          </a:p>
        </p:txBody>
      </p:sp>
      <p:sp>
        <p:nvSpPr>
          <p:cNvPr id="21" name="Text 18"/>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The idea: models never hold the money</a:t>
            </a:r>
            <a:endParaRPr lang="en-US" sz="2800" dirty="0"/>
          </a:p>
        </p:txBody>
      </p:sp>
      <p:sp>
        <p:nvSpPr>
          <p:cNvPr id="4" name="Shape 1"/>
          <p:cNvSpPr/>
          <p:nvPr/>
        </p:nvSpPr>
        <p:spPr>
          <a:xfrm>
            <a:off x="457200" y="1234440"/>
            <a:ext cx="2651760" cy="2651760"/>
          </a:xfrm>
          <a:prstGeom prst="rect">
            <a:avLst/>
          </a:prstGeom>
          <a:solidFill>
            <a:srgbClr val="ECFDF5"/>
          </a:solidFill>
          <a:ln w="12700">
            <a:solidFill>
              <a:srgbClr val="ECFDF5"/>
            </a:solidFill>
            <a:prstDash val="solid"/>
          </a:ln>
        </p:spPr>
      </p:sp>
      <p:sp>
        <p:nvSpPr>
          <p:cNvPr id="5" name="Text 2"/>
          <p:cNvSpPr/>
          <p:nvPr/>
        </p:nvSpPr>
        <p:spPr>
          <a:xfrm>
            <a:off x="64008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What you see is what you sign</a:t>
            </a:r>
            <a:endParaRPr lang="en-US" sz="1700" dirty="0"/>
          </a:p>
        </p:txBody>
      </p:sp>
      <p:sp>
        <p:nvSpPr>
          <p:cNvPr id="6" name="Text 3"/>
          <p:cNvSpPr/>
          <p:nvPr/>
        </p:nvSpPr>
        <p:spPr>
          <a:xfrm>
            <a:off x="64008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kernel renders every card. The client's device key (Ed25519 / P-256, WebCrypto) signs its hash; the kernel countersigns.</a:t>
            </a:r>
            <a:endParaRPr lang="en-US" sz="1300" dirty="0"/>
          </a:p>
        </p:txBody>
      </p:sp>
      <p:sp>
        <p:nvSpPr>
          <p:cNvPr id="7" name="Shape 4"/>
          <p:cNvSpPr/>
          <p:nvPr/>
        </p:nvSpPr>
        <p:spPr>
          <a:xfrm>
            <a:off x="3291840" y="1234440"/>
            <a:ext cx="2651760" cy="2651760"/>
          </a:xfrm>
          <a:prstGeom prst="rect">
            <a:avLst/>
          </a:prstGeom>
          <a:solidFill>
            <a:srgbClr val="ECFDF5"/>
          </a:solidFill>
          <a:ln w="12700">
            <a:solidFill>
              <a:srgbClr val="ECFDF5"/>
            </a:solidFill>
            <a:prstDash val="solid"/>
          </a:ln>
        </p:spPr>
      </p:sp>
      <p:sp>
        <p:nvSpPr>
          <p:cNvPr id="8" name="Text 5"/>
          <p:cNvSpPr/>
          <p:nvPr/>
        </p:nvSpPr>
        <p:spPr>
          <a:xfrm>
            <a:off x="347472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Nothing outside the mandate</a:t>
            </a:r>
            <a:endParaRPr lang="en-US" sz="1700" dirty="0"/>
          </a:p>
        </p:txBody>
      </p:sp>
      <p:sp>
        <p:nvSpPr>
          <p:cNvPr id="9" name="Text 6"/>
          <p:cNvSpPr/>
          <p:nvPr/>
        </p:nvSpPr>
        <p:spPr>
          <a:xfrm>
            <a:off x="347472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Payee, amount range, period, money source, expiry. Agents get single-use grants that only narrow.</a:t>
            </a:r>
            <a:endParaRPr lang="en-US" sz="1300" dirty="0"/>
          </a:p>
        </p:txBody>
      </p:sp>
      <p:sp>
        <p:nvSpPr>
          <p:cNvPr id="10" name="Shape 7"/>
          <p:cNvSpPr/>
          <p:nvPr/>
        </p:nvSpPr>
        <p:spPr>
          <a:xfrm>
            <a:off x="6126480" y="1234440"/>
            <a:ext cx="2651760" cy="2651760"/>
          </a:xfrm>
          <a:prstGeom prst="rect">
            <a:avLst/>
          </a:prstGeom>
          <a:solidFill>
            <a:srgbClr val="ECFDF5"/>
          </a:solidFill>
          <a:ln w="12700">
            <a:solidFill>
              <a:srgbClr val="ECFDF5"/>
            </a:solidFill>
            <a:prstDash val="solid"/>
          </a:ln>
        </p:spPr>
      </p:sp>
      <p:sp>
        <p:nvSpPr>
          <p:cNvPr id="11" name="Text 8"/>
          <p:cNvSpPr/>
          <p:nvPr/>
        </p:nvSpPr>
        <p:spPr>
          <a:xfrm>
            <a:off x="630936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Verified, then recorded</a:t>
            </a:r>
            <a:endParaRPr lang="en-US" sz="1700" dirty="0"/>
          </a:p>
        </p:txBody>
      </p:sp>
      <p:sp>
        <p:nvSpPr>
          <p:cNvPr id="12" name="Text 9"/>
          <p:cNvSpPr/>
          <p:nvPr/>
        </p:nvSpPr>
        <p:spPr>
          <a:xfrm>
            <a:off x="630936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After execution the kernel checks the bank itself, not the agent's word. Every step goes into a signed hash chain.</a:t>
            </a:r>
            <a:endParaRPr lang="en-US" sz="1300" dirty="0"/>
          </a:p>
        </p:txBody>
      </p:sp>
      <p:sp>
        <p:nvSpPr>
          <p:cNvPr id="13" name="Text 10"/>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500" b="1" dirty="0">
                <a:solidFill>
                  <a:srgbClr val="065F46"/>
                </a:solidFill>
                <a:latin typeface="Calibri" pitchFamily="34" charset="0"/>
                <a:ea typeface="Calibri" pitchFamily="34" charset="-122"/>
                <a:cs typeface="Calibri" pitchFamily="34" charset="-120"/>
              </a:rPr>
              <a:t>Agents propose  →  kernel decides  →  bank executes  →  kernel verifies  →  journal records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Demo: one month for one client, scenarios C1–C10</a:t>
            </a:r>
            <a:endParaRPr lang="en-US" sz="2800" dirty="0"/>
          </a:p>
        </p:txBody>
      </p:sp>
      <p:sp>
        <p:nvSpPr>
          <p:cNvPr id="4" name="Shape 1"/>
          <p:cNvSpPr/>
          <p:nvPr/>
        </p:nvSpPr>
        <p:spPr>
          <a:xfrm>
            <a:off x="457200" y="1188720"/>
            <a:ext cx="1554480" cy="1188720"/>
          </a:xfrm>
          <a:prstGeom prst="rect">
            <a:avLst/>
          </a:prstGeom>
          <a:solidFill>
            <a:srgbClr val="ECFDF5"/>
          </a:solidFill>
          <a:ln w="12700">
            <a:solidFill>
              <a:srgbClr val="ECFDF5"/>
            </a:solidFill>
            <a:prstDash val="solid"/>
          </a:ln>
        </p:spPr>
      </p:sp>
      <p:sp>
        <p:nvSpPr>
          <p:cNvPr id="5" name="Text 2"/>
          <p:cNvSpPr/>
          <p:nvPr/>
        </p:nvSpPr>
        <p:spPr>
          <a:xfrm>
            <a:off x="566928"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C1</a:t>
            </a:r>
            <a:endParaRPr lang="en-US" sz="1600" dirty="0"/>
          </a:p>
        </p:txBody>
      </p:sp>
      <p:sp>
        <p:nvSpPr>
          <p:cNvPr id="6" name="Text 3"/>
          <p:cNvSpPr/>
          <p:nvPr/>
        </p:nvSpPr>
        <p:spPr>
          <a:xfrm>
            <a:off x="566928"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Pay, allow monthly</a:t>
            </a:r>
            <a:endParaRPr lang="en-US" sz="1250" dirty="0"/>
          </a:p>
        </p:txBody>
      </p:sp>
      <p:sp>
        <p:nvSpPr>
          <p:cNvPr id="7" name="Text 4"/>
          <p:cNvSpPr/>
          <p:nvPr/>
        </p:nvSpPr>
        <p:spPr>
          <a:xfrm>
            <a:off x="566928"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standing, ≤ 344 ₽</a:t>
            </a:r>
            <a:endParaRPr lang="en-US" sz="1050" dirty="0"/>
          </a:p>
        </p:txBody>
      </p:sp>
      <p:sp>
        <p:nvSpPr>
          <p:cNvPr id="8" name="Shape 5"/>
          <p:cNvSpPr/>
          <p:nvPr/>
        </p:nvSpPr>
        <p:spPr>
          <a:xfrm>
            <a:off x="2121408" y="1188720"/>
            <a:ext cx="1554480" cy="1188720"/>
          </a:xfrm>
          <a:prstGeom prst="rect">
            <a:avLst/>
          </a:prstGeom>
          <a:solidFill>
            <a:srgbClr val="ECFDF5"/>
          </a:solidFill>
          <a:ln w="12700">
            <a:solidFill>
              <a:srgbClr val="ECFDF5"/>
            </a:solidFill>
            <a:prstDash val="solid"/>
          </a:ln>
        </p:spPr>
      </p:sp>
      <p:sp>
        <p:nvSpPr>
          <p:cNvPr id="9" name="Text 6"/>
          <p:cNvSpPr/>
          <p:nvPr/>
        </p:nvSpPr>
        <p:spPr>
          <a:xfrm>
            <a:off x="2231136"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C2</a:t>
            </a:r>
            <a:endParaRPr lang="en-US" sz="1600" dirty="0"/>
          </a:p>
        </p:txBody>
      </p:sp>
      <p:sp>
        <p:nvSpPr>
          <p:cNvPr id="10" name="Text 7"/>
          <p:cNvSpPr/>
          <p:nvPr/>
        </p:nvSpPr>
        <p:spPr>
          <a:xfrm>
            <a:off x="2231136"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Cancel a subscription</a:t>
            </a:r>
            <a:endParaRPr lang="en-US" sz="1250" dirty="0"/>
          </a:p>
        </p:txBody>
      </p:sp>
      <p:sp>
        <p:nvSpPr>
          <p:cNvPr id="11" name="Text 8"/>
          <p:cNvSpPr/>
          <p:nvPr/>
        </p:nvSpPr>
        <p:spPr>
          <a:xfrm>
            <a:off x="2231136"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merchant API + card block</a:t>
            </a:r>
            <a:endParaRPr lang="en-US" sz="1050" dirty="0"/>
          </a:p>
        </p:txBody>
      </p:sp>
      <p:sp>
        <p:nvSpPr>
          <p:cNvPr id="12" name="Shape 9"/>
          <p:cNvSpPr/>
          <p:nvPr/>
        </p:nvSpPr>
        <p:spPr>
          <a:xfrm>
            <a:off x="3785616" y="1188720"/>
            <a:ext cx="1554480" cy="1188720"/>
          </a:xfrm>
          <a:prstGeom prst="rect">
            <a:avLst/>
          </a:prstGeom>
          <a:solidFill>
            <a:srgbClr val="ECFDF5"/>
          </a:solidFill>
          <a:ln w="12700">
            <a:solidFill>
              <a:srgbClr val="ECFDF5"/>
            </a:solidFill>
            <a:prstDash val="solid"/>
          </a:ln>
        </p:spPr>
      </p:sp>
      <p:sp>
        <p:nvSpPr>
          <p:cNvPr id="13" name="Text 10"/>
          <p:cNvSpPr/>
          <p:nvPr/>
        </p:nvSpPr>
        <p:spPr>
          <a:xfrm>
            <a:off x="3895344"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C3</a:t>
            </a:r>
            <a:endParaRPr lang="en-US" sz="1600" dirty="0"/>
          </a:p>
        </p:txBody>
      </p:sp>
      <p:sp>
        <p:nvSpPr>
          <p:cNvPr id="14" name="Text 11"/>
          <p:cNvSpPr/>
          <p:nvPr/>
        </p:nvSpPr>
        <p:spPr>
          <a:xfrm>
            <a:off x="3895344"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Find leaks</a:t>
            </a:r>
            <a:endParaRPr lang="en-US" sz="1250" dirty="0"/>
          </a:p>
        </p:txBody>
      </p:sp>
      <p:sp>
        <p:nvSpPr>
          <p:cNvPr id="15" name="Text 12"/>
          <p:cNvSpPr/>
          <p:nvPr/>
        </p:nvSpPr>
        <p:spPr>
          <a:xfrm>
            <a:off x="3895344"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847 ₽ a month</a:t>
            </a:r>
            <a:endParaRPr lang="en-US" sz="1050" dirty="0"/>
          </a:p>
        </p:txBody>
      </p:sp>
      <p:sp>
        <p:nvSpPr>
          <p:cNvPr id="16" name="Shape 13"/>
          <p:cNvSpPr/>
          <p:nvPr/>
        </p:nvSpPr>
        <p:spPr>
          <a:xfrm>
            <a:off x="5449824" y="1188720"/>
            <a:ext cx="1554480" cy="1188720"/>
          </a:xfrm>
          <a:prstGeom prst="rect">
            <a:avLst/>
          </a:prstGeom>
          <a:solidFill>
            <a:srgbClr val="ECFDF5"/>
          </a:solidFill>
          <a:ln w="12700">
            <a:solidFill>
              <a:srgbClr val="ECFDF5"/>
            </a:solidFill>
            <a:prstDash val="solid"/>
          </a:ln>
        </p:spPr>
      </p:sp>
      <p:sp>
        <p:nvSpPr>
          <p:cNvPr id="17" name="Text 14"/>
          <p:cNvSpPr/>
          <p:nvPr/>
        </p:nvSpPr>
        <p:spPr>
          <a:xfrm>
            <a:off x="5559552"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C4</a:t>
            </a:r>
            <a:endParaRPr lang="en-US" sz="1600" dirty="0"/>
          </a:p>
        </p:txBody>
      </p:sp>
      <p:sp>
        <p:nvSpPr>
          <p:cNvPr id="18" name="Text 15"/>
          <p:cNvSpPr/>
          <p:nvPr/>
        </p:nvSpPr>
        <p:spPr>
          <a:xfrm>
            <a:off x="5559552"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Double charge</a:t>
            </a:r>
            <a:endParaRPr lang="en-US" sz="1250" dirty="0"/>
          </a:p>
        </p:txBody>
      </p:sp>
      <p:sp>
        <p:nvSpPr>
          <p:cNvPr id="19" name="Text 16"/>
          <p:cNvSpPr/>
          <p:nvPr/>
        </p:nvSpPr>
        <p:spPr>
          <a:xfrm>
            <a:off x="5559552"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dispute opened</a:t>
            </a:r>
            <a:endParaRPr lang="en-US" sz="1050" dirty="0"/>
          </a:p>
        </p:txBody>
      </p:sp>
      <p:sp>
        <p:nvSpPr>
          <p:cNvPr id="20" name="Shape 17"/>
          <p:cNvSpPr/>
          <p:nvPr/>
        </p:nvSpPr>
        <p:spPr>
          <a:xfrm>
            <a:off x="7114032" y="1188720"/>
            <a:ext cx="1554480" cy="1188720"/>
          </a:xfrm>
          <a:prstGeom prst="rect">
            <a:avLst/>
          </a:prstGeom>
          <a:solidFill>
            <a:srgbClr val="ECFDF5"/>
          </a:solidFill>
          <a:ln w="12700">
            <a:solidFill>
              <a:srgbClr val="ECFDF5"/>
            </a:solidFill>
            <a:prstDash val="solid"/>
          </a:ln>
        </p:spPr>
      </p:sp>
      <p:sp>
        <p:nvSpPr>
          <p:cNvPr id="21" name="Text 18"/>
          <p:cNvSpPr/>
          <p:nvPr/>
        </p:nvSpPr>
        <p:spPr>
          <a:xfrm>
            <a:off x="7223760"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C5</a:t>
            </a:r>
            <a:endParaRPr lang="en-US" sz="1600" dirty="0"/>
          </a:p>
        </p:txBody>
      </p:sp>
      <p:sp>
        <p:nvSpPr>
          <p:cNvPr id="22" name="Text 19"/>
          <p:cNvSpPr/>
          <p:nvPr/>
        </p:nvSpPr>
        <p:spPr>
          <a:xfrm>
            <a:off x="7223760"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Pay bills</a:t>
            </a:r>
            <a:endParaRPr lang="en-US" sz="1250" dirty="0"/>
          </a:p>
        </p:txBody>
      </p:sp>
      <p:sp>
        <p:nvSpPr>
          <p:cNvPr id="23" name="Text 20"/>
          <p:cNvSpPr/>
          <p:nvPr/>
        </p:nvSpPr>
        <p:spPr>
          <a:xfrm>
            <a:off x="7223760"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checked against bank records</a:t>
            </a:r>
            <a:endParaRPr lang="en-US" sz="1050" dirty="0"/>
          </a:p>
        </p:txBody>
      </p:sp>
      <p:sp>
        <p:nvSpPr>
          <p:cNvPr id="24" name="Shape 21"/>
          <p:cNvSpPr/>
          <p:nvPr/>
        </p:nvSpPr>
        <p:spPr>
          <a:xfrm>
            <a:off x="457200" y="2514600"/>
            <a:ext cx="1554480" cy="1188720"/>
          </a:xfrm>
          <a:prstGeom prst="rect">
            <a:avLst/>
          </a:prstGeom>
          <a:solidFill>
            <a:srgbClr val="ECFDF5"/>
          </a:solidFill>
          <a:ln w="12700">
            <a:solidFill>
              <a:srgbClr val="ECFDF5"/>
            </a:solidFill>
            <a:prstDash val="solid"/>
          </a:ln>
        </p:spPr>
      </p:sp>
      <p:sp>
        <p:nvSpPr>
          <p:cNvPr id="25" name="Text 22"/>
          <p:cNvSpPr/>
          <p:nvPr/>
        </p:nvSpPr>
        <p:spPr>
          <a:xfrm>
            <a:off x="566928"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C6</a:t>
            </a:r>
            <a:endParaRPr lang="en-US" sz="1600" dirty="0"/>
          </a:p>
        </p:txBody>
      </p:sp>
      <p:sp>
        <p:nvSpPr>
          <p:cNvPr id="26" name="Text 23"/>
          <p:cNvSpPr/>
          <p:nvPr/>
        </p:nvSpPr>
        <p:spPr>
          <a:xfrm>
            <a:off x="566928"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Fake bill</a:t>
            </a:r>
            <a:endParaRPr lang="en-US" sz="1250" dirty="0"/>
          </a:p>
        </p:txBody>
      </p:sp>
      <p:sp>
        <p:nvSpPr>
          <p:cNvPr id="27" name="Text 24"/>
          <p:cNvSpPr/>
          <p:nvPr/>
        </p:nvSpPr>
        <p:spPr>
          <a:xfrm>
            <a:off x="566928"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stopped, case to analysts</a:t>
            </a:r>
            <a:endParaRPr lang="en-US" sz="1050" dirty="0"/>
          </a:p>
        </p:txBody>
      </p:sp>
      <p:sp>
        <p:nvSpPr>
          <p:cNvPr id="28" name="Shape 25"/>
          <p:cNvSpPr/>
          <p:nvPr/>
        </p:nvSpPr>
        <p:spPr>
          <a:xfrm>
            <a:off x="2121408" y="2514600"/>
            <a:ext cx="1554480" cy="1188720"/>
          </a:xfrm>
          <a:prstGeom prst="rect">
            <a:avLst/>
          </a:prstGeom>
          <a:solidFill>
            <a:srgbClr val="ECFDF5"/>
          </a:solidFill>
          <a:ln w="12700">
            <a:solidFill>
              <a:srgbClr val="ECFDF5"/>
            </a:solidFill>
            <a:prstDash val="solid"/>
          </a:ln>
        </p:spPr>
      </p:sp>
      <p:sp>
        <p:nvSpPr>
          <p:cNvPr id="29" name="Text 26"/>
          <p:cNvSpPr/>
          <p:nvPr/>
        </p:nvSpPr>
        <p:spPr>
          <a:xfrm>
            <a:off x="2231136"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C7</a:t>
            </a:r>
            <a:endParaRPr lang="en-US" sz="1600" dirty="0"/>
          </a:p>
        </p:txBody>
      </p:sp>
      <p:sp>
        <p:nvSpPr>
          <p:cNvPr id="30" name="Text 27"/>
          <p:cNvSpPr/>
          <p:nvPr/>
        </p:nvSpPr>
        <p:spPr>
          <a:xfrm>
            <a:off x="2231136"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Trial turns paid</a:t>
            </a:r>
            <a:endParaRPr lang="en-US" sz="1250" dirty="0"/>
          </a:p>
        </p:txBody>
      </p:sp>
      <p:sp>
        <p:nvSpPr>
          <p:cNvPr id="31" name="Text 28"/>
          <p:cNvSpPr/>
          <p:nvPr/>
        </p:nvSpPr>
        <p:spPr>
          <a:xfrm>
            <a:off x="2231136"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cancelled before charge</a:t>
            </a:r>
            <a:endParaRPr lang="en-US" sz="1050" dirty="0"/>
          </a:p>
        </p:txBody>
      </p:sp>
      <p:sp>
        <p:nvSpPr>
          <p:cNvPr id="32" name="Shape 29"/>
          <p:cNvSpPr/>
          <p:nvPr/>
        </p:nvSpPr>
        <p:spPr>
          <a:xfrm>
            <a:off x="3785616" y="2514600"/>
            <a:ext cx="1554480" cy="1188720"/>
          </a:xfrm>
          <a:prstGeom prst="rect">
            <a:avLst/>
          </a:prstGeom>
          <a:solidFill>
            <a:srgbClr val="ECFDF5"/>
          </a:solidFill>
          <a:ln w="12700">
            <a:solidFill>
              <a:srgbClr val="ECFDF5"/>
            </a:solidFill>
            <a:prstDash val="solid"/>
          </a:ln>
        </p:spPr>
      </p:sp>
      <p:sp>
        <p:nvSpPr>
          <p:cNvPr id="33" name="Text 30"/>
          <p:cNvSpPr/>
          <p:nvPr/>
        </p:nvSpPr>
        <p:spPr>
          <a:xfrm>
            <a:off x="3895344"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C8</a:t>
            </a:r>
            <a:endParaRPr lang="en-US" sz="1600" dirty="0"/>
          </a:p>
        </p:txBody>
      </p:sp>
      <p:sp>
        <p:nvSpPr>
          <p:cNvPr id="34" name="Text 31"/>
          <p:cNvSpPr/>
          <p:nvPr/>
        </p:nvSpPr>
        <p:spPr>
          <a:xfrm>
            <a:off x="3895344"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Budget and goal</a:t>
            </a:r>
            <a:endParaRPr lang="en-US" sz="1250" dirty="0"/>
          </a:p>
        </p:txBody>
      </p:sp>
      <p:sp>
        <p:nvSpPr>
          <p:cNvPr id="35" name="Text 32"/>
          <p:cNvSpPr/>
          <p:nvPr/>
        </p:nvSpPr>
        <p:spPr>
          <a:xfrm>
            <a:off x="3895344"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envelopes, safe-to-spend</a:t>
            </a:r>
            <a:endParaRPr lang="en-US" sz="1050" dirty="0"/>
          </a:p>
        </p:txBody>
      </p:sp>
      <p:sp>
        <p:nvSpPr>
          <p:cNvPr id="36" name="Shape 33"/>
          <p:cNvSpPr/>
          <p:nvPr/>
        </p:nvSpPr>
        <p:spPr>
          <a:xfrm>
            <a:off x="5449824" y="2514600"/>
            <a:ext cx="1554480" cy="1188720"/>
          </a:xfrm>
          <a:prstGeom prst="rect">
            <a:avLst/>
          </a:prstGeom>
          <a:solidFill>
            <a:srgbClr val="ECFDF5"/>
          </a:solidFill>
          <a:ln w="12700">
            <a:solidFill>
              <a:srgbClr val="ECFDF5"/>
            </a:solidFill>
            <a:prstDash val="solid"/>
          </a:ln>
        </p:spPr>
      </p:sp>
      <p:sp>
        <p:nvSpPr>
          <p:cNvPr id="37" name="Text 34"/>
          <p:cNvSpPr/>
          <p:nvPr/>
        </p:nvSpPr>
        <p:spPr>
          <a:xfrm>
            <a:off x="5559552"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C9</a:t>
            </a:r>
            <a:endParaRPr lang="en-US" sz="1600" dirty="0"/>
          </a:p>
        </p:txBody>
      </p:sp>
      <p:sp>
        <p:nvSpPr>
          <p:cNvPr id="38" name="Text 35"/>
          <p:cNvSpPr/>
          <p:nvPr/>
        </p:nvSpPr>
        <p:spPr>
          <a:xfrm>
            <a:off x="5559552"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Scam call</a:t>
            </a:r>
            <a:endParaRPr lang="en-US" sz="1250" dirty="0"/>
          </a:p>
        </p:txBody>
      </p:sp>
      <p:sp>
        <p:nvSpPr>
          <p:cNvPr id="39" name="Text 36"/>
          <p:cNvSpPr/>
          <p:nvPr/>
        </p:nvSpPr>
        <p:spPr>
          <a:xfrm>
            <a:off x="5559552"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pause → analyst hold</a:t>
            </a:r>
            <a:endParaRPr lang="en-US" sz="1050" dirty="0"/>
          </a:p>
        </p:txBody>
      </p:sp>
      <p:sp>
        <p:nvSpPr>
          <p:cNvPr id="40" name="Shape 37"/>
          <p:cNvSpPr/>
          <p:nvPr/>
        </p:nvSpPr>
        <p:spPr>
          <a:xfrm>
            <a:off x="7114032" y="2514600"/>
            <a:ext cx="1554480" cy="1188720"/>
          </a:xfrm>
          <a:prstGeom prst="rect">
            <a:avLst/>
          </a:prstGeom>
          <a:solidFill>
            <a:srgbClr val="ECFDF5"/>
          </a:solidFill>
          <a:ln w="12700">
            <a:solidFill>
              <a:srgbClr val="ECFDF5"/>
            </a:solidFill>
            <a:prstDash val="solid"/>
          </a:ln>
        </p:spPr>
      </p:sp>
      <p:sp>
        <p:nvSpPr>
          <p:cNvPr id="41" name="Text 38"/>
          <p:cNvSpPr/>
          <p:nvPr/>
        </p:nvSpPr>
        <p:spPr>
          <a:xfrm>
            <a:off x="7223760"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C10</a:t>
            </a:r>
            <a:endParaRPr lang="en-US" sz="1600" dirty="0"/>
          </a:p>
        </p:txBody>
      </p:sp>
      <p:sp>
        <p:nvSpPr>
          <p:cNvPr id="42" name="Text 39"/>
          <p:cNvSpPr/>
          <p:nvPr/>
        </p:nvSpPr>
        <p:spPr>
          <a:xfrm>
            <a:off x="7223760"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Risky payee</a:t>
            </a:r>
            <a:endParaRPr lang="en-US" sz="1250" dirty="0"/>
          </a:p>
        </p:txBody>
      </p:sp>
      <p:sp>
        <p:nvSpPr>
          <p:cNvPr id="43" name="Text 40"/>
          <p:cNvSpPr/>
          <p:nvPr/>
        </p:nvSpPr>
        <p:spPr>
          <a:xfrm>
            <a:off x="7223760"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transfer-graph model</a:t>
            </a:r>
            <a:endParaRPr lang="en-US" sz="1050" dirty="0"/>
          </a:p>
        </p:txBody>
      </p:sp>
      <p:sp>
        <p:nvSpPr>
          <p:cNvPr id="44" name="Text 41"/>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548 ₽ </a:t>
            </a:r>
            <a:pPr indent="0" marL="0">
              <a:buNone/>
            </a:pPr>
            <a:r>
              <a:rPr lang="en-US" sz="1200" dirty="0">
                <a:solidFill>
                  <a:srgbClr val="6B7280"/>
                </a:solidFill>
                <a:latin typeface="Calibri" pitchFamily="34" charset="0"/>
                <a:ea typeface="Calibri" pitchFamily="34" charset="-122"/>
                <a:cs typeface="Calibri" pitchFamily="34" charset="-120"/>
              </a:rPr>
              <a:t>saved a month</a:t>
            </a:r>
            <a:endParaRPr lang="en-US" sz="1800" dirty="0"/>
          </a:p>
        </p:txBody>
      </p:sp>
      <p:sp>
        <p:nvSpPr>
          <p:cNvPr id="45" name="Text 42"/>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10 </a:t>
            </a:r>
            <a:pPr indent="0" marL="0">
              <a:buNone/>
            </a:pPr>
            <a:r>
              <a:rPr lang="en-US" sz="1200" dirty="0">
                <a:solidFill>
                  <a:srgbClr val="6B7280"/>
                </a:solidFill>
                <a:latin typeface="Calibri" pitchFamily="34" charset="0"/>
                <a:ea typeface="Calibri" pitchFamily="34" charset="-122"/>
                <a:cs typeface="Calibri" pitchFamily="34" charset="-120"/>
              </a:rPr>
              <a:t>done</a:t>
            </a:r>
            <a:endParaRPr lang="en-US" sz="1800" dirty="0"/>
          </a:p>
        </p:txBody>
      </p:sp>
      <p:sp>
        <p:nvSpPr>
          <p:cNvPr id="46" name="Text 43"/>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11 </a:t>
            </a:r>
            <a:pPr indent="0" marL="0">
              <a:buNone/>
            </a:pPr>
            <a:r>
              <a:rPr lang="en-US" sz="1200" dirty="0">
                <a:solidFill>
                  <a:srgbClr val="6B7280"/>
                </a:solidFill>
                <a:latin typeface="Calibri" pitchFamily="34" charset="0"/>
                <a:ea typeface="Calibri" pitchFamily="34" charset="-122"/>
                <a:cs typeface="Calibri" pitchFamily="34" charset="-120"/>
              </a:rPr>
              <a:t>asked</a:t>
            </a:r>
            <a:endParaRPr lang="en-US" sz="1800" dirty="0"/>
          </a:p>
        </p:txBody>
      </p:sp>
      <p:sp>
        <p:nvSpPr>
          <p:cNvPr id="47" name="Text 44"/>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2 </a:t>
            </a:r>
            <a:pPr indent="0" marL="0">
              <a:buNone/>
            </a:pPr>
            <a:r>
              <a:rPr lang="en-US" sz="1200" dirty="0">
                <a:solidFill>
                  <a:srgbClr val="6B7280"/>
                </a:solidFill>
                <a:latin typeface="Calibri" pitchFamily="34" charset="0"/>
                <a:ea typeface="Calibri" pitchFamily="34" charset="-122"/>
                <a:cs typeface="Calibri" pitchFamily="34" charset="-120"/>
              </a:rPr>
              <a:t>stopped</a:t>
            </a:r>
            <a:endParaRPr lang="en-US" sz="1800" dirty="0"/>
          </a:p>
        </p:txBody>
      </p:sp>
      <p:sp>
        <p:nvSpPr>
          <p:cNvPr id="48" name="Text 45"/>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292 </a:t>
            </a:r>
            <a:pPr indent="0" marL="0">
              <a:buNone/>
            </a:pPr>
            <a:r>
              <a:rPr lang="en-US" sz="1200" dirty="0">
                <a:solidFill>
                  <a:srgbClr val="6B7280"/>
                </a:solidFill>
                <a:latin typeface="Calibri" pitchFamily="34" charset="0"/>
                <a:ea typeface="Calibri" pitchFamily="34" charset="-122"/>
                <a:cs typeface="Calibri"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What the client sees</a:t>
            </a:r>
            <a:endParaRPr lang="en-US" sz="2800" dirty="0"/>
          </a:p>
        </p:txBody>
      </p:sp>
      <p:pic>
        <p:nvPicPr>
          <p:cNvPr id="4" name="Image 0" descr="/workspace/ShenzhenFinTechathonTopicA/docs/media/01_card_chat.png">    </p:cNvPr>
          <p:cNvPicPr>
            <a:picLocks noChangeAspect="1"/>
          </p:cNvPicPr>
          <p:nvPr/>
        </p:nvPicPr>
        <p:blipFill>
          <a:blip r:embed="rId1"/>
          <a:stretch>
            <a:fillRect/>
          </a:stretch>
        </p:blipFill>
        <p:spPr>
          <a:xfrm>
            <a:off x="685800" y="960120"/>
            <a:ext cx="3520440" cy="3593277"/>
          </a:xfrm>
          <a:prstGeom prst="rect">
            <a:avLst/>
          </a:prstGeom>
        </p:spPr>
      </p:pic>
      <p:sp>
        <p:nvSpPr>
          <p:cNvPr id="5" name="Shape 1"/>
          <p:cNvSpPr/>
          <p:nvPr/>
        </p:nvSpPr>
        <p:spPr>
          <a:xfrm>
            <a:off x="685800" y="960120"/>
            <a:ext cx="3520440" cy="3593277"/>
          </a:xfrm>
          <a:prstGeom prst="rect">
            <a:avLst/>
          </a:prstGeom>
          <a:ln w="9525">
            <a:solidFill>
              <a:srgbClr val="D1D5DB"/>
            </a:solidFill>
            <a:prstDash val="solid"/>
          </a:ln>
        </p:spPr>
      </p:sp>
      <p:sp>
        <p:nvSpPr>
          <p:cNvPr id="6" name="Text 2"/>
          <p:cNvSpPr/>
          <p:nvPr/>
        </p:nvSpPr>
        <p:spPr>
          <a:xfrm>
            <a:off x="502920" y="4608261"/>
            <a:ext cx="3886200" cy="365760"/>
          </a:xfrm>
          <a:prstGeom prst="rect">
            <a:avLst/>
          </a:prstGeom>
          <a:noFill/>
          <a:ln/>
        </p:spPr>
        <p:txBody>
          <a:bodyPr wrap="square" lIns="0" tIns="0" rIns="0" bIns="0"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A card: every field with its source, signed with the device key</a:t>
            </a:r>
            <a:endParaRPr lang="en-US" sz="1200" dirty="0"/>
          </a:p>
        </p:txBody>
      </p:sp>
      <p:pic>
        <p:nvPicPr>
          <p:cNvPr id="7" name="Image 1" descr="/workspace/ShenzhenFinTechathonTopicA/docs/media/06_fake_bill_chat.png">    </p:cNvPr>
          <p:cNvPicPr>
            <a:picLocks noChangeAspect="1"/>
          </p:cNvPicPr>
          <p:nvPr/>
        </p:nvPicPr>
        <p:blipFill>
          <a:blip r:embed="rId2"/>
          <a:stretch>
            <a:fillRect/>
          </a:stretch>
        </p:blipFill>
        <p:spPr>
          <a:xfrm>
            <a:off x="4709160" y="960120"/>
            <a:ext cx="3520440" cy="3593277"/>
          </a:xfrm>
          <a:prstGeom prst="rect">
            <a:avLst/>
          </a:prstGeom>
        </p:spPr>
      </p:pic>
      <p:sp>
        <p:nvSpPr>
          <p:cNvPr id="8" name="Shape 3"/>
          <p:cNvSpPr/>
          <p:nvPr/>
        </p:nvSpPr>
        <p:spPr>
          <a:xfrm>
            <a:off x="4709160" y="960120"/>
            <a:ext cx="3520440" cy="3593277"/>
          </a:xfrm>
          <a:prstGeom prst="rect">
            <a:avLst/>
          </a:prstGeom>
          <a:ln w="9525">
            <a:solidFill>
              <a:srgbClr val="D1D5DB"/>
            </a:solidFill>
            <a:prstDash val="solid"/>
          </a:ln>
        </p:spPr>
      </p:sp>
      <p:sp>
        <p:nvSpPr>
          <p:cNvPr id="9" name="Text 4"/>
          <p:cNvSpPr/>
          <p:nvPr/>
        </p:nvSpPr>
        <p:spPr>
          <a:xfrm>
            <a:off x="4526280" y="4608261"/>
            <a:ext cx="3886200" cy="365760"/>
          </a:xfrm>
          <a:prstGeom prst="rect">
            <a:avLst/>
          </a:prstGeom>
          <a:noFill/>
          <a:ln/>
        </p:spPr>
        <p:txBody>
          <a:bodyPr wrap="square" lIns="0" tIns="0" rIns="0" bIns="0"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A fake bill: stopped with reasons, case sent to analysts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Architecture</a:t>
            </a:r>
            <a:endParaRPr lang="en-US" sz="2800" dirty="0"/>
          </a:p>
        </p:txBody>
      </p:sp>
      <p:pic>
        <p:nvPicPr>
          <p:cNvPr id="4" name="Image 0" descr="/workspace/ShenzhenFinTechathonTopicA/docs/diagrams/architecture.png">    </p:cNvPr>
          <p:cNvPicPr>
            <a:picLocks noChangeAspect="1"/>
          </p:cNvPicPr>
          <p:nvPr/>
        </p:nvPicPr>
        <p:blipFill>
          <a:blip r:embed="rId1"/>
          <a:stretch>
            <a:fillRect/>
          </a:stretch>
        </p:blipFill>
        <p:spPr>
          <a:xfrm>
            <a:off x="457200" y="1005840"/>
            <a:ext cx="8229600" cy="415169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Every intent goes through the same kernel pipeline</a:t>
            </a:r>
            <a:endParaRPr lang="en-US" sz="2800" dirty="0"/>
          </a:p>
        </p:txBody>
      </p:sp>
      <p:sp>
        <p:nvSpPr>
          <p:cNvPr id="4" name="Shape 1"/>
          <p:cNvSpPr/>
          <p:nvPr/>
        </p:nvSpPr>
        <p:spPr>
          <a:xfrm>
            <a:off x="457200" y="1234440"/>
            <a:ext cx="1325880" cy="640080"/>
          </a:xfrm>
          <a:prstGeom prst="chevron">
            <a:avLst/>
          </a:prstGeom>
          <a:solidFill>
            <a:srgbClr val="10B981"/>
          </a:solidFill>
          <a:ln w="12700">
            <a:solidFill>
              <a:srgbClr val="FFFFFF"/>
            </a:solidFill>
            <a:prstDash val="solid"/>
          </a:ln>
        </p:spPr>
      </p:sp>
      <p:sp>
        <p:nvSpPr>
          <p:cNvPr id="5" name="Text 2"/>
          <p:cNvSpPr/>
          <p:nvPr/>
        </p:nvSpPr>
        <p:spPr>
          <a:xfrm>
            <a:off x="5943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Passport</a:t>
            </a:r>
            <a:endParaRPr lang="en-US" sz="1150" dirty="0"/>
          </a:p>
        </p:txBody>
      </p:sp>
      <p:sp>
        <p:nvSpPr>
          <p:cNvPr id="6" name="Shape 3"/>
          <p:cNvSpPr/>
          <p:nvPr/>
        </p:nvSpPr>
        <p:spPr>
          <a:xfrm>
            <a:off x="1828800" y="1234440"/>
            <a:ext cx="1325880" cy="640080"/>
          </a:xfrm>
          <a:prstGeom prst="chevron">
            <a:avLst/>
          </a:prstGeom>
          <a:solidFill>
            <a:srgbClr val="10B981"/>
          </a:solidFill>
          <a:ln w="12700">
            <a:solidFill>
              <a:srgbClr val="FFFFFF"/>
            </a:solidFill>
            <a:prstDash val="solid"/>
          </a:ln>
        </p:spPr>
      </p:sp>
      <p:sp>
        <p:nvSpPr>
          <p:cNvPr id="7" name="Text 4"/>
          <p:cNvSpPr/>
          <p:nvPr/>
        </p:nvSpPr>
        <p:spPr>
          <a:xfrm>
            <a:off x="19659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Schema</a:t>
            </a:r>
            <a:endParaRPr lang="en-US" sz="1150" dirty="0"/>
          </a:p>
        </p:txBody>
      </p:sp>
      <p:sp>
        <p:nvSpPr>
          <p:cNvPr id="8" name="Shape 5"/>
          <p:cNvSpPr/>
          <p:nvPr/>
        </p:nvSpPr>
        <p:spPr>
          <a:xfrm>
            <a:off x="3200400" y="1234440"/>
            <a:ext cx="1325880" cy="640080"/>
          </a:xfrm>
          <a:prstGeom prst="chevron">
            <a:avLst/>
          </a:prstGeom>
          <a:solidFill>
            <a:srgbClr val="10B981"/>
          </a:solidFill>
          <a:ln w="12700">
            <a:solidFill>
              <a:srgbClr val="FFFFFF"/>
            </a:solidFill>
            <a:prstDash val="solid"/>
          </a:ln>
        </p:spPr>
      </p:sp>
      <p:sp>
        <p:nvSpPr>
          <p:cNvPr id="9" name="Text 6"/>
          <p:cNvSpPr/>
          <p:nvPr/>
        </p:nvSpPr>
        <p:spPr>
          <a:xfrm>
            <a:off x="33375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Mandate</a:t>
            </a:r>
            <a:endParaRPr lang="en-US" sz="1150" dirty="0"/>
          </a:p>
        </p:txBody>
      </p:sp>
      <p:sp>
        <p:nvSpPr>
          <p:cNvPr id="10" name="Shape 7"/>
          <p:cNvSpPr/>
          <p:nvPr/>
        </p:nvSpPr>
        <p:spPr>
          <a:xfrm>
            <a:off x="4572000" y="1234440"/>
            <a:ext cx="1325880" cy="640080"/>
          </a:xfrm>
          <a:prstGeom prst="chevron">
            <a:avLst/>
          </a:prstGeom>
          <a:solidFill>
            <a:srgbClr val="10B981"/>
          </a:solidFill>
          <a:ln w="12700">
            <a:solidFill>
              <a:srgbClr val="FFFFFF"/>
            </a:solidFill>
            <a:prstDash val="solid"/>
          </a:ln>
        </p:spPr>
      </p:sp>
      <p:sp>
        <p:nvSpPr>
          <p:cNvPr id="11" name="Text 8"/>
          <p:cNvSpPr/>
          <p:nvPr/>
        </p:nvSpPr>
        <p:spPr>
          <a:xfrm>
            <a:off x="47091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Provenance</a:t>
            </a:r>
            <a:endParaRPr lang="en-US" sz="1150" dirty="0"/>
          </a:p>
        </p:txBody>
      </p:sp>
      <p:sp>
        <p:nvSpPr>
          <p:cNvPr id="12" name="Shape 9"/>
          <p:cNvSpPr/>
          <p:nvPr/>
        </p:nvSpPr>
        <p:spPr>
          <a:xfrm>
            <a:off x="5943600" y="1234440"/>
            <a:ext cx="1325880" cy="640080"/>
          </a:xfrm>
          <a:prstGeom prst="chevron">
            <a:avLst/>
          </a:prstGeom>
          <a:solidFill>
            <a:srgbClr val="10B981"/>
          </a:solidFill>
          <a:ln w="12700">
            <a:solidFill>
              <a:srgbClr val="FFFFFF"/>
            </a:solidFill>
            <a:prstDash val="solid"/>
          </a:ln>
        </p:spPr>
      </p:sp>
      <p:sp>
        <p:nvSpPr>
          <p:cNvPr id="13" name="Text 10"/>
          <p:cNvSpPr/>
          <p:nvPr/>
        </p:nvSpPr>
        <p:spPr>
          <a:xfrm>
            <a:off x="60807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References</a:t>
            </a:r>
            <a:endParaRPr lang="en-US" sz="1150" dirty="0"/>
          </a:p>
        </p:txBody>
      </p:sp>
      <p:sp>
        <p:nvSpPr>
          <p:cNvPr id="14" name="Shape 11"/>
          <p:cNvSpPr/>
          <p:nvPr/>
        </p:nvSpPr>
        <p:spPr>
          <a:xfrm>
            <a:off x="7315200" y="1234440"/>
            <a:ext cx="1325880" cy="640080"/>
          </a:xfrm>
          <a:prstGeom prst="chevron">
            <a:avLst/>
          </a:prstGeom>
          <a:solidFill>
            <a:srgbClr val="10B981"/>
          </a:solidFill>
          <a:ln w="12700">
            <a:solidFill>
              <a:srgbClr val="FFFFFF"/>
            </a:solidFill>
            <a:prstDash val="solid"/>
          </a:ln>
        </p:spPr>
      </p:sp>
      <p:sp>
        <p:nvSpPr>
          <p:cNvPr id="15" name="Text 12"/>
          <p:cNvSpPr/>
          <p:nvPr/>
        </p:nvSpPr>
        <p:spPr>
          <a:xfrm>
            <a:off x="74523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Policy</a:t>
            </a:r>
            <a:endParaRPr lang="en-US" sz="1150" dirty="0"/>
          </a:p>
        </p:txBody>
      </p:sp>
      <p:sp>
        <p:nvSpPr>
          <p:cNvPr id="16" name="Shape 13"/>
          <p:cNvSpPr/>
          <p:nvPr/>
        </p:nvSpPr>
        <p:spPr>
          <a:xfrm>
            <a:off x="457200" y="2103120"/>
            <a:ext cx="1325880" cy="640080"/>
          </a:xfrm>
          <a:prstGeom prst="chevron">
            <a:avLst/>
          </a:prstGeom>
          <a:solidFill>
            <a:srgbClr val="10B981"/>
          </a:solidFill>
          <a:ln w="12700">
            <a:solidFill>
              <a:srgbClr val="FFFFFF"/>
            </a:solidFill>
            <a:prstDash val="solid"/>
          </a:ln>
        </p:spPr>
      </p:sp>
      <p:sp>
        <p:nvSpPr>
          <p:cNvPr id="17" name="Text 14"/>
          <p:cNvSpPr/>
          <p:nvPr/>
        </p:nvSpPr>
        <p:spPr>
          <a:xfrm>
            <a:off x="5943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p>
        </p:txBody>
      </p:sp>
      <p:sp>
        <p:nvSpPr>
          <p:cNvPr id="18" name="Shape 15"/>
          <p:cNvSpPr/>
          <p:nvPr/>
        </p:nvSpPr>
        <p:spPr>
          <a:xfrm>
            <a:off x="1828800" y="2103120"/>
            <a:ext cx="1325880" cy="640080"/>
          </a:xfrm>
          <a:prstGeom prst="chevron">
            <a:avLst/>
          </a:prstGeom>
          <a:solidFill>
            <a:srgbClr val="10B981"/>
          </a:solidFill>
          <a:ln w="12700">
            <a:solidFill>
              <a:srgbClr val="FFFFFF"/>
            </a:solidFill>
            <a:prstDash val="solid"/>
          </a:ln>
        </p:spPr>
      </p:sp>
      <p:sp>
        <p:nvSpPr>
          <p:cNvPr id="19" name="Text 16"/>
          <p:cNvSpPr/>
          <p:nvPr/>
        </p:nvSpPr>
        <p:spPr>
          <a:xfrm>
            <a:off x="19659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Critic</a:t>
            </a:r>
            <a:endParaRPr lang="en-US" sz="1150" dirty="0"/>
          </a:p>
        </p:txBody>
      </p:sp>
      <p:sp>
        <p:nvSpPr>
          <p:cNvPr id="20" name="Shape 17"/>
          <p:cNvSpPr/>
          <p:nvPr/>
        </p:nvSpPr>
        <p:spPr>
          <a:xfrm>
            <a:off x="3200400" y="2103120"/>
            <a:ext cx="1325880" cy="640080"/>
          </a:xfrm>
          <a:prstGeom prst="chevron">
            <a:avLst/>
          </a:prstGeom>
          <a:solidFill>
            <a:srgbClr val="10B981"/>
          </a:solidFill>
          <a:ln w="12700">
            <a:solidFill>
              <a:srgbClr val="FFFFFF"/>
            </a:solidFill>
            <a:prstDash val="solid"/>
          </a:ln>
        </p:spPr>
      </p:sp>
      <p:sp>
        <p:nvSpPr>
          <p:cNvPr id="21" name="Text 18"/>
          <p:cNvSpPr/>
          <p:nvPr/>
        </p:nvSpPr>
        <p:spPr>
          <a:xfrm>
            <a:off x="33375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Shadow run</a:t>
            </a:r>
            <a:endParaRPr lang="en-US" sz="1150" dirty="0"/>
          </a:p>
        </p:txBody>
      </p:sp>
      <p:sp>
        <p:nvSpPr>
          <p:cNvPr id="22" name="Shape 19"/>
          <p:cNvSpPr/>
          <p:nvPr/>
        </p:nvSpPr>
        <p:spPr>
          <a:xfrm>
            <a:off x="4572000" y="2103120"/>
            <a:ext cx="1325880" cy="640080"/>
          </a:xfrm>
          <a:prstGeom prst="chevron">
            <a:avLst/>
          </a:prstGeom>
          <a:solidFill>
            <a:srgbClr val="064E3B"/>
          </a:solidFill>
          <a:ln w="12700">
            <a:solidFill>
              <a:srgbClr val="FFFFFF"/>
            </a:solidFill>
            <a:prstDash val="solid"/>
          </a:ln>
        </p:spPr>
      </p:sp>
      <p:sp>
        <p:nvSpPr>
          <p:cNvPr id="23" name="Text 20"/>
          <p:cNvSpPr/>
          <p:nvPr/>
        </p:nvSpPr>
        <p:spPr>
          <a:xfrm>
            <a:off x="47091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Execute</a:t>
            </a:r>
            <a:endParaRPr lang="en-US" sz="1150" dirty="0"/>
          </a:p>
        </p:txBody>
      </p:sp>
      <p:sp>
        <p:nvSpPr>
          <p:cNvPr id="24" name="Shape 21"/>
          <p:cNvSpPr/>
          <p:nvPr/>
        </p:nvSpPr>
        <p:spPr>
          <a:xfrm>
            <a:off x="5943600" y="2103120"/>
            <a:ext cx="1325880" cy="640080"/>
          </a:xfrm>
          <a:prstGeom prst="chevron">
            <a:avLst/>
          </a:prstGeom>
          <a:solidFill>
            <a:srgbClr val="064E3B"/>
          </a:solidFill>
          <a:ln w="12700">
            <a:solidFill>
              <a:srgbClr val="FFFFFF"/>
            </a:solidFill>
            <a:prstDash val="solid"/>
          </a:ln>
        </p:spPr>
      </p:sp>
      <p:sp>
        <p:nvSpPr>
          <p:cNvPr id="25" name="Text 22"/>
          <p:cNvSpPr/>
          <p:nvPr/>
        </p:nvSpPr>
        <p:spPr>
          <a:xfrm>
            <a:off x="60807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Verify</a:t>
            </a:r>
            <a:endParaRPr lang="en-US" sz="1150" dirty="0"/>
          </a:p>
        </p:txBody>
      </p:sp>
      <p:sp>
        <p:nvSpPr>
          <p:cNvPr id="26" name="Text 23"/>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Provenance  </a:t>
            </a:r>
            <a:pPr indent="0" marL="0">
              <a:buNone/>
            </a:pPr>
            <a:r>
              <a:rPr lang="en-US" sz="1200" dirty="0">
                <a:solidFill>
                  <a:srgbClr val="1F2937"/>
                </a:solidFill>
                <a:latin typeface="Calibri" pitchFamily="34" charset="0"/>
                <a:ea typeface="Calibri" pitchFamily="34" charset="-122"/>
                <a:cs typeface="Calibri" pitchFamily="34" charset="-120"/>
              </a:rPr>
              <a:t>CLIENT · BANK · UNTRUSTED. A value from a bill or a web page can never set the payee or the amount.</a:t>
            </a:r>
            <a:endParaRPr lang="en-US" sz="1200" dirty="0"/>
          </a:p>
        </p:txBody>
      </p:sp>
      <p:sp>
        <p:nvSpPr>
          <p:cNvPr id="27" name="Text 24"/>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Critic  </a:t>
            </a:r>
            <a:pPr indent="0" marL="0">
              <a:buNone/>
            </a:pPr>
            <a:r>
              <a:rPr lang="en-US" sz="1200" dirty="0">
                <a:solidFill>
                  <a:srgbClr val="1F2937"/>
                </a:solidFill>
                <a:latin typeface="Calibri" pitchFamily="34" charset="0"/>
                <a:ea typeface="Calibri" pitchFamily="34" charset="-122"/>
                <a:cs typeface="Calibri" pitchFamily="34" charset="-120"/>
              </a:rPr>
              <a:t>A second model sees only the client's words and the card, not the documents an attacker controls.</a:t>
            </a:r>
            <a:endParaRPr lang="en-US" sz="1200" dirty="0"/>
          </a:p>
        </p:txBody>
      </p:sp>
      <p:sp>
        <p:nvSpPr>
          <p:cNvPr id="28" name="Text 25"/>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Shadow run  </a:t>
            </a:r>
            <a:pPr indent="0" marL="0">
              <a:buNone/>
            </a:pPr>
            <a:r>
              <a:rPr lang="en-US" sz="1200" dirty="0">
                <a:solidFill>
                  <a:srgbClr val="1F2937"/>
                </a:solidFill>
                <a:latin typeface="Calibri" pitchFamily="34" charset="0"/>
                <a:ea typeface="Calibri" pitchFamily="34" charset="-122"/>
                <a:cs typeface="Calibri" pitchFamily="34" charset="-120"/>
              </a:rPr>
              <a:t>The payment is rehearsed in a copy of the bank; if money moves differently, it is denied.</a:t>
            </a:r>
            <a:endParaRPr lang="en-US" sz="1200" dirty="0"/>
          </a:p>
        </p:txBody>
      </p:sp>
      <p:sp>
        <p:nvSpPr>
          <p:cNvPr id="29" name="Text 26"/>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Trust levels 0–2  </a:t>
            </a:r>
            <a:pPr indent="0" marL="0">
              <a:buNone/>
            </a:pPr>
            <a:r>
              <a:rPr lang="en-US" sz="1200" dirty="0">
                <a:solidFill>
                  <a:srgbClr val="1F2937"/>
                </a:solidFill>
                <a:latin typeface="Calibri" pitchFamily="34" charset="0"/>
                <a:ea typeface="Calibri" pitchFamily="34" charset="-122"/>
                <a:cs typeface="Calibri" pitchFamily="34" charset="-120"/>
              </a:rPr>
              <a:t>Level 1 limit 1 000 ₽; promotion after 5 verified results in a row. Autonomy stages 1–2,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Budget and payee risk: measured, not claimed</a:t>
            </a:r>
            <a:endParaRPr lang="en-US" sz="2800" dirty="0"/>
          </a:p>
        </p:txBody>
      </p:sp>
      <p:sp>
        <p:nvSpPr>
          <p:cNvPr id="4" name="Text 1"/>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C8 budget</a:t>
            </a:r>
            <a:endParaRPr lang="en-US" sz="1700" dirty="0"/>
          </a:p>
        </p:txBody>
      </p:sp>
      <p:sp>
        <p:nvSpPr>
          <p:cNvPr id="5" name="Text 2"/>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C10 payee risk on the transfer graph</a:t>
            </a:r>
            <a:endParaRPr lang="en-US" sz="1700" dirty="0"/>
          </a:p>
        </p:txBody>
      </p:sp>
      <p:sp>
        <p:nvSpPr>
          <p:cNvPr id="6" name="Shape 3"/>
          <p:cNvSpPr/>
          <p:nvPr/>
        </p:nvSpPr>
        <p:spPr>
          <a:xfrm>
            <a:off x="457200" y="1554480"/>
            <a:ext cx="1920240" cy="1234440"/>
          </a:xfrm>
          <a:prstGeom prst="rect">
            <a:avLst/>
          </a:prstGeom>
          <a:solidFill>
            <a:srgbClr val="ECFDF5"/>
          </a:solidFill>
          <a:ln w="12700">
            <a:solidFill>
              <a:srgbClr val="ECFDF5"/>
            </a:solidFill>
            <a:prstDash val="solid"/>
          </a:ln>
        </p:spPr>
      </p:sp>
      <p:sp>
        <p:nvSpPr>
          <p:cNvPr id="7" name="Text 4"/>
          <p:cNvSpPr/>
          <p:nvPr/>
        </p:nvSpPr>
        <p:spPr>
          <a:xfrm>
            <a:off x="45720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5/5</a:t>
            </a:r>
            <a:endParaRPr lang="en-US" sz="3200" dirty="0"/>
          </a:p>
        </p:txBody>
      </p:sp>
      <p:sp>
        <p:nvSpPr>
          <p:cNvPr id="8" name="Text 5"/>
          <p:cNvSpPr/>
          <p:nvPr/>
        </p:nvSpPr>
        <p:spPr>
          <a:xfrm>
            <a:off x="54864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planted leaks found, 847 ₽ a month</a:t>
            </a:r>
            <a:endParaRPr lang="en-US" sz="1100" dirty="0"/>
          </a:p>
        </p:txBody>
      </p:sp>
      <p:sp>
        <p:nvSpPr>
          <p:cNvPr id="9" name="Shape 6"/>
          <p:cNvSpPr/>
          <p:nvPr/>
        </p:nvSpPr>
        <p:spPr>
          <a:xfrm>
            <a:off x="2560320" y="1554480"/>
            <a:ext cx="1920240" cy="1234440"/>
          </a:xfrm>
          <a:prstGeom prst="rect">
            <a:avLst/>
          </a:prstGeom>
          <a:solidFill>
            <a:srgbClr val="ECFDF5"/>
          </a:solidFill>
          <a:ln w="12700">
            <a:solidFill>
              <a:srgbClr val="ECFDF5"/>
            </a:solidFill>
            <a:prstDash val="solid"/>
          </a:ln>
        </p:spPr>
      </p:sp>
      <p:sp>
        <p:nvSpPr>
          <p:cNvPr id="10" name="Text 7"/>
          <p:cNvSpPr/>
          <p:nvPr/>
        </p:nvSpPr>
        <p:spPr>
          <a:xfrm>
            <a:off x="256032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27.3%</a:t>
            </a:r>
            <a:endParaRPr lang="en-US" sz="3200" dirty="0"/>
          </a:p>
        </p:txBody>
      </p:sp>
      <p:sp>
        <p:nvSpPr>
          <p:cNvPr id="11" name="Text 8"/>
          <p:cNvSpPr/>
          <p:nvPr/>
        </p:nvSpPr>
        <p:spPr>
          <a:xfrm>
            <a:off x="265176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spending forecast error (WAPE), held-out months</a:t>
            </a:r>
            <a:endParaRPr lang="en-US" sz="1100" dirty="0"/>
          </a:p>
        </p:txBody>
      </p:sp>
      <p:sp>
        <p:nvSpPr>
          <p:cNvPr id="12" name="Shape 9"/>
          <p:cNvSpPr/>
          <p:nvPr/>
        </p:nvSpPr>
        <p:spPr>
          <a:xfrm>
            <a:off x="457200" y="2926080"/>
            <a:ext cx="1920240" cy="1234440"/>
          </a:xfrm>
          <a:prstGeom prst="rect">
            <a:avLst/>
          </a:prstGeom>
          <a:solidFill>
            <a:srgbClr val="ECFDF5"/>
          </a:solidFill>
          <a:ln w="12700">
            <a:solidFill>
              <a:srgbClr val="ECFDF5"/>
            </a:solidFill>
            <a:prstDash val="solid"/>
          </a:ln>
        </p:spPr>
      </p:sp>
      <p:sp>
        <p:nvSpPr>
          <p:cNvPr id="13" name="Text 10"/>
          <p:cNvSpPr/>
          <p:nvPr/>
        </p:nvSpPr>
        <p:spPr>
          <a:xfrm>
            <a:off x="45720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1/1</a:t>
            </a:r>
            <a:endParaRPr lang="en-US" sz="3200" dirty="0"/>
          </a:p>
        </p:txBody>
      </p:sp>
      <p:sp>
        <p:nvSpPr>
          <p:cNvPr id="14" name="Text 11"/>
          <p:cNvSpPr/>
          <p:nvPr/>
        </p:nvSpPr>
        <p:spPr>
          <a:xfrm>
            <a:off x="54864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cash gap caught in time, 0 false alarms in 18 probes</a:t>
            </a:r>
            <a:endParaRPr lang="en-US" sz="1100" dirty="0"/>
          </a:p>
        </p:txBody>
      </p:sp>
      <p:sp>
        <p:nvSpPr>
          <p:cNvPr id="15" name="Shape 12"/>
          <p:cNvSpPr/>
          <p:nvPr/>
        </p:nvSpPr>
        <p:spPr>
          <a:xfrm>
            <a:off x="2560320" y="2926080"/>
            <a:ext cx="1920240" cy="1234440"/>
          </a:xfrm>
          <a:prstGeom prst="rect">
            <a:avLst/>
          </a:prstGeom>
          <a:solidFill>
            <a:srgbClr val="ECFDF5"/>
          </a:solidFill>
          <a:ln w="12700">
            <a:solidFill>
              <a:srgbClr val="ECFDF5"/>
            </a:solidFill>
            <a:prstDash val="solid"/>
          </a:ln>
        </p:spPr>
      </p:sp>
      <p:sp>
        <p:nvSpPr>
          <p:cNvPr id="16" name="Text 13"/>
          <p:cNvSpPr/>
          <p:nvPr/>
        </p:nvSpPr>
        <p:spPr>
          <a:xfrm>
            <a:off x="256032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1/1</a:t>
            </a:r>
            <a:endParaRPr lang="en-US" sz="3200" dirty="0"/>
          </a:p>
        </p:txBody>
      </p:sp>
      <p:sp>
        <p:nvSpPr>
          <p:cNvPr id="17" name="Text 14"/>
          <p:cNvSpPr/>
          <p:nvPr/>
        </p:nvSpPr>
        <p:spPr>
          <a:xfrm>
            <a:off x="265176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double charge on the same card found</a:t>
            </a:r>
            <a:endParaRPr lang="en-US" sz="1100" dirty="0"/>
          </a:p>
        </p:txBody>
      </p:sp>
      <p:sp>
        <p:nvSpPr>
          <p:cNvPr id="18" name="Shape 15"/>
          <p:cNvSpPr/>
          <p:nvPr/>
        </p:nvSpPr>
        <p:spPr>
          <a:xfrm>
            <a:off x="4663440" y="1554480"/>
            <a:ext cx="1920240" cy="1234440"/>
          </a:xfrm>
          <a:prstGeom prst="rect">
            <a:avLst/>
          </a:prstGeom>
          <a:solidFill>
            <a:srgbClr val="ECFDF5"/>
          </a:solidFill>
          <a:ln w="12700">
            <a:solidFill>
              <a:srgbClr val="ECFDF5"/>
            </a:solidFill>
            <a:prstDash val="solid"/>
          </a:ln>
        </p:spPr>
      </p:sp>
      <p:sp>
        <p:nvSpPr>
          <p:cNvPr id="19" name="Text 16"/>
          <p:cNvSpPr/>
          <p:nvPr/>
        </p:nvSpPr>
        <p:spPr>
          <a:xfrm>
            <a:off x="466344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1.00</a:t>
            </a:r>
            <a:endParaRPr lang="en-US" sz="3200" dirty="0"/>
          </a:p>
        </p:txBody>
      </p:sp>
      <p:sp>
        <p:nvSpPr>
          <p:cNvPr id="20" name="Text 17"/>
          <p:cNvSpPr/>
          <p:nvPr/>
        </p:nvSpPr>
        <p:spPr>
          <a:xfrm>
            <a:off x="475488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ROC-AUC on held-out graphs</a:t>
            </a:r>
            <a:endParaRPr lang="en-US" sz="1100" dirty="0"/>
          </a:p>
        </p:txBody>
      </p:sp>
      <p:sp>
        <p:nvSpPr>
          <p:cNvPr id="21" name="Shape 18"/>
          <p:cNvSpPr/>
          <p:nvPr/>
        </p:nvSpPr>
        <p:spPr>
          <a:xfrm>
            <a:off x="6766560" y="1554480"/>
            <a:ext cx="1920240" cy="1234440"/>
          </a:xfrm>
          <a:prstGeom prst="rect">
            <a:avLst/>
          </a:prstGeom>
          <a:solidFill>
            <a:srgbClr val="ECFDF5"/>
          </a:solidFill>
          <a:ln w="12700">
            <a:solidFill>
              <a:srgbClr val="ECFDF5"/>
            </a:solidFill>
            <a:prstDash val="solid"/>
          </a:ln>
        </p:spPr>
      </p:sp>
      <p:sp>
        <p:nvSpPr>
          <p:cNvPr id="22" name="Text 19"/>
          <p:cNvSpPr/>
          <p:nvPr/>
        </p:nvSpPr>
        <p:spPr>
          <a:xfrm>
            <a:off x="676656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0.993</a:t>
            </a:r>
            <a:endParaRPr lang="en-US" sz="3200" dirty="0"/>
          </a:p>
        </p:txBody>
      </p:sp>
      <p:sp>
        <p:nvSpPr>
          <p:cNvPr id="23" name="Text 20"/>
          <p:cNvSpPr/>
          <p:nvPr/>
        </p:nvSpPr>
        <p:spPr>
          <a:xfrm>
            <a:off x="685800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precision at threshold 0.7</a:t>
            </a:r>
            <a:endParaRPr lang="en-US" sz="1100" dirty="0"/>
          </a:p>
        </p:txBody>
      </p:sp>
      <p:sp>
        <p:nvSpPr>
          <p:cNvPr id="24" name="Shape 21"/>
          <p:cNvSpPr/>
          <p:nvPr/>
        </p:nvSpPr>
        <p:spPr>
          <a:xfrm>
            <a:off x="4663440" y="2926080"/>
            <a:ext cx="1920240" cy="1234440"/>
          </a:xfrm>
          <a:prstGeom prst="rect">
            <a:avLst/>
          </a:prstGeom>
          <a:solidFill>
            <a:srgbClr val="ECFDF5"/>
          </a:solidFill>
          <a:ln w="12700">
            <a:solidFill>
              <a:srgbClr val="ECFDF5"/>
            </a:solidFill>
            <a:prstDash val="solid"/>
          </a:ln>
        </p:spPr>
      </p:sp>
      <p:sp>
        <p:nvSpPr>
          <p:cNvPr id="25" name="Text 22"/>
          <p:cNvSpPr/>
          <p:nvPr/>
        </p:nvSpPr>
        <p:spPr>
          <a:xfrm>
            <a:off x="466344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0.944</a:t>
            </a:r>
            <a:endParaRPr lang="en-US" sz="3200" dirty="0"/>
          </a:p>
        </p:txBody>
      </p:sp>
      <p:sp>
        <p:nvSpPr>
          <p:cNvPr id="26" name="Text 23"/>
          <p:cNvSpPr/>
          <p:nvPr/>
        </p:nvSpPr>
        <p:spPr>
          <a:xfrm>
            <a:off x="475488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recall over mule schemes</a:t>
            </a:r>
            <a:endParaRPr lang="en-US" sz="1100" dirty="0"/>
          </a:p>
        </p:txBody>
      </p:sp>
      <p:sp>
        <p:nvSpPr>
          <p:cNvPr id="27" name="Shape 24"/>
          <p:cNvSpPr/>
          <p:nvPr/>
        </p:nvSpPr>
        <p:spPr>
          <a:xfrm>
            <a:off x="6766560" y="2926080"/>
            <a:ext cx="1920240" cy="1234440"/>
          </a:xfrm>
          <a:prstGeom prst="rect">
            <a:avLst/>
          </a:prstGeom>
          <a:solidFill>
            <a:srgbClr val="ECFDF5"/>
          </a:solidFill>
          <a:ln w="12700">
            <a:solidFill>
              <a:srgbClr val="ECFDF5"/>
            </a:solidFill>
            <a:prstDash val="solid"/>
          </a:ln>
        </p:spPr>
      </p:sp>
      <p:sp>
        <p:nvSpPr>
          <p:cNvPr id="28" name="Text 25"/>
          <p:cNvSpPr/>
          <p:nvPr/>
        </p:nvSpPr>
        <p:spPr>
          <a:xfrm>
            <a:off x="676656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a:t>
            </a:r>
            <a:endParaRPr lang="en-US" sz="3200" dirty="0"/>
          </a:p>
        </p:txBody>
      </p:sp>
      <p:sp>
        <p:nvSpPr>
          <p:cNvPr id="29" name="Text 26"/>
          <p:cNvSpPr/>
          <p:nvPr/>
        </p:nvSpPr>
        <p:spPr>
          <a:xfrm>
            <a:off x="685800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false alarms on employers, merchants, landlords</a:t>
            </a:r>
            <a:endParaRPr lang="en-US" sz="1100" dirty="0"/>
          </a:p>
        </p:txBody>
      </p:sp>
      <p:sp>
        <p:nvSpPr>
          <p:cNvPr id="30" name="Text 27"/>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Synthetic graphs from our generator; real data will score lower. The model can only add a reason to ask.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Red-team: what an attacker gets</a:t>
            </a:r>
            <a:endParaRPr lang="en-US" sz="2800" dirty="0"/>
          </a:p>
        </p:txBody>
      </p:sp>
      <p:sp>
        <p:nvSpPr>
          <p:cNvPr id="4" name="Shape 1"/>
          <p:cNvSpPr/>
          <p:nvPr/>
        </p:nvSpPr>
        <p:spPr>
          <a:xfrm>
            <a:off x="457200" y="1188720"/>
            <a:ext cx="1920240" cy="1234440"/>
          </a:xfrm>
          <a:prstGeom prst="rect">
            <a:avLst/>
          </a:prstGeom>
          <a:solidFill>
            <a:srgbClr val="ECFDF5"/>
          </a:solidFill>
          <a:ln w="12700">
            <a:solidFill>
              <a:srgbClr val="ECFDF5"/>
            </a:solidFill>
            <a:prstDash val="solid"/>
          </a:ln>
        </p:spPr>
      </p:sp>
      <p:sp>
        <p:nvSpPr>
          <p:cNvPr id="5" name="Text 2"/>
          <p:cNvSpPr/>
          <p:nvPr/>
        </p:nvSpPr>
        <p:spPr>
          <a:xfrm>
            <a:off x="45720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39/39</a:t>
            </a:r>
            <a:endParaRPr lang="en-US" sz="3200" dirty="0"/>
          </a:p>
        </p:txBody>
      </p:sp>
      <p:sp>
        <p:nvSpPr>
          <p:cNvPr id="6" name="Text 3"/>
          <p:cNvSpPr/>
          <p:nvPr/>
        </p:nvSpPr>
        <p:spPr>
          <a:xfrm>
            <a:off x="54864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static attacks stopped</a:t>
            </a:r>
            <a:endParaRPr lang="en-US" sz="1100" dirty="0"/>
          </a:p>
        </p:txBody>
      </p:sp>
      <p:sp>
        <p:nvSpPr>
          <p:cNvPr id="7" name="Shape 4"/>
          <p:cNvSpPr/>
          <p:nvPr/>
        </p:nvSpPr>
        <p:spPr>
          <a:xfrm>
            <a:off x="2560320" y="1188720"/>
            <a:ext cx="1920240" cy="1234440"/>
          </a:xfrm>
          <a:prstGeom prst="rect">
            <a:avLst/>
          </a:prstGeom>
          <a:solidFill>
            <a:srgbClr val="ECFDF5"/>
          </a:solidFill>
          <a:ln w="12700">
            <a:solidFill>
              <a:srgbClr val="ECFDF5"/>
            </a:solidFill>
            <a:prstDash val="solid"/>
          </a:ln>
        </p:spPr>
      </p:sp>
      <p:sp>
        <p:nvSpPr>
          <p:cNvPr id="8" name="Text 5"/>
          <p:cNvSpPr/>
          <p:nvPr/>
        </p:nvSpPr>
        <p:spPr>
          <a:xfrm>
            <a:off x="256032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5/5</a:t>
            </a:r>
            <a:endParaRPr lang="en-US" sz="3200" dirty="0"/>
          </a:p>
        </p:txBody>
      </p:sp>
      <p:sp>
        <p:nvSpPr>
          <p:cNvPr id="9" name="Text 6"/>
          <p:cNvSpPr/>
          <p:nvPr/>
        </p:nvSpPr>
        <p:spPr>
          <a:xfrm>
            <a:off x="265176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memory-planting attacks stopped</a:t>
            </a:r>
            <a:endParaRPr lang="en-US" sz="1100" dirty="0"/>
          </a:p>
        </p:txBody>
      </p:sp>
      <p:sp>
        <p:nvSpPr>
          <p:cNvPr id="10" name="Shape 7"/>
          <p:cNvSpPr/>
          <p:nvPr/>
        </p:nvSpPr>
        <p:spPr>
          <a:xfrm>
            <a:off x="4663440" y="1188720"/>
            <a:ext cx="1920240" cy="1234440"/>
          </a:xfrm>
          <a:prstGeom prst="rect">
            <a:avLst/>
          </a:prstGeom>
          <a:solidFill>
            <a:srgbClr val="ECFDF5"/>
          </a:solidFill>
          <a:ln w="12700">
            <a:solidFill>
              <a:srgbClr val="ECFDF5"/>
            </a:solidFill>
            <a:prstDash val="solid"/>
          </a:ln>
        </p:spPr>
      </p:sp>
      <p:sp>
        <p:nvSpPr>
          <p:cNvPr id="11" name="Text 8"/>
          <p:cNvSpPr/>
          <p:nvPr/>
        </p:nvSpPr>
        <p:spPr>
          <a:xfrm>
            <a:off x="466344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0/360</a:t>
            </a:r>
            <a:endParaRPr lang="en-US" sz="3200" dirty="0"/>
          </a:p>
        </p:txBody>
      </p:sp>
      <p:sp>
        <p:nvSpPr>
          <p:cNvPr id="12" name="Text 9"/>
          <p:cNvSpPr/>
          <p:nvPr/>
        </p:nvSpPr>
        <p:spPr>
          <a:xfrm>
            <a:off x="475488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adaptive attacker's tries outside the mandate</a:t>
            </a:r>
            <a:endParaRPr lang="en-US" sz="1100" dirty="0"/>
          </a:p>
        </p:txBody>
      </p:sp>
      <p:sp>
        <p:nvSpPr>
          <p:cNvPr id="13" name="Shape 10"/>
          <p:cNvSpPr/>
          <p:nvPr/>
        </p:nvSpPr>
        <p:spPr>
          <a:xfrm>
            <a:off x="6766560" y="1188720"/>
            <a:ext cx="1920240" cy="1234440"/>
          </a:xfrm>
          <a:prstGeom prst="rect">
            <a:avLst/>
          </a:prstGeom>
          <a:solidFill>
            <a:srgbClr val="ECFDF5"/>
          </a:solidFill>
          <a:ln w="12700">
            <a:solidFill>
              <a:srgbClr val="ECFDF5"/>
            </a:solidFill>
            <a:prstDash val="solid"/>
          </a:ln>
        </p:spPr>
      </p:sp>
      <p:sp>
        <p:nvSpPr>
          <p:cNvPr id="14" name="Text 11"/>
          <p:cNvSpPr/>
          <p:nvPr/>
        </p:nvSpPr>
        <p:spPr>
          <a:xfrm>
            <a:off x="676656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20/21</a:t>
            </a:r>
            <a:endParaRPr lang="en-US" sz="3200" dirty="0"/>
          </a:p>
        </p:txBody>
      </p:sp>
      <p:sp>
        <p:nvSpPr>
          <p:cNvPr id="15" name="Text 12"/>
          <p:cNvSpPr/>
          <p:nvPr/>
        </p:nvSpPr>
        <p:spPr>
          <a:xfrm>
            <a:off x="685800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earlier prototype's suite, 1 bounded by the limit</a:t>
            </a:r>
            <a:endParaRPr lang="en-US" sz="1100" dirty="0"/>
          </a:p>
        </p:txBody>
      </p:sp>
      <p:sp>
        <p:nvSpPr>
          <p:cNvPr id="16" name="Text 13"/>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Without the kernel</a:t>
            </a:r>
            <a:endParaRPr lang="en-US" sz="1600" dirty="0"/>
          </a:p>
        </p:txBody>
      </p:sp>
      <p:sp>
        <p:nvSpPr>
          <p:cNvPr id="17" name="Text 14"/>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91C1C"/>
                </a:solidFill>
                <a:latin typeface="Calibri" pitchFamily="34" charset="0"/>
                <a:ea typeface="Calibri" pitchFamily="34" charset="-122"/>
                <a:cs typeface="Calibri" pitchFamily="34" charset="-120"/>
              </a:rPr>
              <a:t>39/39 succeeded · </a:t>
            </a:r>
            <a:pPr indent="0" marL="0">
              <a:buNone/>
            </a:pPr>
            <a:r>
              <a:rPr lang="en-US" sz="1800" b="1" dirty="0">
                <a:solidFill>
                  <a:srgbClr val="B91C1C"/>
                </a:solidFill>
                <a:latin typeface="Calibri" pitchFamily="34" charset="0"/>
                <a:ea typeface="Calibri" pitchFamily="34" charset="-122"/>
                <a:cs typeface="Calibri" pitchFamily="34" charset="-120"/>
              </a:rPr>
              <a:t>532 038.76 ₽ lost</a:t>
            </a:r>
            <a:endParaRPr lang="en-US" sz="1800" dirty="0"/>
          </a:p>
        </p:txBody>
      </p:sp>
      <p:sp>
        <p:nvSpPr>
          <p:cNvPr id="18" name="Text 15"/>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Known risks are listed openly in the security report (K1–K14): a compromised client device, a colluding analyst, synthetic training data, no SD-JWT yet.</a:t>
            </a:r>
            <a:endParaRPr lang="en-US" sz="1200" dirty="0"/>
          </a:p>
        </p:txBody>
      </p:sp>
      <p:graphicFrame>
        <p:nvGraphicFramePr>
          <p:cNvPr id="19"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Compliance: 智能体支付应用自律公约 · VI / AP2</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公约 requirement</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Guardian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Three stages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Stages 1–2 implemented, stage 3 not offered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Who provides payment is responsible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Bank module; only the bank's executor moves money</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Know your agent</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Agent passport checked at every step, in the journal</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Verify intent, clear authority</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Kernel-rendered card, device signature, critic</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Withdraw authorisation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One press, child grants revoked too</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Immutable records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Signed hash chain, append-only, anchored on chain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Human fallback, emergency stop</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Analyst hold, kill switch, 24-hour reversible hold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Elderly and minors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Elevated protection, trusted person informed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No inducement to spend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No credit or upsell; offers in model text replaced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VI / AP2</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Guardian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Intent mandate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Standing permission with limits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Cart / payment mandate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One-time mandate per card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Constraints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payees, amount range, budget, recurrence, + origins, money source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Delegation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Child grants, rights only narrow</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Signatures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Device key + kernel countersignature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Cost: most of the work needs no large model</a:t>
            </a:r>
            <a:endParaRPr lang="en-US" sz="2800" dirty="0"/>
          </a:p>
        </p:txBody>
      </p:sp>
      <p:graphicFrame>
        <p:nvGraphicFramePr>
          <p:cNvPr id="4"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5760720" y="1097280"/>
            <a:ext cx="2926080" cy="1234440"/>
          </a:xfrm>
          <a:prstGeom prst="rect">
            <a:avLst/>
          </a:prstGeom>
          <a:solidFill>
            <a:srgbClr val="ECFDF5"/>
          </a:solidFill>
          <a:ln w="12700">
            <a:solidFill>
              <a:srgbClr val="ECFDF5"/>
            </a:solidFill>
            <a:prstDash val="solid"/>
          </a:ln>
        </p:spPr>
      </p:sp>
      <p:sp>
        <p:nvSpPr>
          <p:cNvPr id="6" name="Text 2"/>
          <p:cNvSpPr/>
          <p:nvPr/>
        </p:nvSpPr>
        <p:spPr>
          <a:xfrm>
            <a:off x="5760720" y="120700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0.73 → 0.27 ₽</a:t>
            </a:r>
            <a:endParaRPr lang="en-US" sz="3200" dirty="0"/>
          </a:p>
        </p:txBody>
      </p:sp>
      <p:sp>
        <p:nvSpPr>
          <p:cNvPr id="7" name="Text 3"/>
          <p:cNvSpPr/>
          <p:nvPr/>
        </p:nvSpPr>
        <p:spPr>
          <a:xfrm>
            <a:off x="5852160" y="182880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one client's month, −63% in the second</a:t>
            </a:r>
            <a:endParaRPr lang="en-US" sz="1100" dirty="0"/>
          </a:p>
        </p:txBody>
      </p:sp>
      <p:sp>
        <p:nvSpPr>
          <p:cNvPr id="8" name="Shape 4"/>
          <p:cNvSpPr/>
          <p:nvPr/>
        </p:nvSpPr>
        <p:spPr>
          <a:xfrm>
            <a:off x="5760720" y="2423160"/>
            <a:ext cx="2926080" cy="1234440"/>
          </a:xfrm>
          <a:prstGeom prst="rect">
            <a:avLst/>
          </a:prstGeom>
          <a:solidFill>
            <a:srgbClr val="ECFDF5"/>
          </a:solidFill>
          <a:ln w="12700">
            <a:solidFill>
              <a:srgbClr val="ECFDF5"/>
            </a:solidFill>
            <a:prstDash val="solid"/>
          </a:ln>
        </p:spPr>
      </p:sp>
      <p:sp>
        <p:nvSpPr>
          <p:cNvPr id="9" name="Text 5"/>
          <p:cNvSpPr/>
          <p:nvPr/>
        </p:nvSpPr>
        <p:spPr>
          <a:xfrm>
            <a:off x="5760720" y="253288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96.7%</a:t>
            </a:r>
            <a:endParaRPr lang="en-US" sz="3200" dirty="0"/>
          </a:p>
        </p:txBody>
      </p:sp>
      <p:sp>
        <p:nvSpPr>
          <p:cNvPr id="10" name="Text 6"/>
          <p:cNvSpPr/>
          <p:nvPr/>
        </p:nvSpPr>
        <p:spPr>
          <a:xfrm>
            <a:off x="5852160" y="315468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of work on levels 0–1 (rules, templates, small model)</a:t>
            </a:r>
            <a:endParaRPr lang="en-US" sz="1100" dirty="0"/>
          </a:p>
        </p:txBody>
      </p:sp>
      <p:sp>
        <p:nvSpPr>
          <p:cNvPr id="11" name="Shape 7"/>
          <p:cNvSpPr/>
          <p:nvPr/>
        </p:nvSpPr>
        <p:spPr>
          <a:xfrm>
            <a:off x="5760720" y="3749040"/>
            <a:ext cx="2926080" cy="1234440"/>
          </a:xfrm>
          <a:prstGeom prst="rect">
            <a:avLst/>
          </a:prstGeom>
          <a:solidFill>
            <a:srgbClr val="ECFDF5"/>
          </a:solidFill>
          <a:ln w="12700">
            <a:solidFill>
              <a:srgbClr val="ECFDF5"/>
            </a:solidFill>
            <a:prstDash val="solid"/>
          </a:ln>
        </p:spPr>
      </p:sp>
      <p:sp>
        <p:nvSpPr>
          <p:cNvPr id="12" name="Text 8"/>
          <p:cNvSpPr/>
          <p:nvPr/>
        </p:nvSpPr>
        <p:spPr>
          <a:xfrm>
            <a:off x="5760720" y="385876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 270 000 ₽</a:t>
            </a:r>
            <a:endParaRPr lang="en-US" sz="3200" dirty="0"/>
          </a:p>
        </p:txBody>
      </p:sp>
      <p:sp>
        <p:nvSpPr>
          <p:cNvPr id="13" name="Text 9"/>
          <p:cNvSpPr/>
          <p:nvPr/>
        </p:nvSpPr>
        <p:spPr>
          <a:xfrm>
            <a:off x="5852160" y="448056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 month for 1 million clients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Results and what comes next</a:t>
            </a:r>
            <a:endParaRPr lang="en-US" sz="2800" dirty="0"/>
          </a:p>
        </p:txBody>
      </p:sp>
      <p:sp>
        <p:nvSpPr>
          <p:cNvPr id="4" name="Shape 1"/>
          <p:cNvSpPr/>
          <p:nvPr/>
        </p:nvSpPr>
        <p:spPr>
          <a:xfrm>
            <a:off x="457200" y="1188720"/>
            <a:ext cx="1920240" cy="1234440"/>
          </a:xfrm>
          <a:prstGeom prst="rect">
            <a:avLst/>
          </a:prstGeom>
          <a:solidFill>
            <a:srgbClr val="ECFDF5"/>
          </a:solidFill>
          <a:ln w="12700">
            <a:solidFill>
              <a:srgbClr val="ECFDF5"/>
            </a:solidFill>
            <a:prstDash val="solid"/>
          </a:ln>
        </p:spPr>
      </p:sp>
      <p:sp>
        <p:nvSpPr>
          <p:cNvPr id="5" name="Text 2"/>
          <p:cNvSpPr/>
          <p:nvPr/>
        </p:nvSpPr>
        <p:spPr>
          <a:xfrm>
            <a:off x="45720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48/48</a:t>
            </a:r>
            <a:endParaRPr lang="en-US" sz="3200" dirty="0"/>
          </a:p>
        </p:txBody>
      </p:sp>
      <p:sp>
        <p:nvSpPr>
          <p:cNvPr id="6" name="Text 3"/>
          <p:cNvSpPr/>
          <p:nvPr/>
        </p:nvSpPr>
        <p:spPr>
          <a:xfrm>
            <a:off x="54864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functional tasks, EN / RU / ZH</a:t>
            </a:r>
            <a:endParaRPr lang="en-US" sz="1100" dirty="0"/>
          </a:p>
        </p:txBody>
      </p:sp>
      <p:sp>
        <p:nvSpPr>
          <p:cNvPr id="7" name="Shape 4"/>
          <p:cNvSpPr/>
          <p:nvPr/>
        </p:nvSpPr>
        <p:spPr>
          <a:xfrm>
            <a:off x="2560320" y="1188720"/>
            <a:ext cx="1920240" cy="1234440"/>
          </a:xfrm>
          <a:prstGeom prst="rect">
            <a:avLst/>
          </a:prstGeom>
          <a:solidFill>
            <a:srgbClr val="ECFDF5"/>
          </a:solidFill>
          <a:ln w="12700">
            <a:solidFill>
              <a:srgbClr val="ECFDF5"/>
            </a:solidFill>
            <a:prstDash val="solid"/>
          </a:ln>
        </p:spPr>
      </p:sp>
      <p:sp>
        <p:nvSpPr>
          <p:cNvPr id="8" name="Text 5"/>
          <p:cNvSpPr/>
          <p:nvPr/>
        </p:nvSpPr>
        <p:spPr>
          <a:xfrm>
            <a:off x="256032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50/50</a:t>
            </a:r>
            <a:endParaRPr lang="en-US" sz="3200" dirty="0"/>
          </a:p>
        </p:txBody>
      </p:sp>
      <p:sp>
        <p:nvSpPr>
          <p:cNvPr id="9" name="Text 6"/>
          <p:cNvSpPr/>
          <p:nvPr/>
        </p:nvSpPr>
        <p:spPr>
          <a:xfrm>
            <a:off x="265176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attacks in the evaluation set stopped</a:t>
            </a:r>
            <a:endParaRPr lang="en-US" sz="1100" dirty="0"/>
          </a:p>
        </p:txBody>
      </p:sp>
      <p:sp>
        <p:nvSpPr>
          <p:cNvPr id="10" name="Shape 7"/>
          <p:cNvSpPr/>
          <p:nvPr/>
        </p:nvSpPr>
        <p:spPr>
          <a:xfrm>
            <a:off x="4663440" y="1188720"/>
            <a:ext cx="1920240" cy="1234440"/>
          </a:xfrm>
          <a:prstGeom prst="rect">
            <a:avLst/>
          </a:prstGeom>
          <a:solidFill>
            <a:srgbClr val="ECFDF5"/>
          </a:solidFill>
          <a:ln w="12700">
            <a:solidFill>
              <a:srgbClr val="ECFDF5"/>
            </a:solidFill>
            <a:prstDash val="solid"/>
          </a:ln>
        </p:spPr>
      </p:sp>
      <p:sp>
        <p:nvSpPr>
          <p:cNvPr id="11" name="Text 8"/>
          <p:cNvSpPr/>
          <p:nvPr/>
        </p:nvSpPr>
        <p:spPr>
          <a:xfrm>
            <a:off x="466344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292</a:t>
            </a:r>
            <a:endParaRPr lang="en-US" sz="3200" dirty="0"/>
          </a:p>
        </p:txBody>
      </p:sp>
      <p:sp>
        <p:nvSpPr>
          <p:cNvPr id="12" name="Text 9"/>
          <p:cNvSpPr/>
          <p:nvPr/>
        </p:nvSpPr>
        <p:spPr>
          <a:xfrm>
            <a:off x="475488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signed journal entries in the demo, chain verified</a:t>
            </a:r>
            <a:endParaRPr lang="en-US" sz="1100" dirty="0"/>
          </a:p>
        </p:txBody>
      </p:sp>
      <p:sp>
        <p:nvSpPr>
          <p:cNvPr id="13" name="Shape 10"/>
          <p:cNvSpPr/>
          <p:nvPr/>
        </p:nvSpPr>
        <p:spPr>
          <a:xfrm>
            <a:off x="6766560" y="1188720"/>
            <a:ext cx="1920240" cy="1234440"/>
          </a:xfrm>
          <a:prstGeom prst="rect">
            <a:avLst/>
          </a:prstGeom>
          <a:solidFill>
            <a:srgbClr val="ECFDF5"/>
          </a:solidFill>
          <a:ln w="12700">
            <a:solidFill>
              <a:srgbClr val="ECFDF5"/>
            </a:solidFill>
            <a:prstDash val="solid"/>
          </a:ln>
        </p:spPr>
      </p:sp>
      <p:sp>
        <p:nvSpPr>
          <p:cNvPr id="14" name="Text 11"/>
          <p:cNvSpPr/>
          <p:nvPr/>
        </p:nvSpPr>
        <p:spPr>
          <a:xfrm>
            <a:off x="676656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 keys</a:t>
            </a:r>
            <a:endParaRPr lang="en-US" sz="3200" dirty="0"/>
          </a:p>
        </p:txBody>
      </p:sp>
      <p:sp>
        <p:nvSpPr>
          <p:cNvPr id="15" name="Text 12"/>
          <p:cNvSpPr/>
          <p:nvPr/>
        </p:nvSpPr>
        <p:spPr>
          <a:xfrm>
            <a:off x="685800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needed to reproduce: replay mode, make test</a:t>
            </a:r>
            <a:endParaRPr lang="en-US" sz="1100" dirty="0"/>
          </a:p>
        </p:txBody>
      </p:sp>
      <p:sp>
        <p:nvSpPr>
          <p:cNvPr id="16" name="Text 13"/>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Next</a:t>
            </a:r>
            <a:endParaRPr lang="en-US" sz="1700" dirty="0"/>
          </a:p>
        </p:txBody>
      </p:sp>
      <p:sp>
        <p:nvSpPr>
          <p:cNvPr id="17" name="Text 14"/>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Live runs with real models; measured cost replaces the estimate</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Journal anchoring on a public test network</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SD-JWT selective disclosure for mandates; pilot with a bank's fraud team</a:t>
            </a:r>
            <a:endParaRPr lang="en-US" sz="1300" dirty="0"/>
          </a:p>
        </p:txBody>
      </p:sp>
      <p:sp>
        <p:nvSpPr>
          <p:cNvPr id="18" name="Shape 15"/>
          <p:cNvSpPr/>
          <p:nvPr/>
        </p:nvSpPr>
        <p:spPr>
          <a:xfrm>
            <a:off x="5852160" y="2743200"/>
            <a:ext cx="2834640" cy="1737360"/>
          </a:xfrm>
          <a:prstGeom prst="rect">
            <a:avLst/>
          </a:prstGeom>
          <a:solidFill>
            <a:srgbClr val="064E3B"/>
          </a:solidFill>
          <a:ln w="12700">
            <a:solidFill>
              <a:srgbClr val="064E3B"/>
            </a:solidFill>
            <a:prstDash val="solid"/>
          </a:ln>
        </p:spPr>
      </p:sp>
      <p:sp>
        <p:nvSpPr>
          <p:cNvPr id="19" name="Text 16"/>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Agents propose.</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 a bank-side safety kernel for AI payment agents</dc:title>
  <dc:subject>PptxGenJS Presentation</dc:subject>
  <dc:creator>PptxGenJS</dc:creator>
  <cp:lastModifiedBy>PptxGenJS</cp:lastModifiedBy>
  <cp:revision>1</cp:revision>
  <dcterms:created xsi:type="dcterms:W3CDTF">2026-10-18T23:38:58Z</dcterms:created>
  <dcterms:modified xsi:type="dcterms:W3CDTF">2026-10-18T23:38:58Z</dcterms:modified>
</cp:coreProperties>
</file>