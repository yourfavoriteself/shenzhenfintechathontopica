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1828"/>
                </a:solidFill>
                <a:latin typeface="Arial"/>
              </a:defRPr>
            </a:pPr>
            <a:r>
              <a:rPr sz="1200" b="0" i="0" u="none" strike="noStrike">
                <a:solidFill>
                  <a:srgbClr val="101828"/>
                </a:solidFill>
                <a:latin typeface="Arial"/>
              </a:rPr>
              <a:t>How the kernel stopped the static attacks</a:t>
            </a:r>
          </a:p>
        </c:rich>
      </c:tx>
      <c:layout/>
      <c:overlay val="0"/>
    </c:title>
    <c:autoTitleDeleted val="0"/>
    <c:plotArea>
      <c:layout/>
      <c:barChart>
        <c:barDir val="bar"/>
        <c:grouping val="clustered"/>
        <c:varyColors val="0"/>
        <c:ser>
          <c:idx val="0"/>
          <c:order val="0"/>
          <c:tx>
            <c:strRef>
              <c:f>Sheet1!$B$1</c:f>
              <c:strCache>
                <c:ptCount val="1"/>
                <c:pt idx="0">
                  <c:v>Attacks</c:v>
                </c:pt>
              </c:strCache>
            </c:strRef>
          </c:tx>
          <c:spPr>
            <a:solidFill>
              <a:srgbClr val="101828"/>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denied</c:v>
                  </c:pt>
                  <c:pt idx="1">
                    <c:v>detected</c:v>
                  </c:pt>
                  <c:pt idx="2">
                    <c:v>filtered</c:v>
                  </c:pt>
                  <c:pt idx="3">
                    <c:v>exposed</c:v>
                  </c:pt>
                  <c:pt idx="4">
                    <c:v>held</c:v>
                  </c:pt>
                </c:lvl>
              </c:multiLvlStrCache>
            </c:multiLvlStrRef>
          </c:cat>
          <c:val>
            <c:numRef>
              <c:f>Sheet1!$B$2:$B$6</c:f>
              <c:numCache>
                <c:formatCode>General</c:formatCode>
                <c:ptCount val="5"/>
                <c:pt idx="0">
                  <c:v>40</c:v>
                </c:pt>
                <c:pt idx="1">
                  <c:v>9</c:v>
                </c:pt>
                <c:pt idx="2">
                  <c:v>2</c:v>
                </c:pt>
                <c:pt idx="3">
                  <c:v>1</c:v>
                </c:pt>
                <c:pt idx="4">
                  <c:v>1</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7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1828"/>
                </a:solidFill>
                <a:latin typeface="Arial"/>
              </a:defRPr>
            </a:pPr>
            <a:r>
              <a:rPr sz="1200" b="0" i="0" u="none" strike="noStrike">
                <a:solidFill>
                  <a:srgbClr val="101828"/>
                </a:solidFill>
                <a:latin typeface="Arial"/>
              </a:rPr>
              <a:t>US dollars per task, one client, measured live</a:t>
            </a:r>
          </a:p>
        </c:rich>
      </c:tx>
      <c:layout/>
      <c:overlay val="0"/>
    </c:title>
    <c:autoTitleDeleted val="0"/>
    <c:plotArea>
      <c:layout/>
      <c:barChart>
        <c:barDir val="bar"/>
        <c:grouping val="clustered"/>
        <c:varyColors val="0"/>
        <c:ser>
          <c:idx val="0"/>
          <c:order val="0"/>
          <c:tx>
            <c:strRef>
              <c:f>Sheet1!$B$1</c:f>
              <c:strCache>
                <c:ptCount val="1"/>
                <c:pt idx="0">
                  <c:v>First month</c:v>
                </c:pt>
              </c:strCache>
            </c:strRef>
          </c:tx>
          <c:spPr>
            <a:solidFill>
              <a:srgbClr val="D0D5D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Pay for Melodify</c:v>
                  </c:pt>
                  <c:pt idx="1">
                    <c:v>Find leaks in my subscriptions</c:v>
                  </c:pt>
                  <c:pt idx="2">
                    <c:v>Was I charged twice?</c:v>
                  </c:pt>
                  <c:pt idx="3">
                    <c:v>Pay my bills</c:v>
                  </c:pt>
                  <c:pt idx="4">
                    <c:v>How much can I spend today?</c:v>
                  </c:pt>
                  <c:pt idx="5">
                    <c:v>Can I afford headphones for $181.05?</c:v>
                  </c:pt>
                  <c:pt idx="6">
                    <c:v>Month review</c:v>
                  </c:pt>
                </c:lvl>
              </c:multiLvlStrCache>
            </c:multiLvlStrRef>
          </c:cat>
          <c:val>
            <c:numRef>
              <c:f>Sheet1!$B$2:$B$8</c:f>
              <c:numCache>
                <c:formatCode>General</c:formatCode>
                <c:ptCount val="7"/>
                <c:pt idx="0">
                  <c:v>0.004558</c:v>
                </c:pt>
                <c:pt idx="1">
                  <c:v>0.000308</c:v>
                </c:pt>
                <c:pt idx="2">
                  <c:v>0.000684</c:v>
                </c:pt>
                <c:pt idx="3">
                  <c:v>0.004408</c:v>
                </c:pt>
                <c:pt idx="4">
                  <c:v>0.000545</c:v>
                </c:pt>
                <c:pt idx="5">
                  <c:v>0.000606</c:v>
                </c:pt>
                <c:pt idx="6">
                  <c:v>0.000305</c:v>
                </c:pt>
              </c:numCache>
            </c:numRef>
          </c:val>
        </c:ser>
        <c:ser>
          <c:idx val="1"/>
          <c:order val="1"/>
          <c:tx>
            <c:strRef>
              <c:f>Sheet1!$C$1</c:f>
              <c:strCache>
                <c:ptCount val="1"/>
                <c:pt idx="0">
                  <c:v>Next month</c:v>
                </c:pt>
              </c:strCache>
            </c:strRef>
          </c:tx>
          <c:spPr>
            <a:solidFill>
              <a:srgbClr val="1D4E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Pay for Melodify</c:v>
                  </c:pt>
                  <c:pt idx="1">
                    <c:v>Find leaks in my subscriptions</c:v>
                  </c:pt>
                  <c:pt idx="2">
                    <c:v>Was I charged twice?</c:v>
                  </c:pt>
                  <c:pt idx="3">
                    <c:v>Pay my bills</c:v>
                  </c:pt>
                  <c:pt idx="4">
                    <c:v>How much can I spend today?</c:v>
                  </c:pt>
                  <c:pt idx="5">
                    <c:v>Can I afford headphones for $181.05?</c:v>
                  </c:pt>
                  <c:pt idx="6">
                    <c:v>Month review</c:v>
                  </c:pt>
                </c:lvl>
              </c:multiLvlStrCache>
            </c:multiLvlStrRef>
          </c:cat>
          <c:val>
            <c:numRef>
              <c:f>Sheet1!$C$2:$C$8</c:f>
              <c:numCache>
                <c:formatCode>General</c:formatCode>
                <c:ptCount val="7"/>
                <c:pt idx="0">
                  <c:v>0</c:v>
                </c:pt>
                <c:pt idx="1">
                  <c:v>0.000313</c:v>
                </c:pt>
                <c:pt idx="2">
                  <c:v>0</c:v>
                </c:pt>
                <c:pt idx="3">
                  <c:v>0.002751</c:v>
                </c:pt>
                <c:pt idx="4">
                  <c:v>0.000437</c:v>
                </c:pt>
                <c:pt idx="5">
                  <c:v>0.000461</c:v>
                </c:pt>
                <c:pt idx="6">
                  <c:v>0.000307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7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Kseniia Kuzmina and Nikita Stepanov, the Guardian team. Our topic is A: an AI agent that pays, cancels and budgets for a bank client. Our whole project in one sentence: An AI agent may propose any payment, but money moves only inside what the client signed, and the bank can prove it. In ten minutes: the problem, the idea, three scenes from the demo, how the kernel works, the security results, cost and a pilot with a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can now pay. That brings three new problems. First, intent: a model can get the payee or the amount wrong, and nobody can prove what the client actually approved. Second, manipulation: a fake bill, a hidden instruction for AI agents in a document, or a scam call can turn the agent against its owner. Third, accountability: when something goes wrong, there is no record of who authorised what. To make it concrete: we ran our 48 attacks against an agent without our kernel. 48 succeeded and it lost $6,546.63.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to split the system in two. Agents and language models only propose an intent. A deterministic kernel inside the bank decides, executes through the bank's own executor, checks the result in the bank and writes a signed journal. That gives the client three promises. What you see is what you sign: the card is rendered by the kernel and the device key signs its hash. Nothing outside the mandate: every payment fits limits the client set. And every result is verified and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is one month in a sandbox bank with synthetic data. Ten scenarios. Pay a subscription and allow it monthly; cancel one through the merchant's API; find leaks; a double charge; bills where one is fake; a free trial turning paid; a budget with a goal; a 'safe account' scam call; and a risky payee on the transfer graph. Over the month Guardian saved $9.63 a month, did 13 things, asked 13 times and stopped 6. The whole run is in the evidence folder: 437 signed journal entries, chain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three scenes from our demo, let it be these. One: a payment the client can prove. The kernel renders the card, every field has its source, the client signs it with the device key, and next month the same payment runs alone under a standing permission. Two: an attack that goes nowhere. A fake bill imitates the electricity company, the account is not theirs, and it carries a hidden instruction for AI agents. The kernel stops it with reasons and sends the case to analysts. Three: real money logic on a real exchange. The client asks to invest ten dollars a month in SPY; the kernel checks the order with its own quote and places it. On an Alpaca paper account the order filled at $767.57. Everything else in the demo, the budget, the scam call, earned trust, is the same kernel doing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On top, the client's chat and device key. In the middle, agents with passports: the conversation agent, the budget and document agents, the critic. They call models through one gateway with a three-level ladder. Everything they propose goes to the kernel. The kernel holds mandates, the vault, the journal and the only path to the bank's executor. Merchants are reached through their API in the sandbox. The journal is in PostgreSQL with row-level security, append-only, and checkpoints are anchored by a smart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intent, whoever proposes it, goes through the same pipeline. Passport: is this agent allowed to ask. Schema. Mandate: does it fit what the client signed. Provenance: each value is labelled CLIENT, BANK or UNTRUSTED, and untrusted values cannot set a payee or an amount. References, policy and risk, including the transfer-graph model. A critic that only sees the client's own words. A shadow run in a copy of the bank. Only then a single-use grant executes, and the kernel verifies the result in the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is earned, and it is lost faster than it is earned. Every kind of task starts at level 1: inside a standing permission an agent may act alone up to $12.07. Five results in a row that the kernel verified in the bank raise it to level 2. One mistake lowers it a level, and acting outside the signed permission drops it straight to zero. The second axis is the agent itself: its role, model and the hash of its instructions. A mistake is a strike, a scope violation two. Three strikes mean 24 hours of quarantine: the kernel revokes its passports and everything it proposes needs a card. Then probation until five clean results. The client can also press Undo on any payment made alone, and that counts too. In the demo the fifth verified result promotes subscriptions; then a faulty planner tries twice, is stopped twice, and is quarantined. 0 of 2 faulty actions executed. Every change is in the signed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says: invest ten dollars a month in SPY. The agent can only propose the order. The kernel's broker step fetches its own quote and asset record from the broker and checks the order against the client's investment mandate: a short list of broad funds, plain tickers only, so no options, crypto, penny stocks, short selling or margin; $1 to $25 an order inside a $50 investment envelope; any price the agent cites must be within 2 percent of the market; one order per fund a day. The client signs the first order and can allow a monthly plan. The kernel picks the order type by the market session: a market order in regular hours, a limit order in pre market and after hours, otherwise the order waits for the open. Then it reads the order back from the broker and journals the fill. The demo uses a sandbox broker with US market hours; the same code runs on an Alpaca paper account. In the red-team, 9 of 9 attacks on orders are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analytical parts, each measured on held-out data. The budget agent found all five planted leaks and the double charge. The spending forecast has a weighted error of about 27 percent on held-out months, and the cash-gap back-test found the real gap with no false alarms. The payee risk model is gradient boosting over 14 features of the bank's transfer graph. On held-out synthetic graphs it scores ROC-AUC 1.0, precision 0.993 and recall 0.944. These are synthetic graphs from our own generator; real bank data will score lower. The point is that the pipeline is in place and the model only adds a reason to ask: it never moves money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attacked the kernel four ways. 48 static attacks: fake bills, injected instructions, swapped payees, look-alike merchants, replayed signatures, over-limit requests, off-list investment orders. All 48 stopped. 5 attacks that try to plant something in the assistant's memory for later: all stopped. An adaptive attacker that learns from the kernel's answers, 10 rounds, 360 attempts: zero payments outside the mandate. And the earlier prototype's suite: 20 of 21 prevented, one bounded by the limit. Without the kernel the same static set lost $6,546.63.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The Self-Regulatory Convention for Agent Payment Applications has three stages; we implement stage one and two, and we do not offer stage three. Whoever provides the payment service is responsible: Guardian is a bank module, only the bank's executor moves money. Know your agent: every agent has a passport checked at every step. Withdrawal of authorisation is one press. Records are immutable and anchored. There is a human fallback and stricter rules for the elderly. And the assistant sells nothing. On the right, our mandates map onto Mastercard Verifiable Intent and Google AP2 concepts. The full tables with where to check each line are in the security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Models sit on a three-level ladder: rules and templates cost nothing, then a small model, then larger ones only when risk is high. For one client's typical month the first month costs $0.0114 in tokens; the next month $0.0043, 62.6 percent less, because the repeat payment and the repeated check run from templates with no model call. In the full demo 97.6 percent of the work stays on levels zero and one. At the next-month rate a million clients cost about $4,000 a month. These numbers are measured on a live run with real models: claude-haiku-4-5-20251001 on level one, claude-sonnet-5-5 and claude-opus-5-5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this reaches real clients. The customer is the bank, not the client: Guardian runs inside the bank as the gate for its agent channel. The bank gets three things: fraud losses it does not pay out, a safe way to let third party AI assistants act for its clients, and audit evidence for the regulator. We propose a pilot in three stages. First, shadow mode for about three months: the kernel sees real agent requests and fraud cases, decides, but does not act, and we compare its decisions with the fraud team's. Second, the bank's own employees with real money and small caps. Third, a few thousand volunteer clients, starting with subscriptions and bills, then investing. We measure what the bank cares about: attacks stopped compared with its fraud team, how often a card asks the client without need, zero payments outside a mandate, and cost per client, which today is about $0.0043 a month in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48 of 48 functional tasks pass in English, Russian and Chinese, 59 of 59 attacks in the evaluation set are stopped, and the whole repository has an automated test suite that runs in the Docker build. With real models the same evaluation passes 44 of 48; every miss is the live critic stopping something a card was expected for. Everything is reproducible from the repository in replay mode without any keys. Next: the pilot with a bank, anchoring on a public test network, the payee model on real bank graphs, and SD-JWT selective disclosure for mandates. Agents propose; the kernel decides, checks and records.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5F7"/>
        </a:solidFill>
      </p:bgPr>
    </p:bg>
    <p:spTree>
      <p:nvGrpSpPr>
        <p:cNvPr id="1" name=""/>
        <p:cNvGrpSpPr/>
        <p:nvPr/>
      </p:nvGrpSpPr>
      <p:grpSpPr>
        <a:xfrm>
          <a:off x="0" y="0"/>
          <a:ext cx="0" cy="0"/>
          <a:chOff x="0" y="0"/>
          <a:chExt cx="0" cy="0"/>
        </a:xfrm>
      </p:grpSpPr>
      <p:sp>
        <p:nvSpPr>
          <p:cNvPr id="3" name="Shape 0"/>
          <p:cNvSpPr/>
          <p:nvPr/>
        </p:nvSpPr>
        <p:spPr>
          <a:xfrm>
            <a:off x="640080" y="960120"/>
            <a:ext cx="1051560" cy="1051560"/>
          </a:xfrm>
          <a:prstGeom prst="roundRect">
            <a:avLst>
              <a:gd name="adj" fmla="val 22000"/>
            </a:avLst>
          </a:prstGeom>
          <a:solidFill>
            <a:srgbClr val="C2361F"/>
          </a:solidFill>
          <a:ln w="12700">
            <a:solidFill>
              <a:srgbClr val="C2361F"/>
            </a:solidFill>
            <a:prstDash val="solid"/>
          </a:ln>
        </p:spPr>
      </p:sp>
      <p:sp>
        <p:nvSpPr>
          <p:cNvPr id="4" name="Text 1"/>
          <p:cNvSpPr/>
          <p:nvPr/>
        </p:nvSpPr>
        <p:spPr>
          <a:xfrm>
            <a:off x="640080" y="960120"/>
            <a:ext cx="1051560" cy="1051560"/>
          </a:xfrm>
          <a:prstGeom prst="rect">
            <a:avLst/>
          </a:prstGeom>
          <a:noFill/>
          <a:ln/>
        </p:spPr>
        <p:txBody>
          <a:bodyPr wrap="square" lIns="0" tIns="0" rIns="0" bIns="0" rtlCol="0" anchor="ctr"/>
          <a:lstStyle/>
          <a:p>
            <a:pPr algn="ctr" indent="0" marL="0">
              <a:buNone/>
            </a:pPr>
            <a:r>
              <a:rPr lang="en-US" sz="4600" dirty="0">
                <a:solidFill>
                  <a:srgbClr val="FFFFFF"/>
                </a:solidFill>
                <a:latin typeface="Noto Sans CJK SC" pitchFamily="34" charset="0"/>
                <a:ea typeface="Noto Sans CJK SC" pitchFamily="34" charset="-122"/>
                <a:cs typeface="Noto Sans CJK SC" pitchFamily="34" charset="-120"/>
              </a:rPr>
              <a:t>守</a:t>
            </a:r>
            <a:endParaRPr lang="en-US" sz="4600" dirty="0"/>
          </a:p>
        </p:txBody>
      </p:sp>
      <p:sp>
        <p:nvSpPr>
          <p:cNvPr id="5" name="Text 2"/>
          <p:cNvSpPr/>
          <p:nvPr/>
        </p:nvSpPr>
        <p:spPr>
          <a:xfrm>
            <a:off x="640080" y="2194560"/>
            <a:ext cx="7863840" cy="914400"/>
          </a:xfrm>
          <a:prstGeom prst="rect">
            <a:avLst/>
          </a:prstGeom>
          <a:noFill/>
          <a:ln/>
        </p:spPr>
        <p:txBody>
          <a:bodyPr wrap="square" lIns="0" tIns="0" rIns="0" bIns="0" rtlCol="0" anchor="ctr"/>
          <a:lstStyle/>
          <a:p>
            <a:pPr indent="0" marL="0">
              <a:buNone/>
            </a:pPr>
            <a:r>
              <a:rPr lang="en-US" sz="5800" b="1" dirty="0">
                <a:solidFill>
                  <a:srgbClr val="101828"/>
                </a:solidFill>
                <a:latin typeface="Inter" pitchFamily="34" charset="0"/>
                <a:ea typeface="Inter" pitchFamily="34" charset="-122"/>
                <a:cs typeface="Inter" pitchFamily="34" charset="-120"/>
              </a:rPr>
              <a:t>Guardian</a:t>
            </a:r>
            <a:endParaRPr lang="en-US" sz="5800" dirty="0"/>
          </a:p>
        </p:txBody>
      </p:sp>
      <p:sp>
        <p:nvSpPr>
          <p:cNvPr id="6" name="Text 3"/>
          <p:cNvSpPr/>
          <p:nvPr/>
        </p:nvSpPr>
        <p:spPr>
          <a:xfrm>
            <a:off x="640080" y="3063240"/>
            <a:ext cx="7863840" cy="411480"/>
          </a:xfrm>
          <a:prstGeom prst="rect">
            <a:avLst/>
          </a:prstGeom>
          <a:noFill/>
          <a:ln/>
        </p:spPr>
        <p:txBody>
          <a:bodyPr wrap="square" lIns="0" tIns="0" rIns="0" bIns="0" rtlCol="0" anchor="ctr"/>
          <a:lstStyle/>
          <a:p>
            <a:pPr indent="0" marL="0">
              <a:buNone/>
            </a:pPr>
            <a:r>
              <a:rPr lang="en-US" sz="2000" dirty="0">
                <a:solidFill>
                  <a:srgbClr val="667085"/>
                </a:solidFill>
                <a:latin typeface="Inter" pitchFamily="34" charset="0"/>
                <a:ea typeface="Inter" pitchFamily="34" charset="-122"/>
                <a:cs typeface="Inter" pitchFamily="34" charset="-120"/>
              </a:rPr>
              <a:t>A bank-side safety kernel for AI payment agents</a:t>
            </a:r>
            <a:endParaRPr lang="en-US" sz="2000" dirty="0"/>
          </a:p>
        </p:txBody>
      </p:sp>
      <p:sp>
        <p:nvSpPr>
          <p:cNvPr id="7" name="Text 4"/>
          <p:cNvSpPr/>
          <p:nvPr/>
        </p:nvSpPr>
        <p:spPr>
          <a:xfrm>
            <a:off x="640080" y="3474720"/>
            <a:ext cx="7863840" cy="685800"/>
          </a:xfrm>
          <a:prstGeom prst="rect">
            <a:avLst/>
          </a:prstGeom>
          <a:noFill/>
          <a:ln/>
        </p:spPr>
        <p:txBody>
          <a:bodyPr wrap="square" lIns="0" tIns="0" rIns="0" bIns="0" rtlCol="0" anchor="t"/>
          <a:lstStyle/>
          <a:p>
            <a:pPr indent="0" marL="0">
              <a:buNone/>
            </a:pPr>
            <a:r>
              <a:rPr lang="en-US" sz="1700" b="1" dirty="0">
                <a:solidFill>
                  <a:srgbClr val="101828"/>
                </a:solidFill>
                <a:latin typeface="Inter" pitchFamily="34" charset="0"/>
                <a:ea typeface="Inter" pitchFamily="34" charset="-122"/>
                <a:cs typeface="Inter" pitchFamily="34" charset="-120"/>
              </a:rPr>
              <a:t>An AI agent may propose any payment, but money moves only inside what the client signed, and the bank can prove it.</a:t>
            </a:r>
            <a:endParaRPr lang="en-US" sz="1700" dirty="0"/>
          </a:p>
        </p:txBody>
      </p:sp>
      <p:sp>
        <p:nvSpPr>
          <p:cNvPr id="8" name="Text 5"/>
          <p:cNvSpPr/>
          <p:nvPr/>
        </p:nvSpPr>
        <p:spPr>
          <a:xfrm>
            <a:off x="640080" y="4343400"/>
            <a:ext cx="5029200" cy="27432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Kseniia Kuzmina  ·  Nikita Stepanov</a:t>
            </a:r>
            <a:endParaRPr lang="en-US" sz="1200" dirty="0"/>
          </a:p>
        </p:txBody>
      </p:sp>
      <p:sp>
        <p:nvSpPr>
          <p:cNvPr id="9" name="Text 6"/>
          <p:cNvSpPr/>
          <p:nvPr/>
        </p:nvSpPr>
        <p:spPr>
          <a:xfrm>
            <a:off x="4206240" y="4343400"/>
            <a:ext cx="4480560" cy="274320"/>
          </a:xfrm>
          <a:prstGeom prst="rect">
            <a:avLst/>
          </a:prstGeom>
          <a:noFill/>
          <a:ln/>
        </p:spPr>
        <p:txBody>
          <a:bodyPr wrap="square" lIns="0" tIns="0" rIns="0" bIns="0" rtlCol="0" anchor="ctr"/>
          <a:lstStyle/>
          <a:p>
            <a:pPr algn="r" indent="0" marL="0">
              <a:buNone/>
            </a:pPr>
            <a:r>
              <a:rPr lang="en-US" sz="1100" dirty="0">
                <a:solidFill>
                  <a:srgbClr val="667085"/>
                </a:solidFill>
                <a:latin typeface="Inter" pitchFamily="34" charset="0"/>
                <a:ea typeface="Inter" pitchFamily="34" charset="-122"/>
                <a:cs typeface="Inter" pitchFamily="34" charset="-120"/>
              </a:rPr>
              <a:t>Shenzhen FinTechathon 2026 · International Track · Topic 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100" b="1" dirty="0">
                <a:solidFill>
                  <a:srgbClr val="101828"/>
                </a:solidFill>
                <a:latin typeface="Inter" pitchFamily="34" charset="0"/>
                <a:ea typeface="Inter" pitchFamily="34" charset="-122"/>
                <a:cs typeface="Inter" pitchFamily="34" charset="-120"/>
              </a:rPr>
              <a:t>Letting an AI agent touch money is a new attack surface</a:t>
            </a:r>
            <a:endParaRPr lang="en-US" sz="21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2 / 15</a:t>
            </a:r>
            <a:endParaRPr lang="en-US" sz="900" dirty="0"/>
          </a:p>
        </p:txBody>
      </p:sp>
      <p:sp>
        <p:nvSpPr>
          <p:cNvPr id="8" name="Text 5"/>
          <p:cNvSpPr/>
          <p:nvPr/>
        </p:nvSpPr>
        <p:spPr>
          <a:xfrm>
            <a:off x="457200" y="1188720"/>
            <a:ext cx="640080" cy="457200"/>
          </a:xfrm>
          <a:prstGeom prst="rect">
            <a:avLst/>
          </a:prstGeom>
          <a:noFill/>
          <a:ln/>
        </p:spPr>
        <p:txBody>
          <a:bodyPr wrap="square" lIns="0" tIns="0" rIns="0" bIns="0" rtlCol="0" anchor="t"/>
          <a:lstStyle/>
          <a:p>
            <a:pPr indent="0" marL="0">
              <a:buNone/>
            </a:pPr>
            <a:r>
              <a:rPr lang="en-US" sz="2600" b="1" dirty="0">
                <a:solidFill>
                  <a:srgbClr val="1D4ED8"/>
                </a:solidFill>
                <a:latin typeface="Inter" pitchFamily="34" charset="0"/>
                <a:ea typeface="Inter" pitchFamily="34" charset="-122"/>
                <a:cs typeface="Inter" pitchFamily="34" charset="-120"/>
              </a:rPr>
              <a:t>01</a:t>
            </a:r>
            <a:endParaRPr lang="en-US" sz="2600" dirty="0"/>
          </a:p>
        </p:txBody>
      </p:sp>
      <p:sp>
        <p:nvSpPr>
          <p:cNvPr id="9" name="Text 6"/>
          <p:cNvSpPr/>
          <p:nvPr/>
        </p:nvSpPr>
        <p:spPr>
          <a:xfrm>
            <a:off x="1188720" y="1188720"/>
            <a:ext cx="3840480" cy="320040"/>
          </a:xfrm>
          <a:prstGeom prst="rect">
            <a:avLst/>
          </a:prstGeom>
          <a:noFill/>
          <a:ln/>
        </p:spPr>
        <p:txBody>
          <a:bodyPr wrap="square" lIns="0" tIns="0" rIns="0" bIns="0" rtlCol="0" anchor="ctr"/>
          <a:lstStyle/>
          <a:p>
            <a:pPr indent="0" marL="0">
              <a:buNone/>
            </a:pPr>
            <a:r>
              <a:rPr lang="en-US" sz="1800" b="1" dirty="0">
                <a:solidFill>
                  <a:srgbClr val="101828"/>
                </a:solidFill>
                <a:latin typeface="Inter" pitchFamily="34" charset="0"/>
                <a:ea typeface="Inter" pitchFamily="34" charset="-122"/>
                <a:cs typeface="Inter" pitchFamily="34" charset="-120"/>
              </a:rPr>
              <a:t>Intent</a:t>
            </a:r>
            <a:endParaRPr lang="en-US" sz="1800" dirty="0"/>
          </a:p>
        </p:txBody>
      </p:sp>
      <p:sp>
        <p:nvSpPr>
          <p:cNvPr id="10" name="Text 7"/>
          <p:cNvSpPr/>
          <p:nvPr/>
        </p:nvSpPr>
        <p:spPr>
          <a:xfrm>
            <a:off x="1188720" y="1536192"/>
            <a:ext cx="4023360" cy="548640"/>
          </a:xfrm>
          <a:prstGeom prst="rect">
            <a:avLst/>
          </a:prstGeom>
          <a:noFill/>
          <a:ln/>
        </p:spPr>
        <p:txBody>
          <a:bodyPr wrap="square" lIns="0" tIns="0" rIns="0" bIns="0" rtlCol="0" anchor="ctr"/>
          <a:lstStyle/>
          <a:p>
            <a:pPr indent="0" marL="0">
              <a:buNone/>
            </a:pPr>
            <a:r>
              <a:rPr lang="en-US" sz="1300" dirty="0">
                <a:solidFill>
                  <a:srgbClr val="667085"/>
                </a:solidFill>
                <a:latin typeface="Inter" pitchFamily="34" charset="0"/>
                <a:ea typeface="Inter" pitchFamily="34" charset="-122"/>
                <a:cs typeface="Inter" pitchFamily="34" charset="-120"/>
              </a:rPr>
              <a:t>A model can pick the wrong payee or amount. The client cannot prove what they approved.</a:t>
            </a:r>
            <a:endParaRPr lang="en-US" sz="1300" dirty="0"/>
          </a:p>
        </p:txBody>
      </p:sp>
      <p:sp>
        <p:nvSpPr>
          <p:cNvPr id="11" name="Text 8"/>
          <p:cNvSpPr/>
          <p:nvPr/>
        </p:nvSpPr>
        <p:spPr>
          <a:xfrm>
            <a:off x="457200" y="2194560"/>
            <a:ext cx="640080" cy="457200"/>
          </a:xfrm>
          <a:prstGeom prst="rect">
            <a:avLst/>
          </a:prstGeom>
          <a:noFill/>
          <a:ln/>
        </p:spPr>
        <p:txBody>
          <a:bodyPr wrap="square" lIns="0" tIns="0" rIns="0" bIns="0" rtlCol="0" anchor="t"/>
          <a:lstStyle/>
          <a:p>
            <a:pPr indent="0" marL="0">
              <a:buNone/>
            </a:pPr>
            <a:r>
              <a:rPr lang="en-US" sz="2600" b="1" dirty="0">
                <a:solidFill>
                  <a:srgbClr val="1D4ED8"/>
                </a:solidFill>
                <a:latin typeface="Inter" pitchFamily="34" charset="0"/>
                <a:ea typeface="Inter" pitchFamily="34" charset="-122"/>
                <a:cs typeface="Inter" pitchFamily="34" charset="-120"/>
              </a:rPr>
              <a:t>02</a:t>
            </a:r>
            <a:endParaRPr lang="en-US" sz="2600" dirty="0"/>
          </a:p>
        </p:txBody>
      </p:sp>
      <p:sp>
        <p:nvSpPr>
          <p:cNvPr id="12" name="Text 9"/>
          <p:cNvSpPr/>
          <p:nvPr/>
        </p:nvSpPr>
        <p:spPr>
          <a:xfrm>
            <a:off x="1188720" y="2194560"/>
            <a:ext cx="3840480" cy="320040"/>
          </a:xfrm>
          <a:prstGeom prst="rect">
            <a:avLst/>
          </a:prstGeom>
          <a:noFill/>
          <a:ln/>
        </p:spPr>
        <p:txBody>
          <a:bodyPr wrap="square" lIns="0" tIns="0" rIns="0" bIns="0" rtlCol="0" anchor="ctr"/>
          <a:lstStyle/>
          <a:p>
            <a:pPr indent="0" marL="0">
              <a:buNone/>
            </a:pPr>
            <a:r>
              <a:rPr lang="en-US" sz="1800" b="1" dirty="0">
                <a:solidFill>
                  <a:srgbClr val="101828"/>
                </a:solidFill>
                <a:latin typeface="Inter" pitchFamily="34" charset="0"/>
                <a:ea typeface="Inter" pitchFamily="34" charset="-122"/>
                <a:cs typeface="Inter" pitchFamily="34" charset="-120"/>
              </a:rPr>
              <a:t>Manipulation</a:t>
            </a:r>
            <a:endParaRPr lang="en-US" sz="1800" dirty="0"/>
          </a:p>
        </p:txBody>
      </p:sp>
      <p:sp>
        <p:nvSpPr>
          <p:cNvPr id="13" name="Text 10"/>
          <p:cNvSpPr/>
          <p:nvPr/>
        </p:nvSpPr>
        <p:spPr>
          <a:xfrm>
            <a:off x="1188720" y="2542032"/>
            <a:ext cx="4023360" cy="548640"/>
          </a:xfrm>
          <a:prstGeom prst="rect">
            <a:avLst/>
          </a:prstGeom>
          <a:noFill/>
          <a:ln/>
        </p:spPr>
        <p:txBody>
          <a:bodyPr wrap="square" lIns="0" tIns="0" rIns="0" bIns="0" rtlCol="0" anchor="ctr"/>
          <a:lstStyle/>
          <a:p>
            <a:pPr indent="0" marL="0">
              <a:buNone/>
            </a:pPr>
            <a:r>
              <a:rPr lang="en-US" sz="1300" dirty="0">
                <a:solidFill>
                  <a:srgbClr val="667085"/>
                </a:solidFill>
                <a:latin typeface="Inter" pitchFamily="34" charset="0"/>
                <a:ea typeface="Inter" pitchFamily="34" charset="-122"/>
                <a:cs typeface="Inter" pitchFamily="34" charset="-120"/>
              </a:rPr>
              <a:t>Fake bills, hidden instructions for AI agents, look-alike merchants, 'safe account' scam calls.</a:t>
            </a:r>
            <a:endParaRPr lang="en-US" sz="1300" dirty="0"/>
          </a:p>
        </p:txBody>
      </p:sp>
      <p:sp>
        <p:nvSpPr>
          <p:cNvPr id="14" name="Text 11"/>
          <p:cNvSpPr/>
          <p:nvPr/>
        </p:nvSpPr>
        <p:spPr>
          <a:xfrm>
            <a:off x="457200" y="3200400"/>
            <a:ext cx="640080" cy="457200"/>
          </a:xfrm>
          <a:prstGeom prst="rect">
            <a:avLst/>
          </a:prstGeom>
          <a:noFill/>
          <a:ln/>
        </p:spPr>
        <p:txBody>
          <a:bodyPr wrap="square" lIns="0" tIns="0" rIns="0" bIns="0" rtlCol="0" anchor="t"/>
          <a:lstStyle/>
          <a:p>
            <a:pPr indent="0" marL="0">
              <a:buNone/>
            </a:pPr>
            <a:r>
              <a:rPr lang="en-US" sz="2600" b="1" dirty="0">
                <a:solidFill>
                  <a:srgbClr val="1D4ED8"/>
                </a:solidFill>
                <a:latin typeface="Inter" pitchFamily="34" charset="0"/>
                <a:ea typeface="Inter" pitchFamily="34" charset="-122"/>
                <a:cs typeface="Inter" pitchFamily="34" charset="-120"/>
              </a:rPr>
              <a:t>03</a:t>
            </a:r>
            <a:endParaRPr lang="en-US" sz="2600" dirty="0"/>
          </a:p>
        </p:txBody>
      </p:sp>
      <p:sp>
        <p:nvSpPr>
          <p:cNvPr id="15" name="Text 12"/>
          <p:cNvSpPr/>
          <p:nvPr/>
        </p:nvSpPr>
        <p:spPr>
          <a:xfrm>
            <a:off x="1188720" y="3200400"/>
            <a:ext cx="3840480" cy="320040"/>
          </a:xfrm>
          <a:prstGeom prst="rect">
            <a:avLst/>
          </a:prstGeom>
          <a:noFill/>
          <a:ln/>
        </p:spPr>
        <p:txBody>
          <a:bodyPr wrap="square" lIns="0" tIns="0" rIns="0" bIns="0" rtlCol="0" anchor="ctr"/>
          <a:lstStyle/>
          <a:p>
            <a:pPr indent="0" marL="0">
              <a:buNone/>
            </a:pPr>
            <a:r>
              <a:rPr lang="en-US" sz="1800" b="1" dirty="0">
                <a:solidFill>
                  <a:srgbClr val="101828"/>
                </a:solidFill>
                <a:latin typeface="Inter" pitchFamily="34" charset="0"/>
                <a:ea typeface="Inter" pitchFamily="34" charset="-122"/>
                <a:cs typeface="Inter" pitchFamily="34" charset="-120"/>
              </a:rPr>
              <a:t>Accountability</a:t>
            </a:r>
            <a:endParaRPr lang="en-US" sz="1800" dirty="0"/>
          </a:p>
        </p:txBody>
      </p:sp>
      <p:sp>
        <p:nvSpPr>
          <p:cNvPr id="16" name="Text 13"/>
          <p:cNvSpPr/>
          <p:nvPr/>
        </p:nvSpPr>
        <p:spPr>
          <a:xfrm>
            <a:off x="1188720" y="3547872"/>
            <a:ext cx="4023360" cy="548640"/>
          </a:xfrm>
          <a:prstGeom prst="rect">
            <a:avLst/>
          </a:prstGeom>
          <a:noFill/>
          <a:ln/>
        </p:spPr>
        <p:txBody>
          <a:bodyPr wrap="square" lIns="0" tIns="0" rIns="0" bIns="0" rtlCol="0" anchor="ctr"/>
          <a:lstStyle/>
          <a:p>
            <a:pPr indent="0" marL="0">
              <a:buNone/>
            </a:pPr>
            <a:r>
              <a:rPr lang="en-US" sz="1300" dirty="0">
                <a:solidFill>
                  <a:srgbClr val="667085"/>
                </a:solidFill>
                <a:latin typeface="Inter" pitchFamily="34" charset="0"/>
                <a:ea typeface="Inter" pitchFamily="34" charset="-122"/>
                <a:cs typeface="Inter" pitchFamily="34" charset="-120"/>
              </a:rPr>
              <a:t>Regulators ask: who authorised this payment, which model decided, can it be rolled back?</a:t>
            </a:r>
            <a:endParaRPr lang="en-US" sz="1300" dirty="0"/>
          </a:p>
        </p:txBody>
      </p:sp>
      <p:sp>
        <p:nvSpPr>
          <p:cNvPr id="17" name="Shape 14"/>
          <p:cNvSpPr/>
          <p:nvPr/>
        </p:nvSpPr>
        <p:spPr>
          <a:xfrm>
            <a:off x="5577840" y="1188720"/>
            <a:ext cx="3108960" cy="2926080"/>
          </a:xfrm>
          <a:prstGeom prst="roundRect">
            <a:avLst>
              <a:gd name="adj" fmla="val 3750"/>
            </a:avLst>
          </a:prstGeom>
          <a:solidFill>
            <a:srgbClr val="101828"/>
          </a:solidFill>
          <a:ln w="12700">
            <a:solidFill>
              <a:srgbClr val="101828"/>
            </a:solidFill>
            <a:prstDash val="solid"/>
          </a:ln>
        </p:spPr>
      </p:sp>
      <p:sp>
        <p:nvSpPr>
          <p:cNvPr id="18" name="Text 15"/>
          <p:cNvSpPr/>
          <p:nvPr/>
        </p:nvSpPr>
        <p:spPr>
          <a:xfrm>
            <a:off x="5760720" y="1325880"/>
            <a:ext cx="2743200" cy="548640"/>
          </a:xfrm>
          <a:prstGeom prst="rect">
            <a:avLst/>
          </a:prstGeom>
          <a:noFill/>
          <a:ln/>
        </p:spPr>
        <p:txBody>
          <a:bodyPr wrap="square" lIns="0" tIns="0" rIns="0" bIns="0" rtlCol="0" anchor="ctr"/>
          <a:lstStyle/>
          <a:p>
            <a:pPr indent="0" marL="0">
              <a:buNone/>
            </a:pPr>
            <a:r>
              <a:rPr lang="en-US" sz="1300" dirty="0">
                <a:solidFill>
                  <a:srgbClr val="FFFFFF"/>
                </a:solidFill>
                <a:latin typeface="Inter" pitchFamily="34" charset="0"/>
                <a:ea typeface="Inter" pitchFamily="34" charset="-122"/>
                <a:cs typeface="Inter" pitchFamily="34" charset="-120"/>
              </a:rPr>
              <a:t>Same attacks, agent without the kernel</a:t>
            </a:r>
            <a:endParaRPr lang="en-US" sz="1300" dirty="0"/>
          </a:p>
        </p:txBody>
      </p:sp>
      <p:sp>
        <p:nvSpPr>
          <p:cNvPr id="19" name="Text 16"/>
          <p:cNvSpPr/>
          <p:nvPr/>
        </p:nvSpPr>
        <p:spPr>
          <a:xfrm>
            <a:off x="5760720" y="1874520"/>
            <a:ext cx="2743200" cy="731520"/>
          </a:xfrm>
          <a:prstGeom prst="rect">
            <a:avLst/>
          </a:prstGeom>
          <a:noFill/>
          <a:ln/>
        </p:spPr>
        <p:txBody>
          <a:bodyPr wrap="square" lIns="0" tIns="0" rIns="0" bIns="0" rtlCol="0" anchor="ctr"/>
          <a:lstStyle/>
          <a:p>
            <a:pPr indent="0" marL="0">
              <a:buNone/>
            </a:pPr>
            <a:r>
              <a:rPr lang="en-US" sz="4400" b="1" dirty="0">
                <a:solidFill>
                  <a:srgbClr val="FDA29B"/>
                </a:solidFill>
                <a:latin typeface="Inter" pitchFamily="34" charset="0"/>
                <a:ea typeface="Inter" pitchFamily="34" charset="-122"/>
                <a:cs typeface="Inter" pitchFamily="34" charset="-120"/>
              </a:rPr>
              <a:t>48 / 48</a:t>
            </a:r>
            <a:endParaRPr lang="en-US" sz="4400" dirty="0"/>
          </a:p>
        </p:txBody>
      </p:sp>
      <p:sp>
        <p:nvSpPr>
          <p:cNvPr id="20" name="Text 17"/>
          <p:cNvSpPr/>
          <p:nvPr/>
        </p:nvSpPr>
        <p:spPr>
          <a:xfrm>
            <a:off x="5760720" y="2560320"/>
            <a:ext cx="2743200" cy="320040"/>
          </a:xfrm>
          <a:prstGeom prst="rect">
            <a:avLst/>
          </a:prstGeom>
          <a:noFill/>
          <a:ln/>
        </p:spPr>
        <p:txBody>
          <a:bodyPr wrap="square" lIns="0" tIns="0" rIns="0" bIns="0" rtlCol="0" anchor="ctr"/>
          <a:lstStyle/>
          <a:p>
            <a:pPr indent="0" marL="0">
              <a:buNone/>
            </a:pPr>
            <a:r>
              <a:rPr lang="en-US" sz="1300" dirty="0">
                <a:solidFill>
                  <a:srgbClr val="FFFFFF"/>
                </a:solidFill>
                <a:latin typeface="Inter" pitchFamily="34" charset="0"/>
                <a:ea typeface="Inter" pitchFamily="34" charset="-122"/>
                <a:cs typeface="Inter" pitchFamily="34" charset="-120"/>
              </a:rPr>
              <a:t>attacks succeeded</a:t>
            </a:r>
            <a:endParaRPr lang="en-US" sz="1300" dirty="0"/>
          </a:p>
        </p:txBody>
      </p:sp>
      <p:sp>
        <p:nvSpPr>
          <p:cNvPr id="21" name="Text 18"/>
          <p:cNvSpPr/>
          <p:nvPr/>
        </p:nvSpPr>
        <p:spPr>
          <a:xfrm>
            <a:off x="5760720" y="3017520"/>
            <a:ext cx="2743200" cy="548640"/>
          </a:xfrm>
          <a:prstGeom prst="rect">
            <a:avLst/>
          </a:prstGeom>
          <a:noFill/>
          <a:ln/>
        </p:spPr>
        <p:txBody>
          <a:bodyPr wrap="square" lIns="0" tIns="0" rIns="0" bIns="0" rtlCol="0" anchor="ctr"/>
          <a:lstStyle/>
          <a:p>
            <a:pPr indent="0" marL="0">
              <a:buNone/>
            </a:pPr>
            <a:r>
              <a:rPr lang="en-US" sz="2600" b="1" dirty="0">
                <a:solidFill>
                  <a:srgbClr val="FDA29B"/>
                </a:solidFill>
                <a:latin typeface="Inter" pitchFamily="34" charset="0"/>
                <a:ea typeface="Inter" pitchFamily="34" charset="-122"/>
                <a:cs typeface="Inter" pitchFamily="34" charset="-120"/>
              </a:rPr>
              <a:t>$6,546.63</a:t>
            </a:r>
            <a:endParaRPr lang="en-US" sz="2600" dirty="0"/>
          </a:p>
        </p:txBody>
      </p:sp>
      <p:sp>
        <p:nvSpPr>
          <p:cNvPr id="22" name="Text 19"/>
          <p:cNvSpPr/>
          <p:nvPr/>
        </p:nvSpPr>
        <p:spPr>
          <a:xfrm>
            <a:off x="5760720" y="3566160"/>
            <a:ext cx="2743200" cy="320040"/>
          </a:xfrm>
          <a:prstGeom prst="rect">
            <a:avLst/>
          </a:prstGeom>
          <a:noFill/>
          <a:ln/>
        </p:spPr>
        <p:txBody>
          <a:bodyPr wrap="square" lIns="0" tIns="0" rIns="0" bIns="0" rtlCol="0" anchor="ctr"/>
          <a:lstStyle/>
          <a:p>
            <a:pPr indent="0" marL="0">
              <a:buNone/>
            </a:pPr>
            <a:r>
              <a:rPr lang="en-US" sz="1300" dirty="0">
                <a:solidFill>
                  <a:srgbClr val="FFFFFF"/>
                </a:solidFill>
                <a:latin typeface="Inter" pitchFamily="34" charset="0"/>
                <a:ea typeface="Inter" pitchFamily="34" charset="-122"/>
                <a:cs typeface="Inter" pitchFamily="34" charset="-120"/>
              </a:rPr>
              <a:t>lost from the sandbox client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The idea: models never hold the money</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3 / 15</a:t>
            </a:r>
            <a:endParaRPr lang="en-US" sz="900" dirty="0"/>
          </a:p>
        </p:txBody>
      </p:sp>
      <p:sp>
        <p:nvSpPr>
          <p:cNvPr id="8" name="Shape 5"/>
          <p:cNvSpPr/>
          <p:nvPr/>
        </p:nvSpPr>
        <p:spPr>
          <a:xfrm>
            <a:off x="457200" y="1234440"/>
            <a:ext cx="2651760" cy="2651760"/>
          </a:xfrm>
          <a:prstGeom prst="roundRect">
            <a:avLst>
              <a:gd name="adj" fmla="val 4138"/>
            </a:avLst>
          </a:prstGeom>
          <a:solidFill>
            <a:srgbClr val="EEF4FF"/>
          </a:solidFill>
          <a:ln w="12700">
            <a:solidFill>
              <a:srgbClr val="EEF4FF"/>
            </a:solidFill>
            <a:prstDash val="solid"/>
          </a:ln>
        </p:spPr>
      </p:sp>
      <p:sp>
        <p:nvSpPr>
          <p:cNvPr id="9" name="Text 6"/>
          <p:cNvSpPr/>
          <p:nvPr/>
        </p:nvSpPr>
        <p:spPr>
          <a:xfrm>
            <a:off x="640080" y="1325880"/>
            <a:ext cx="914400" cy="274320"/>
          </a:xfrm>
          <a:prstGeom prst="rect">
            <a:avLst/>
          </a:prstGeom>
          <a:noFill/>
          <a:ln/>
        </p:spPr>
        <p:txBody>
          <a:bodyPr wrap="square" lIns="0" tIns="0" rIns="0" bIns="0" rtlCol="0" anchor="ctr"/>
          <a:lstStyle/>
          <a:p>
            <a:pPr indent="0" marL="0">
              <a:buNone/>
            </a:pPr>
            <a:r>
              <a:rPr lang="en-US" sz="1200" b="1" dirty="0">
                <a:solidFill>
                  <a:srgbClr val="1D4ED8"/>
                </a:solidFill>
                <a:latin typeface="Inter" pitchFamily="34" charset="0"/>
                <a:ea typeface="Inter" pitchFamily="34" charset="-122"/>
                <a:cs typeface="Inter" pitchFamily="34" charset="-120"/>
              </a:rPr>
              <a:t>01</a:t>
            </a:r>
            <a:endParaRPr lang="en-US" sz="1200" dirty="0"/>
          </a:p>
        </p:txBody>
      </p:sp>
      <p:sp>
        <p:nvSpPr>
          <p:cNvPr id="10" name="Text 7"/>
          <p:cNvSpPr/>
          <p:nvPr/>
        </p:nvSpPr>
        <p:spPr>
          <a:xfrm>
            <a:off x="640080" y="1600200"/>
            <a:ext cx="2286000" cy="640080"/>
          </a:xfrm>
          <a:prstGeom prst="rect">
            <a:avLst/>
          </a:prstGeom>
          <a:noFill/>
          <a:ln/>
        </p:spPr>
        <p:txBody>
          <a:bodyPr wrap="square" lIns="0" tIns="0" rIns="0" bIns="0" rtlCol="0" anchor="t"/>
          <a:lstStyle/>
          <a:p>
            <a:pPr indent="0" marL="0">
              <a:buNone/>
            </a:pPr>
            <a:r>
              <a:rPr lang="en-US" sz="1600" b="1" dirty="0">
                <a:solidFill>
                  <a:srgbClr val="101828"/>
                </a:solidFill>
                <a:latin typeface="Inter" pitchFamily="34" charset="0"/>
                <a:ea typeface="Inter" pitchFamily="34" charset="-122"/>
                <a:cs typeface="Inter" pitchFamily="34" charset="-120"/>
              </a:rPr>
              <a:t>What you see is what you sign</a:t>
            </a:r>
            <a:endParaRPr lang="en-US" sz="1600" dirty="0"/>
          </a:p>
        </p:txBody>
      </p:sp>
      <p:sp>
        <p:nvSpPr>
          <p:cNvPr id="11" name="Text 8"/>
          <p:cNvSpPr/>
          <p:nvPr/>
        </p:nvSpPr>
        <p:spPr>
          <a:xfrm>
            <a:off x="640080" y="2286000"/>
            <a:ext cx="2286000" cy="1508760"/>
          </a:xfrm>
          <a:prstGeom prst="rect">
            <a:avLst/>
          </a:prstGeom>
          <a:noFill/>
          <a:ln/>
        </p:spPr>
        <p:txBody>
          <a:bodyPr wrap="square" lIns="0" tIns="0" rIns="0" bIns="0" rtlCol="0" anchor="t"/>
          <a:lstStyle/>
          <a:p>
            <a:pPr indent="0" marL="0">
              <a:buNone/>
            </a:pPr>
            <a:r>
              <a:rPr lang="en-US" sz="1300" dirty="0">
                <a:solidFill>
                  <a:srgbClr val="101828"/>
                </a:solidFill>
                <a:latin typeface="Inter" pitchFamily="34" charset="0"/>
                <a:ea typeface="Inter" pitchFamily="34" charset="-122"/>
                <a:cs typeface="Inter" pitchFamily="34" charset="-120"/>
              </a:rPr>
              <a:t>The kernel renders every card. The client's device key (Ed25519 / P-256, WebCrypto) signs its hash; the kernel countersigns.</a:t>
            </a:r>
            <a:endParaRPr lang="en-US" sz="1300" dirty="0"/>
          </a:p>
        </p:txBody>
      </p:sp>
      <p:sp>
        <p:nvSpPr>
          <p:cNvPr id="12" name="Shape 9"/>
          <p:cNvSpPr/>
          <p:nvPr/>
        </p:nvSpPr>
        <p:spPr>
          <a:xfrm>
            <a:off x="3291840" y="1234440"/>
            <a:ext cx="2651760" cy="2651760"/>
          </a:xfrm>
          <a:prstGeom prst="roundRect">
            <a:avLst>
              <a:gd name="adj" fmla="val 4138"/>
            </a:avLst>
          </a:prstGeom>
          <a:solidFill>
            <a:srgbClr val="F3F0FF"/>
          </a:solidFill>
          <a:ln w="12700">
            <a:solidFill>
              <a:srgbClr val="F3F0FF"/>
            </a:solidFill>
            <a:prstDash val="solid"/>
          </a:ln>
        </p:spPr>
      </p:sp>
      <p:sp>
        <p:nvSpPr>
          <p:cNvPr id="13" name="Text 10"/>
          <p:cNvSpPr/>
          <p:nvPr/>
        </p:nvSpPr>
        <p:spPr>
          <a:xfrm>
            <a:off x="3474720" y="1325880"/>
            <a:ext cx="914400" cy="274320"/>
          </a:xfrm>
          <a:prstGeom prst="rect">
            <a:avLst/>
          </a:prstGeom>
          <a:noFill/>
          <a:ln/>
        </p:spPr>
        <p:txBody>
          <a:bodyPr wrap="square" lIns="0" tIns="0" rIns="0" bIns="0" rtlCol="0" anchor="ctr"/>
          <a:lstStyle/>
          <a:p>
            <a:pPr indent="0" marL="0">
              <a:buNone/>
            </a:pPr>
            <a:r>
              <a:rPr lang="en-US" sz="1200" b="1" dirty="0">
                <a:solidFill>
                  <a:srgbClr val="1D4ED8"/>
                </a:solidFill>
                <a:latin typeface="Inter" pitchFamily="34" charset="0"/>
                <a:ea typeface="Inter" pitchFamily="34" charset="-122"/>
                <a:cs typeface="Inter" pitchFamily="34" charset="-120"/>
              </a:rPr>
              <a:t>02</a:t>
            </a:r>
            <a:endParaRPr lang="en-US" sz="1200" dirty="0"/>
          </a:p>
        </p:txBody>
      </p:sp>
      <p:sp>
        <p:nvSpPr>
          <p:cNvPr id="14" name="Text 11"/>
          <p:cNvSpPr/>
          <p:nvPr/>
        </p:nvSpPr>
        <p:spPr>
          <a:xfrm>
            <a:off x="3474720" y="1600200"/>
            <a:ext cx="2286000" cy="640080"/>
          </a:xfrm>
          <a:prstGeom prst="rect">
            <a:avLst/>
          </a:prstGeom>
          <a:noFill/>
          <a:ln/>
        </p:spPr>
        <p:txBody>
          <a:bodyPr wrap="square" lIns="0" tIns="0" rIns="0" bIns="0" rtlCol="0" anchor="t"/>
          <a:lstStyle/>
          <a:p>
            <a:pPr indent="0" marL="0">
              <a:buNone/>
            </a:pPr>
            <a:r>
              <a:rPr lang="en-US" sz="1600" b="1" dirty="0">
                <a:solidFill>
                  <a:srgbClr val="101828"/>
                </a:solidFill>
                <a:latin typeface="Inter" pitchFamily="34" charset="0"/>
                <a:ea typeface="Inter" pitchFamily="34" charset="-122"/>
                <a:cs typeface="Inter" pitchFamily="34" charset="-120"/>
              </a:rPr>
              <a:t>Nothing outside the mandate</a:t>
            </a:r>
            <a:endParaRPr lang="en-US" sz="1600" dirty="0"/>
          </a:p>
        </p:txBody>
      </p:sp>
      <p:sp>
        <p:nvSpPr>
          <p:cNvPr id="15" name="Text 12"/>
          <p:cNvSpPr/>
          <p:nvPr/>
        </p:nvSpPr>
        <p:spPr>
          <a:xfrm>
            <a:off x="3474720" y="2286000"/>
            <a:ext cx="2286000" cy="1508760"/>
          </a:xfrm>
          <a:prstGeom prst="rect">
            <a:avLst/>
          </a:prstGeom>
          <a:noFill/>
          <a:ln/>
        </p:spPr>
        <p:txBody>
          <a:bodyPr wrap="square" lIns="0" tIns="0" rIns="0" bIns="0" rtlCol="0" anchor="t"/>
          <a:lstStyle/>
          <a:p>
            <a:pPr indent="0" marL="0">
              <a:buNone/>
            </a:pPr>
            <a:r>
              <a:rPr lang="en-US" sz="1300" dirty="0">
                <a:solidFill>
                  <a:srgbClr val="101828"/>
                </a:solidFill>
                <a:latin typeface="Inter" pitchFamily="34" charset="0"/>
                <a:ea typeface="Inter" pitchFamily="34" charset="-122"/>
                <a:cs typeface="Inter" pitchFamily="34" charset="-120"/>
              </a:rPr>
              <a:t>Payee, amount range, period, money source, expiry. Agents get single-use grants that only narrow.</a:t>
            </a:r>
            <a:endParaRPr lang="en-US" sz="1300" dirty="0"/>
          </a:p>
        </p:txBody>
      </p:sp>
      <p:sp>
        <p:nvSpPr>
          <p:cNvPr id="16" name="Shape 13"/>
          <p:cNvSpPr/>
          <p:nvPr/>
        </p:nvSpPr>
        <p:spPr>
          <a:xfrm>
            <a:off x="6126480" y="1234440"/>
            <a:ext cx="2651760" cy="2651760"/>
          </a:xfrm>
          <a:prstGeom prst="roundRect">
            <a:avLst>
              <a:gd name="adj" fmla="val 4138"/>
            </a:avLst>
          </a:prstGeom>
          <a:solidFill>
            <a:srgbClr val="E8F6F3"/>
          </a:solidFill>
          <a:ln w="12700">
            <a:solidFill>
              <a:srgbClr val="E8F6F3"/>
            </a:solidFill>
            <a:prstDash val="solid"/>
          </a:ln>
        </p:spPr>
      </p:sp>
      <p:sp>
        <p:nvSpPr>
          <p:cNvPr id="17" name="Text 14"/>
          <p:cNvSpPr/>
          <p:nvPr/>
        </p:nvSpPr>
        <p:spPr>
          <a:xfrm>
            <a:off x="6309360" y="1325880"/>
            <a:ext cx="914400" cy="274320"/>
          </a:xfrm>
          <a:prstGeom prst="rect">
            <a:avLst/>
          </a:prstGeom>
          <a:noFill/>
          <a:ln/>
        </p:spPr>
        <p:txBody>
          <a:bodyPr wrap="square" lIns="0" tIns="0" rIns="0" bIns="0" rtlCol="0" anchor="ctr"/>
          <a:lstStyle/>
          <a:p>
            <a:pPr indent="0" marL="0">
              <a:buNone/>
            </a:pPr>
            <a:r>
              <a:rPr lang="en-US" sz="1200" b="1" dirty="0">
                <a:solidFill>
                  <a:srgbClr val="1D4ED8"/>
                </a:solidFill>
                <a:latin typeface="Inter" pitchFamily="34" charset="0"/>
                <a:ea typeface="Inter" pitchFamily="34" charset="-122"/>
                <a:cs typeface="Inter" pitchFamily="34" charset="-120"/>
              </a:rPr>
              <a:t>03</a:t>
            </a:r>
            <a:endParaRPr lang="en-US" sz="1200" dirty="0"/>
          </a:p>
        </p:txBody>
      </p:sp>
      <p:sp>
        <p:nvSpPr>
          <p:cNvPr id="18" name="Text 15"/>
          <p:cNvSpPr/>
          <p:nvPr/>
        </p:nvSpPr>
        <p:spPr>
          <a:xfrm>
            <a:off x="6309360" y="1600200"/>
            <a:ext cx="2286000" cy="640080"/>
          </a:xfrm>
          <a:prstGeom prst="rect">
            <a:avLst/>
          </a:prstGeom>
          <a:noFill/>
          <a:ln/>
        </p:spPr>
        <p:txBody>
          <a:bodyPr wrap="square" lIns="0" tIns="0" rIns="0" bIns="0" rtlCol="0" anchor="t"/>
          <a:lstStyle/>
          <a:p>
            <a:pPr indent="0" marL="0">
              <a:buNone/>
            </a:pPr>
            <a:r>
              <a:rPr lang="en-US" sz="1600" b="1" dirty="0">
                <a:solidFill>
                  <a:srgbClr val="101828"/>
                </a:solidFill>
                <a:latin typeface="Inter" pitchFamily="34" charset="0"/>
                <a:ea typeface="Inter" pitchFamily="34" charset="-122"/>
                <a:cs typeface="Inter" pitchFamily="34" charset="-120"/>
              </a:rPr>
              <a:t>Verified, then recorded</a:t>
            </a:r>
            <a:endParaRPr lang="en-US" sz="1600" dirty="0"/>
          </a:p>
        </p:txBody>
      </p:sp>
      <p:sp>
        <p:nvSpPr>
          <p:cNvPr id="19" name="Text 16"/>
          <p:cNvSpPr/>
          <p:nvPr/>
        </p:nvSpPr>
        <p:spPr>
          <a:xfrm>
            <a:off x="6309360" y="2286000"/>
            <a:ext cx="2286000" cy="1508760"/>
          </a:xfrm>
          <a:prstGeom prst="rect">
            <a:avLst/>
          </a:prstGeom>
          <a:noFill/>
          <a:ln/>
        </p:spPr>
        <p:txBody>
          <a:bodyPr wrap="square" lIns="0" tIns="0" rIns="0" bIns="0" rtlCol="0" anchor="t"/>
          <a:lstStyle/>
          <a:p>
            <a:pPr indent="0" marL="0">
              <a:buNone/>
            </a:pPr>
            <a:r>
              <a:rPr lang="en-US" sz="1300" dirty="0">
                <a:solidFill>
                  <a:srgbClr val="101828"/>
                </a:solidFill>
                <a:latin typeface="Inter" pitchFamily="34" charset="0"/>
                <a:ea typeface="Inter" pitchFamily="34" charset="-122"/>
                <a:cs typeface="Inter" pitchFamily="34" charset="-120"/>
              </a:rPr>
              <a:t>After execution the kernel checks the bank itself, not the agent's word. Every step goes into a signed hash chain.</a:t>
            </a:r>
            <a:endParaRPr lang="en-US" sz="1300" dirty="0"/>
          </a:p>
        </p:txBody>
      </p:sp>
      <p:sp>
        <p:nvSpPr>
          <p:cNvPr id="20" name="Text 17"/>
          <p:cNvSpPr/>
          <p:nvPr/>
        </p:nvSpPr>
        <p:spPr>
          <a:xfrm>
            <a:off x="457200" y="4160520"/>
            <a:ext cx="8229600" cy="411480"/>
          </a:xfrm>
          <a:prstGeom prst="rect">
            <a:avLst/>
          </a:prstGeom>
          <a:noFill/>
          <a:ln/>
        </p:spPr>
        <p:txBody>
          <a:bodyPr wrap="square" lIns="0" tIns="0" rIns="0" bIns="0" rtlCol="0" anchor="ctr"/>
          <a:lstStyle/>
          <a:p>
            <a:pPr algn="ctr" indent="0" marL="0">
              <a:buNone/>
            </a:pPr>
            <a:r>
              <a:rPr lang="en-US" sz="1300" b="1" dirty="0">
                <a:solidFill>
                  <a:srgbClr val="1D4ED8"/>
                </a:solidFill>
                <a:latin typeface="Inter" pitchFamily="34" charset="0"/>
                <a:ea typeface="Inter" pitchFamily="34" charset="-122"/>
                <a:cs typeface="Inter" pitchFamily="34" charset="-120"/>
              </a:rPr>
              <a:t>Agents propose  →  kernel decides  →  bank executes  →  kernel verifies  →  journal records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One month, one client: scenarios C1 to C10</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4 / 15</a:t>
            </a:r>
            <a:endParaRPr lang="en-US" sz="900" dirty="0"/>
          </a:p>
        </p:txBody>
      </p:sp>
      <p:sp>
        <p:nvSpPr>
          <p:cNvPr id="8" name="Shape 5"/>
          <p:cNvSpPr/>
          <p:nvPr/>
        </p:nvSpPr>
        <p:spPr>
          <a:xfrm>
            <a:off x="457200" y="1188720"/>
            <a:ext cx="1554480" cy="1188720"/>
          </a:xfrm>
          <a:prstGeom prst="roundRect">
            <a:avLst>
              <a:gd name="adj" fmla="val 7692"/>
            </a:avLst>
          </a:prstGeom>
          <a:solidFill>
            <a:srgbClr val="F4F5F7"/>
          </a:solidFill>
          <a:ln w="12700">
            <a:solidFill>
              <a:srgbClr val="F4F5F7"/>
            </a:solidFill>
            <a:prstDash val="solid"/>
          </a:ln>
        </p:spPr>
      </p:sp>
      <p:sp>
        <p:nvSpPr>
          <p:cNvPr id="9" name="Text 6"/>
          <p:cNvSpPr/>
          <p:nvPr/>
        </p:nvSpPr>
        <p:spPr>
          <a:xfrm>
            <a:off x="566928" y="128016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C1</a:t>
            </a:r>
            <a:endParaRPr lang="en-US" sz="1300" dirty="0"/>
          </a:p>
        </p:txBody>
      </p:sp>
      <p:sp>
        <p:nvSpPr>
          <p:cNvPr id="10" name="Text 7"/>
          <p:cNvSpPr/>
          <p:nvPr/>
        </p:nvSpPr>
        <p:spPr>
          <a:xfrm>
            <a:off x="566928" y="157276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Pay, allow monthly</a:t>
            </a:r>
            <a:endParaRPr lang="en-US" sz="1200" dirty="0"/>
          </a:p>
        </p:txBody>
      </p:sp>
      <p:sp>
        <p:nvSpPr>
          <p:cNvPr id="11" name="Text 8"/>
          <p:cNvSpPr/>
          <p:nvPr/>
        </p:nvSpPr>
        <p:spPr>
          <a:xfrm>
            <a:off x="566928" y="193852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standing, ≤ $5</a:t>
            </a:r>
            <a:endParaRPr lang="en-US" sz="1000" dirty="0"/>
          </a:p>
        </p:txBody>
      </p:sp>
      <p:sp>
        <p:nvSpPr>
          <p:cNvPr id="12" name="Shape 9"/>
          <p:cNvSpPr/>
          <p:nvPr/>
        </p:nvSpPr>
        <p:spPr>
          <a:xfrm>
            <a:off x="2121408" y="1188720"/>
            <a:ext cx="1554480" cy="1188720"/>
          </a:xfrm>
          <a:prstGeom prst="roundRect">
            <a:avLst>
              <a:gd name="adj" fmla="val 7692"/>
            </a:avLst>
          </a:prstGeom>
          <a:solidFill>
            <a:srgbClr val="F4F5F7"/>
          </a:solidFill>
          <a:ln w="12700">
            <a:solidFill>
              <a:srgbClr val="F4F5F7"/>
            </a:solidFill>
            <a:prstDash val="solid"/>
          </a:ln>
        </p:spPr>
      </p:sp>
      <p:sp>
        <p:nvSpPr>
          <p:cNvPr id="13" name="Text 10"/>
          <p:cNvSpPr/>
          <p:nvPr/>
        </p:nvSpPr>
        <p:spPr>
          <a:xfrm>
            <a:off x="2231136" y="128016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C2</a:t>
            </a:r>
            <a:endParaRPr lang="en-US" sz="1300" dirty="0"/>
          </a:p>
        </p:txBody>
      </p:sp>
      <p:sp>
        <p:nvSpPr>
          <p:cNvPr id="14" name="Text 11"/>
          <p:cNvSpPr/>
          <p:nvPr/>
        </p:nvSpPr>
        <p:spPr>
          <a:xfrm>
            <a:off x="2231136" y="157276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Cancel a subscription</a:t>
            </a:r>
            <a:endParaRPr lang="en-US" sz="1200" dirty="0"/>
          </a:p>
        </p:txBody>
      </p:sp>
      <p:sp>
        <p:nvSpPr>
          <p:cNvPr id="15" name="Text 12"/>
          <p:cNvSpPr/>
          <p:nvPr/>
        </p:nvSpPr>
        <p:spPr>
          <a:xfrm>
            <a:off x="2231136" y="193852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merchant API + card block</a:t>
            </a:r>
            <a:endParaRPr lang="en-US" sz="1000" dirty="0"/>
          </a:p>
        </p:txBody>
      </p:sp>
      <p:sp>
        <p:nvSpPr>
          <p:cNvPr id="16" name="Shape 13"/>
          <p:cNvSpPr/>
          <p:nvPr/>
        </p:nvSpPr>
        <p:spPr>
          <a:xfrm>
            <a:off x="3785616" y="1188720"/>
            <a:ext cx="1554480" cy="1188720"/>
          </a:xfrm>
          <a:prstGeom prst="roundRect">
            <a:avLst>
              <a:gd name="adj" fmla="val 7692"/>
            </a:avLst>
          </a:prstGeom>
          <a:solidFill>
            <a:srgbClr val="F4F5F7"/>
          </a:solidFill>
          <a:ln w="12700">
            <a:solidFill>
              <a:srgbClr val="F4F5F7"/>
            </a:solidFill>
            <a:prstDash val="solid"/>
          </a:ln>
        </p:spPr>
      </p:sp>
      <p:sp>
        <p:nvSpPr>
          <p:cNvPr id="17" name="Text 14"/>
          <p:cNvSpPr/>
          <p:nvPr/>
        </p:nvSpPr>
        <p:spPr>
          <a:xfrm>
            <a:off x="3895344" y="128016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C3</a:t>
            </a:r>
            <a:endParaRPr lang="en-US" sz="1300" dirty="0"/>
          </a:p>
        </p:txBody>
      </p:sp>
      <p:sp>
        <p:nvSpPr>
          <p:cNvPr id="18" name="Text 15"/>
          <p:cNvSpPr/>
          <p:nvPr/>
        </p:nvSpPr>
        <p:spPr>
          <a:xfrm>
            <a:off x="3895344" y="157276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Find leaks</a:t>
            </a:r>
            <a:endParaRPr lang="en-US" sz="1200" dirty="0"/>
          </a:p>
        </p:txBody>
      </p:sp>
      <p:sp>
        <p:nvSpPr>
          <p:cNvPr id="19" name="Text 16"/>
          <p:cNvSpPr/>
          <p:nvPr/>
        </p:nvSpPr>
        <p:spPr>
          <a:xfrm>
            <a:off x="3895344" y="193852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$10.23 a month</a:t>
            </a:r>
            <a:endParaRPr lang="en-US" sz="1000" dirty="0"/>
          </a:p>
        </p:txBody>
      </p:sp>
      <p:sp>
        <p:nvSpPr>
          <p:cNvPr id="20" name="Shape 17"/>
          <p:cNvSpPr/>
          <p:nvPr/>
        </p:nvSpPr>
        <p:spPr>
          <a:xfrm>
            <a:off x="5449824" y="1188720"/>
            <a:ext cx="1554480" cy="1188720"/>
          </a:xfrm>
          <a:prstGeom prst="roundRect">
            <a:avLst>
              <a:gd name="adj" fmla="val 7692"/>
            </a:avLst>
          </a:prstGeom>
          <a:solidFill>
            <a:srgbClr val="F4F5F7"/>
          </a:solidFill>
          <a:ln w="12700">
            <a:solidFill>
              <a:srgbClr val="F4F5F7"/>
            </a:solidFill>
            <a:prstDash val="solid"/>
          </a:ln>
        </p:spPr>
      </p:sp>
      <p:sp>
        <p:nvSpPr>
          <p:cNvPr id="21" name="Text 18"/>
          <p:cNvSpPr/>
          <p:nvPr/>
        </p:nvSpPr>
        <p:spPr>
          <a:xfrm>
            <a:off x="5559552" y="128016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C4</a:t>
            </a:r>
            <a:endParaRPr lang="en-US" sz="1300" dirty="0"/>
          </a:p>
        </p:txBody>
      </p:sp>
      <p:sp>
        <p:nvSpPr>
          <p:cNvPr id="22" name="Text 19"/>
          <p:cNvSpPr/>
          <p:nvPr/>
        </p:nvSpPr>
        <p:spPr>
          <a:xfrm>
            <a:off x="5559552" y="157276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Double charge</a:t>
            </a:r>
            <a:endParaRPr lang="en-US" sz="1200" dirty="0"/>
          </a:p>
        </p:txBody>
      </p:sp>
      <p:sp>
        <p:nvSpPr>
          <p:cNvPr id="23" name="Text 20"/>
          <p:cNvSpPr/>
          <p:nvPr/>
        </p:nvSpPr>
        <p:spPr>
          <a:xfrm>
            <a:off x="5559552" y="193852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dispute opened</a:t>
            </a:r>
            <a:endParaRPr lang="en-US" sz="1000" dirty="0"/>
          </a:p>
        </p:txBody>
      </p:sp>
      <p:sp>
        <p:nvSpPr>
          <p:cNvPr id="24" name="Shape 21"/>
          <p:cNvSpPr/>
          <p:nvPr/>
        </p:nvSpPr>
        <p:spPr>
          <a:xfrm>
            <a:off x="7114032" y="1188720"/>
            <a:ext cx="1554480" cy="1188720"/>
          </a:xfrm>
          <a:prstGeom prst="roundRect">
            <a:avLst>
              <a:gd name="adj" fmla="val 7692"/>
            </a:avLst>
          </a:prstGeom>
          <a:solidFill>
            <a:srgbClr val="F4F5F7"/>
          </a:solidFill>
          <a:ln w="12700">
            <a:solidFill>
              <a:srgbClr val="F4F5F7"/>
            </a:solidFill>
            <a:prstDash val="solid"/>
          </a:ln>
        </p:spPr>
      </p:sp>
      <p:sp>
        <p:nvSpPr>
          <p:cNvPr id="25" name="Text 22"/>
          <p:cNvSpPr/>
          <p:nvPr/>
        </p:nvSpPr>
        <p:spPr>
          <a:xfrm>
            <a:off x="7223760" y="128016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C5</a:t>
            </a:r>
            <a:endParaRPr lang="en-US" sz="1300" dirty="0"/>
          </a:p>
        </p:txBody>
      </p:sp>
      <p:sp>
        <p:nvSpPr>
          <p:cNvPr id="26" name="Text 23"/>
          <p:cNvSpPr/>
          <p:nvPr/>
        </p:nvSpPr>
        <p:spPr>
          <a:xfrm>
            <a:off x="7223760" y="157276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Pay bills</a:t>
            </a:r>
            <a:endParaRPr lang="en-US" sz="1200" dirty="0"/>
          </a:p>
        </p:txBody>
      </p:sp>
      <p:sp>
        <p:nvSpPr>
          <p:cNvPr id="27" name="Text 24"/>
          <p:cNvSpPr/>
          <p:nvPr/>
        </p:nvSpPr>
        <p:spPr>
          <a:xfrm>
            <a:off x="7223760" y="193852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checked against bank records</a:t>
            </a:r>
            <a:endParaRPr lang="en-US" sz="1000" dirty="0"/>
          </a:p>
        </p:txBody>
      </p:sp>
      <p:sp>
        <p:nvSpPr>
          <p:cNvPr id="28" name="Shape 25"/>
          <p:cNvSpPr/>
          <p:nvPr/>
        </p:nvSpPr>
        <p:spPr>
          <a:xfrm>
            <a:off x="457200" y="2514600"/>
            <a:ext cx="1554480" cy="1188720"/>
          </a:xfrm>
          <a:prstGeom prst="roundRect">
            <a:avLst>
              <a:gd name="adj" fmla="val 7692"/>
            </a:avLst>
          </a:prstGeom>
          <a:solidFill>
            <a:srgbClr val="F4F5F7"/>
          </a:solidFill>
          <a:ln w="12700">
            <a:solidFill>
              <a:srgbClr val="F4F5F7"/>
            </a:solidFill>
            <a:prstDash val="solid"/>
          </a:ln>
        </p:spPr>
      </p:sp>
      <p:sp>
        <p:nvSpPr>
          <p:cNvPr id="29" name="Text 26"/>
          <p:cNvSpPr/>
          <p:nvPr/>
        </p:nvSpPr>
        <p:spPr>
          <a:xfrm>
            <a:off x="566928" y="260604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C6</a:t>
            </a:r>
            <a:endParaRPr lang="en-US" sz="1300" dirty="0"/>
          </a:p>
        </p:txBody>
      </p:sp>
      <p:sp>
        <p:nvSpPr>
          <p:cNvPr id="30" name="Text 27"/>
          <p:cNvSpPr/>
          <p:nvPr/>
        </p:nvSpPr>
        <p:spPr>
          <a:xfrm>
            <a:off x="566928" y="289864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Fake bill</a:t>
            </a:r>
            <a:endParaRPr lang="en-US" sz="1200" dirty="0"/>
          </a:p>
        </p:txBody>
      </p:sp>
      <p:sp>
        <p:nvSpPr>
          <p:cNvPr id="31" name="Text 28"/>
          <p:cNvSpPr/>
          <p:nvPr/>
        </p:nvSpPr>
        <p:spPr>
          <a:xfrm>
            <a:off x="566928" y="326440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stopped, case to analysts</a:t>
            </a:r>
            <a:endParaRPr lang="en-US" sz="1000" dirty="0"/>
          </a:p>
        </p:txBody>
      </p:sp>
      <p:sp>
        <p:nvSpPr>
          <p:cNvPr id="32" name="Shape 29"/>
          <p:cNvSpPr/>
          <p:nvPr/>
        </p:nvSpPr>
        <p:spPr>
          <a:xfrm>
            <a:off x="2121408" y="2514600"/>
            <a:ext cx="1554480" cy="1188720"/>
          </a:xfrm>
          <a:prstGeom prst="roundRect">
            <a:avLst>
              <a:gd name="adj" fmla="val 7692"/>
            </a:avLst>
          </a:prstGeom>
          <a:solidFill>
            <a:srgbClr val="F4F5F7"/>
          </a:solidFill>
          <a:ln w="12700">
            <a:solidFill>
              <a:srgbClr val="F4F5F7"/>
            </a:solidFill>
            <a:prstDash val="solid"/>
          </a:ln>
        </p:spPr>
      </p:sp>
      <p:sp>
        <p:nvSpPr>
          <p:cNvPr id="33" name="Text 30"/>
          <p:cNvSpPr/>
          <p:nvPr/>
        </p:nvSpPr>
        <p:spPr>
          <a:xfrm>
            <a:off x="2231136" y="260604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C7</a:t>
            </a:r>
            <a:endParaRPr lang="en-US" sz="1300" dirty="0"/>
          </a:p>
        </p:txBody>
      </p:sp>
      <p:sp>
        <p:nvSpPr>
          <p:cNvPr id="34" name="Text 31"/>
          <p:cNvSpPr/>
          <p:nvPr/>
        </p:nvSpPr>
        <p:spPr>
          <a:xfrm>
            <a:off x="2231136" y="289864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Trial turns paid</a:t>
            </a:r>
            <a:endParaRPr lang="en-US" sz="1200" dirty="0"/>
          </a:p>
        </p:txBody>
      </p:sp>
      <p:sp>
        <p:nvSpPr>
          <p:cNvPr id="35" name="Text 32"/>
          <p:cNvSpPr/>
          <p:nvPr/>
        </p:nvSpPr>
        <p:spPr>
          <a:xfrm>
            <a:off x="2231136" y="326440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cancelled before charge</a:t>
            </a:r>
            <a:endParaRPr lang="en-US" sz="1000" dirty="0"/>
          </a:p>
        </p:txBody>
      </p:sp>
      <p:sp>
        <p:nvSpPr>
          <p:cNvPr id="36" name="Shape 33"/>
          <p:cNvSpPr/>
          <p:nvPr/>
        </p:nvSpPr>
        <p:spPr>
          <a:xfrm>
            <a:off x="3785616" y="2514600"/>
            <a:ext cx="1554480" cy="1188720"/>
          </a:xfrm>
          <a:prstGeom prst="roundRect">
            <a:avLst>
              <a:gd name="adj" fmla="val 7692"/>
            </a:avLst>
          </a:prstGeom>
          <a:solidFill>
            <a:srgbClr val="F4F5F7"/>
          </a:solidFill>
          <a:ln w="12700">
            <a:solidFill>
              <a:srgbClr val="F4F5F7"/>
            </a:solidFill>
            <a:prstDash val="solid"/>
          </a:ln>
        </p:spPr>
      </p:sp>
      <p:sp>
        <p:nvSpPr>
          <p:cNvPr id="37" name="Text 34"/>
          <p:cNvSpPr/>
          <p:nvPr/>
        </p:nvSpPr>
        <p:spPr>
          <a:xfrm>
            <a:off x="3895344" y="260604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C8</a:t>
            </a:r>
            <a:endParaRPr lang="en-US" sz="1300" dirty="0"/>
          </a:p>
        </p:txBody>
      </p:sp>
      <p:sp>
        <p:nvSpPr>
          <p:cNvPr id="38" name="Text 35"/>
          <p:cNvSpPr/>
          <p:nvPr/>
        </p:nvSpPr>
        <p:spPr>
          <a:xfrm>
            <a:off x="3895344" y="289864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Budget and goal</a:t>
            </a:r>
            <a:endParaRPr lang="en-US" sz="1200" dirty="0"/>
          </a:p>
        </p:txBody>
      </p:sp>
      <p:sp>
        <p:nvSpPr>
          <p:cNvPr id="39" name="Text 36"/>
          <p:cNvSpPr/>
          <p:nvPr/>
        </p:nvSpPr>
        <p:spPr>
          <a:xfrm>
            <a:off x="3895344" y="326440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envelopes, safe-to-spend</a:t>
            </a:r>
            <a:endParaRPr lang="en-US" sz="1000" dirty="0"/>
          </a:p>
        </p:txBody>
      </p:sp>
      <p:sp>
        <p:nvSpPr>
          <p:cNvPr id="40" name="Shape 37"/>
          <p:cNvSpPr/>
          <p:nvPr/>
        </p:nvSpPr>
        <p:spPr>
          <a:xfrm>
            <a:off x="5449824" y="2514600"/>
            <a:ext cx="1554480" cy="1188720"/>
          </a:xfrm>
          <a:prstGeom prst="roundRect">
            <a:avLst>
              <a:gd name="adj" fmla="val 7692"/>
            </a:avLst>
          </a:prstGeom>
          <a:solidFill>
            <a:srgbClr val="F4F5F7"/>
          </a:solidFill>
          <a:ln w="12700">
            <a:solidFill>
              <a:srgbClr val="F4F5F7"/>
            </a:solidFill>
            <a:prstDash val="solid"/>
          </a:ln>
        </p:spPr>
      </p:sp>
      <p:sp>
        <p:nvSpPr>
          <p:cNvPr id="41" name="Text 38"/>
          <p:cNvSpPr/>
          <p:nvPr/>
        </p:nvSpPr>
        <p:spPr>
          <a:xfrm>
            <a:off x="5559552" y="260604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C9</a:t>
            </a:r>
            <a:endParaRPr lang="en-US" sz="1300" dirty="0"/>
          </a:p>
        </p:txBody>
      </p:sp>
      <p:sp>
        <p:nvSpPr>
          <p:cNvPr id="42" name="Text 39"/>
          <p:cNvSpPr/>
          <p:nvPr/>
        </p:nvSpPr>
        <p:spPr>
          <a:xfrm>
            <a:off x="5559552" y="289864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Scam call</a:t>
            </a:r>
            <a:endParaRPr lang="en-US" sz="1200" dirty="0"/>
          </a:p>
        </p:txBody>
      </p:sp>
      <p:sp>
        <p:nvSpPr>
          <p:cNvPr id="43" name="Text 40"/>
          <p:cNvSpPr/>
          <p:nvPr/>
        </p:nvSpPr>
        <p:spPr>
          <a:xfrm>
            <a:off x="5559552" y="326440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pause → analyst hold</a:t>
            </a:r>
            <a:endParaRPr lang="en-US" sz="1000" dirty="0"/>
          </a:p>
        </p:txBody>
      </p:sp>
      <p:sp>
        <p:nvSpPr>
          <p:cNvPr id="44" name="Shape 41"/>
          <p:cNvSpPr/>
          <p:nvPr/>
        </p:nvSpPr>
        <p:spPr>
          <a:xfrm>
            <a:off x="7114032" y="2514600"/>
            <a:ext cx="1554480" cy="1188720"/>
          </a:xfrm>
          <a:prstGeom prst="roundRect">
            <a:avLst>
              <a:gd name="adj" fmla="val 7692"/>
            </a:avLst>
          </a:prstGeom>
          <a:solidFill>
            <a:srgbClr val="F4F5F7"/>
          </a:solidFill>
          <a:ln w="12700">
            <a:solidFill>
              <a:srgbClr val="F4F5F7"/>
            </a:solidFill>
            <a:prstDash val="solid"/>
          </a:ln>
        </p:spPr>
      </p:sp>
      <p:sp>
        <p:nvSpPr>
          <p:cNvPr id="45" name="Text 42"/>
          <p:cNvSpPr/>
          <p:nvPr/>
        </p:nvSpPr>
        <p:spPr>
          <a:xfrm>
            <a:off x="7223760" y="2606040"/>
            <a:ext cx="1280160" cy="274320"/>
          </a:xfrm>
          <a:prstGeom prst="rect">
            <a:avLst/>
          </a:prstGeom>
          <a:noFill/>
          <a:ln/>
        </p:spPr>
        <p:txBody>
          <a:bodyPr wrap="square" lIns="0" tIns="0" rIns="0" bIns="0" rtlCol="0" anchor="ctr"/>
          <a:lstStyle/>
          <a:p>
            <a:pPr indent="0" marL="0">
              <a:buNone/>
            </a:pPr>
            <a:r>
              <a:rPr lang="en-US" sz="1300" b="1" dirty="0">
                <a:solidFill>
                  <a:srgbClr val="1D4ED8"/>
                </a:solidFill>
                <a:latin typeface="Inter" pitchFamily="34" charset="0"/>
                <a:ea typeface="Inter" pitchFamily="34" charset="-122"/>
                <a:cs typeface="Inter" pitchFamily="34" charset="-120"/>
              </a:rPr>
              <a:t>C10</a:t>
            </a:r>
            <a:endParaRPr lang="en-US" sz="1300" dirty="0"/>
          </a:p>
        </p:txBody>
      </p:sp>
      <p:sp>
        <p:nvSpPr>
          <p:cNvPr id="46" name="Text 43"/>
          <p:cNvSpPr/>
          <p:nvPr/>
        </p:nvSpPr>
        <p:spPr>
          <a:xfrm>
            <a:off x="7223760" y="2898648"/>
            <a:ext cx="1371600" cy="36576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Risky payee</a:t>
            </a:r>
            <a:endParaRPr lang="en-US" sz="1200" dirty="0"/>
          </a:p>
        </p:txBody>
      </p:sp>
      <p:sp>
        <p:nvSpPr>
          <p:cNvPr id="47" name="Text 44"/>
          <p:cNvSpPr/>
          <p:nvPr/>
        </p:nvSpPr>
        <p:spPr>
          <a:xfrm>
            <a:off x="7223760" y="3264408"/>
            <a:ext cx="137160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transfer-graph model</a:t>
            </a:r>
            <a:endParaRPr lang="en-US" sz="1000" dirty="0"/>
          </a:p>
        </p:txBody>
      </p:sp>
      <p:sp>
        <p:nvSpPr>
          <p:cNvPr id="48" name="Text 45"/>
          <p:cNvSpPr/>
          <p:nvPr/>
        </p:nvSpPr>
        <p:spPr>
          <a:xfrm>
            <a:off x="457200" y="3931920"/>
            <a:ext cx="1645920" cy="548640"/>
          </a:xfrm>
          <a:prstGeom prst="rect">
            <a:avLst/>
          </a:prstGeom>
          <a:noFill/>
          <a:ln/>
        </p:spPr>
        <p:txBody>
          <a:bodyPr wrap="square" lIns="0" tIns="0" rIns="0" bIns="0" rtlCol="0" anchor="ctr"/>
          <a:lstStyle/>
          <a:p>
            <a:pPr indent="0" marL="0">
              <a:buNone/>
            </a:pPr>
            <a:r>
              <a:rPr lang="en-US" sz="1800" b="1" dirty="0">
                <a:solidFill>
                  <a:srgbClr val="1D4ED8"/>
                </a:solidFill>
                <a:latin typeface="Inter" pitchFamily="34" charset="0"/>
                <a:ea typeface="Inter" pitchFamily="34" charset="-122"/>
                <a:cs typeface="Inter" pitchFamily="34" charset="-120"/>
              </a:rPr>
              <a:t>$9.63 </a:t>
            </a:r>
            <a:pPr indent="0" marL="0">
              <a:buNone/>
            </a:pPr>
            <a:r>
              <a:rPr lang="en-US" sz="1200" dirty="0">
                <a:solidFill>
                  <a:srgbClr val="667085"/>
                </a:solidFill>
                <a:latin typeface="Inter" pitchFamily="34" charset="0"/>
                <a:ea typeface="Inter" pitchFamily="34" charset="-122"/>
                <a:cs typeface="Inter" pitchFamily="34" charset="-120"/>
              </a:rPr>
              <a:t>saved a month</a:t>
            </a:r>
            <a:endParaRPr lang="en-US" sz="1800" dirty="0"/>
          </a:p>
        </p:txBody>
      </p:sp>
      <p:sp>
        <p:nvSpPr>
          <p:cNvPr id="49" name="Text 46"/>
          <p:cNvSpPr/>
          <p:nvPr/>
        </p:nvSpPr>
        <p:spPr>
          <a:xfrm>
            <a:off x="2121408" y="3931920"/>
            <a:ext cx="1645920" cy="548640"/>
          </a:xfrm>
          <a:prstGeom prst="rect">
            <a:avLst/>
          </a:prstGeom>
          <a:noFill/>
          <a:ln/>
        </p:spPr>
        <p:txBody>
          <a:bodyPr wrap="square" lIns="0" tIns="0" rIns="0" bIns="0" rtlCol="0" anchor="ctr"/>
          <a:lstStyle/>
          <a:p>
            <a:pPr indent="0" marL="0">
              <a:buNone/>
            </a:pPr>
            <a:r>
              <a:rPr lang="en-US" sz="1800" b="1" dirty="0">
                <a:solidFill>
                  <a:srgbClr val="1D4ED8"/>
                </a:solidFill>
                <a:latin typeface="Inter" pitchFamily="34" charset="0"/>
                <a:ea typeface="Inter" pitchFamily="34" charset="-122"/>
                <a:cs typeface="Inter" pitchFamily="34" charset="-120"/>
              </a:rPr>
              <a:t>13 </a:t>
            </a:r>
            <a:pPr indent="0" marL="0">
              <a:buNone/>
            </a:pPr>
            <a:r>
              <a:rPr lang="en-US" sz="1200" dirty="0">
                <a:solidFill>
                  <a:srgbClr val="667085"/>
                </a:solidFill>
                <a:latin typeface="Inter" pitchFamily="34" charset="0"/>
                <a:ea typeface="Inter" pitchFamily="34" charset="-122"/>
                <a:cs typeface="Inter" pitchFamily="34" charset="-120"/>
              </a:rPr>
              <a:t>done</a:t>
            </a:r>
            <a:endParaRPr lang="en-US" sz="1800" dirty="0"/>
          </a:p>
        </p:txBody>
      </p:sp>
      <p:sp>
        <p:nvSpPr>
          <p:cNvPr id="50" name="Text 47"/>
          <p:cNvSpPr/>
          <p:nvPr/>
        </p:nvSpPr>
        <p:spPr>
          <a:xfrm>
            <a:off x="3785616" y="3931920"/>
            <a:ext cx="1645920" cy="548640"/>
          </a:xfrm>
          <a:prstGeom prst="rect">
            <a:avLst/>
          </a:prstGeom>
          <a:noFill/>
          <a:ln/>
        </p:spPr>
        <p:txBody>
          <a:bodyPr wrap="square" lIns="0" tIns="0" rIns="0" bIns="0" rtlCol="0" anchor="ctr"/>
          <a:lstStyle/>
          <a:p>
            <a:pPr indent="0" marL="0">
              <a:buNone/>
            </a:pPr>
            <a:r>
              <a:rPr lang="en-US" sz="1800" b="1" dirty="0">
                <a:solidFill>
                  <a:srgbClr val="1D4ED8"/>
                </a:solidFill>
                <a:latin typeface="Inter" pitchFamily="34" charset="0"/>
                <a:ea typeface="Inter" pitchFamily="34" charset="-122"/>
                <a:cs typeface="Inter" pitchFamily="34" charset="-120"/>
              </a:rPr>
              <a:t>13 </a:t>
            </a:r>
            <a:pPr indent="0" marL="0">
              <a:buNone/>
            </a:pPr>
            <a:r>
              <a:rPr lang="en-US" sz="1200" dirty="0">
                <a:solidFill>
                  <a:srgbClr val="667085"/>
                </a:solidFill>
                <a:latin typeface="Inter" pitchFamily="34" charset="0"/>
                <a:ea typeface="Inter" pitchFamily="34" charset="-122"/>
                <a:cs typeface="Inter" pitchFamily="34" charset="-120"/>
              </a:rPr>
              <a:t>asked</a:t>
            </a:r>
            <a:endParaRPr lang="en-US" sz="1800" dirty="0"/>
          </a:p>
        </p:txBody>
      </p:sp>
      <p:sp>
        <p:nvSpPr>
          <p:cNvPr id="51" name="Text 48"/>
          <p:cNvSpPr/>
          <p:nvPr/>
        </p:nvSpPr>
        <p:spPr>
          <a:xfrm>
            <a:off x="5449824" y="3931920"/>
            <a:ext cx="1645920" cy="548640"/>
          </a:xfrm>
          <a:prstGeom prst="rect">
            <a:avLst/>
          </a:prstGeom>
          <a:noFill/>
          <a:ln/>
        </p:spPr>
        <p:txBody>
          <a:bodyPr wrap="square" lIns="0" tIns="0" rIns="0" bIns="0" rtlCol="0" anchor="ctr"/>
          <a:lstStyle/>
          <a:p>
            <a:pPr indent="0" marL="0">
              <a:buNone/>
            </a:pPr>
            <a:r>
              <a:rPr lang="en-US" sz="1800" b="1" dirty="0">
                <a:solidFill>
                  <a:srgbClr val="1D4ED8"/>
                </a:solidFill>
                <a:latin typeface="Inter" pitchFamily="34" charset="0"/>
                <a:ea typeface="Inter" pitchFamily="34" charset="-122"/>
                <a:cs typeface="Inter" pitchFamily="34" charset="-120"/>
              </a:rPr>
              <a:t>6 </a:t>
            </a:r>
            <a:pPr indent="0" marL="0">
              <a:buNone/>
            </a:pPr>
            <a:r>
              <a:rPr lang="en-US" sz="1200" dirty="0">
                <a:solidFill>
                  <a:srgbClr val="667085"/>
                </a:solidFill>
                <a:latin typeface="Inter" pitchFamily="34" charset="0"/>
                <a:ea typeface="Inter" pitchFamily="34" charset="-122"/>
                <a:cs typeface="Inter" pitchFamily="34" charset="-120"/>
              </a:rPr>
              <a:t>stopped</a:t>
            </a:r>
            <a:endParaRPr lang="en-US" sz="1800" dirty="0"/>
          </a:p>
        </p:txBody>
      </p:sp>
      <p:sp>
        <p:nvSpPr>
          <p:cNvPr id="52" name="Text 49"/>
          <p:cNvSpPr/>
          <p:nvPr/>
        </p:nvSpPr>
        <p:spPr>
          <a:xfrm>
            <a:off x="7114032" y="3931920"/>
            <a:ext cx="1645920" cy="548640"/>
          </a:xfrm>
          <a:prstGeom prst="rect">
            <a:avLst/>
          </a:prstGeom>
          <a:noFill/>
          <a:ln/>
        </p:spPr>
        <p:txBody>
          <a:bodyPr wrap="square" lIns="0" tIns="0" rIns="0" bIns="0" rtlCol="0" anchor="ctr"/>
          <a:lstStyle/>
          <a:p>
            <a:pPr indent="0" marL="0">
              <a:buNone/>
            </a:pPr>
            <a:r>
              <a:rPr lang="en-US" sz="1800" b="1" dirty="0">
                <a:solidFill>
                  <a:srgbClr val="1D4ED8"/>
                </a:solidFill>
                <a:latin typeface="Inter" pitchFamily="34" charset="0"/>
                <a:ea typeface="Inter" pitchFamily="34" charset="-122"/>
                <a:cs typeface="Inter" pitchFamily="34" charset="-120"/>
              </a:rPr>
              <a:t>437 </a:t>
            </a:r>
            <a:pPr indent="0" marL="0">
              <a:buNone/>
            </a:pPr>
            <a:r>
              <a:rPr lang="en-US" sz="1200" dirty="0">
                <a:solidFill>
                  <a:srgbClr val="667085"/>
                </a:solidFill>
                <a:latin typeface="Inter" pitchFamily="34" charset="0"/>
                <a:ea typeface="Inter" pitchFamily="34" charset="-122"/>
                <a:cs typeface="Inter" pitchFamily="34" charset="-120"/>
              </a:rPr>
              <a:t>journal entries, verified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Three scenes to remember</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5 / 15</a:t>
            </a:r>
            <a:endParaRPr lang="en-US" sz="900" dirty="0"/>
          </a:p>
        </p:txBody>
      </p:sp>
      <p:pic>
        <p:nvPicPr>
          <p:cNvPr id="8" name="Image 0" descr="/workspace/ShenzhenFinTechathonTopicA/docs/media/01_card_chat.png">    </p:cNvPr>
          <p:cNvPicPr>
            <a:picLocks noChangeAspect="1"/>
          </p:cNvPicPr>
          <p:nvPr/>
        </p:nvPicPr>
        <p:blipFill>
          <a:blip r:embed="rId1"/>
          <a:stretch>
            <a:fillRect/>
          </a:stretch>
        </p:blipFill>
        <p:spPr>
          <a:xfrm>
            <a:off x="457200" y="1097280"/>
            <a:ext cx="2560320" cy="2595880"/>
          </a:xfrm>
          <a:prstGeom prst="rect">
            <a:avLst/>
          </a:prstGeom>
        </p:spPr>
      </p:pic>
      <p:sp>
        <p:nvSpPr>
          <p:cNvPr id="9" name="Shape 5"/>
          <p:cNvSpPr/>
          <p:nvPr/>
        </p:nvSpPr>
        <p:spPr>
          <a:xfrm>
            <a:off x="457200" y="1097280"/>
            <a:ext cx="2560320" cy="2595880"/>
          </a:xfrm>
          <a:prstGeom prst="roundRect">
            <a:avLst>
              <a:gd name="adj" fmla="val 2143"/>
            </a:avLst>
          </a:prstGeom>
          <a:ln w="12700">
            <a:solidFill>
              <a:srgbClr val="E4E7EC"/>
            </a:solidFill>
            <a:prstDash val="solid"/>
          </a:ln>
        </p:spPr>
      </p:sp>
      <p:sp>
        <p:nvSpPr>
          <p:cNvPr id="10" name="Text 6"/>
          <p:cNvSpPr/>
          <p:nvPr/>
        </p:nvSpPr>
        <p:spPr>
          <a:xfrm>
            <a:off x="457200" y="3766312"/>
            <a:ext cx="2560320" cy="27432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1  A payment the client can prove</a:t>
            </a:r>
            <a:endParaRPr lang="en-US" sz="1200" dirty="0"/>
          </a:p>
        </p:txBody>
      </p:sp>
      <p:sp>
        <p:nvSpPr>
          <p:cNvPr id="11" name="Text 7"/>
          <p:cNvSpPr/>
          <p:nvPr/>
        </p:nvSpPr>
        <p:spPr>
          <a:xfrm>
            <a:off x="457200" y="4040632"/>
            <a:ext cx="256032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card, device signature, then a standing permission</a:t>
            </a:r>
            <a:endParaRPr lang="en-US" sz="1000" dirty="0"/>
          </a:p>
        </p:txBody>
      </p:sp>
      <p:pic>
        <p:nvPicPr>
          <p:cNvPr id="12" name="Image 1" descr="/workspace/ShenzhenFinTechathonTopicA/docs/media/06_fake_bill_chat.png">    </p:cNvPr>
          <p:cNvPicPr>
            <a:picLocks noChangeAspect="1"/>
          </p:cNvPicPr>
          <p:nvPr/>
        </p:nvPicPr>
        <p:blipFill>
          <a:blip r:embed="rId2"/>
          <a:stretch>
            <a:fillRect/>
          </a:stretch>
        </p:blipFill>
        <p:spPr>
          <a:xfrm>
            <a:off x="3291840" y="1097280"/>
            <a:ext cx="2560320" cy="2595880"/>
          </a:xfrm>
          <a:prstGeom prst="rect">
            <a:avLst/>
          </a:prstGeom>
        </p:spPr>
      </p:pic>
      <p:sp>
        <p:nvSpPr>
          <p:cNvPr id="13" name="Shape 8"/>
          <p:cNvSpPr/>
          <p:nvPr/>
        </p:nvSpPr>
        <p:spPr>
          <a:xfrm>
            <a:off x="3291840" y="1097280"/>
            <a:ext cx="2560320" cy="2595880"/>
          </a:xfrm>
          <a:prstGeom prst="roundRect">
            <a:avLst>
              <a:gd name="adj" fmla="val 2143"/>
            </a:avLst>
          </a:prstGeom>
          <a:ln w="12700">
            <a:solidFill>
              <a:srgbClr val="E4E7EC"/>
            </a:solidFill>
            <a:prstDash val="solid"/>
          </a:ln>
        </p:spPr>
      </p:sp>
      <p:sp>
        <p:nvSpPr>
          <p:cNvPr id="14" name="Text 9"/>
          <p:cNvSpPr/>
          <p:nvPr/>
        </p:nvSpPr>
        <p:spPr>
          <a:xfrm>
            <a:off x="3291840" y="3766312"/>
            <a:ext cx="2560320" cy="27432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2  An attack that goes nowhere</a:t>
            </a:r>
            <a:endParaRPr lang="en-US" sz="1200" dirty="0"/>
          </a:p>
        </p:txBody>
      </p:sp>
      <p:sp>
        <p:nvSpPr>
          <p:cNvPr id="15" name="Text 10"/>
          <p:cNvSpPr/>
          <p:nvPr/>
        </p:nvSpPr>
        <p:spPr>
          <a:xfrm>
            <a:off x="3291840" y="4040632"/>
            <a:ext cx="256032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fake bill with a hidden instruction: stopped, case to analysts</a:t>
            </a:r>
            <a:endParaRPr lang="en-US" sz="1000" dirty="0"/>
          </a:p>
        </p:txBody>
      </p:sp>
      <p:pic>
        <p:nvPicPr>
          <p:cNvPr id="16" name="Image 2" descr="/workspace/ShenzhenFinTechathonTopicA/docs/media/12_invest_chat.png">    </p:cNvPr>
          <p:cNvPicPr>
            <a:picLocks noChangeAspect="1"/>
          </p:cNvPicPr>
          <p:nvPr/>
        </p:nvPicPr>
        <p:blipFill>
          <a:blip r:embed="rId3"/>
          <a:stretch>
            <a:fillRect/>
          </a:stretch>
        </p:blipFill>
        <p:spPr>
          <a:xfrm>
            <a:off x="6126480" y="1097280"/>
            <a:ext cx="2560320" cy="2595880"/>
          </a:xfrm>
          <a:prstGeom prst="rect">
            <a:avLst/>
          </a:prstGeom>
        </p:spPr>
      </p:pic>
      <p:sp>
        <p:nvSpPr>
          <p:cNvPr id="17" name="Shape 11"/>
          <p:cNvSpPr/>
          <p:nvPr/>
        </p:nvSpPr>
        <p:spPr>
          <a:xfrm>
            <a:off x="6126480" y="1097280"/>
            <a:ext cx="2560320" cy="2595880"/>
          </a:xfrm>
          <a:prstGeom prst="roundRect">
            <a:avLst>
              <a:gd name="adj" fmla="val 2143"/>
            </a:avLst>
          </a:prstGeom>
          <a:ln w="12700">
            <a:solidFill>
              <a:srgbClr val="E4E7EC"/>
            </a:solidFill>
            <a:prstDash val="solid"/>
          </a:ln>
        </p:spPr>
      </p:sp>
      <p:sp>
        <p:nvSpPr>
          <p:cNvPr id="18" name="Text 12"/>
          <p:cNvSpPr/>
          <p:nvPr/>
        </p:nvSpPr>
        <p:spPr>
          <a:xfrm>
            <a:off x="6126480" y="3766312"/>
            <a:ext cx="2560320" cy="274320"/>
          </a:xfrm>
          <a:prstGeom prst="rect">
            <a:avLst/>
          </a:prstGeom>
          <a:noFill/>
          <a:ln/>
        </p:spPr>
        <p:txBody>
          <a:bodyPr wrap="square" lIns="0" tIns="0" rIns="0" bIns="0" rtlCol="0" anchor="ctr"/>
          <a:lstStyle/>
          <a:p>
            <a:pPr indent="0" marL="0">
              <a:buNone/>
            </a:pPr>
            <a:r>
              <a:rPr lang="en-US" sz="1200" b="1" dirty="0">
                <a:solidFill>
                  <a:srgbClr val="101828"/>
                </a:solidFill>
                <a:latin typeface="Inter" pitchFamily="34" charset="0"/>
                <a:ea typeface="Inter" pitchFamily="34" charset="-122"/>
                <a:cs typeface="Inter" pitchFamily="34" charset="-120"/>
              </a:rPr>
              <a:t>3  A real exchange, in a mandate</a:t>
            </a:r>
            <a:endParaRPr lang="en-US" sz="1200" dirty="0"/>
          </a:p>
        </p:txBody>
      </p:sp>
      <p:sp>
        <p:nvSpPr>
          <p:cNvPr id="19" name="Text 13"/>
          <p:cNvSpPr/>
          <p:nvPr/>
        </p:nvSpPr>
        <p:spPr>
          <a:xfrm>
            <a:off x="6126480" y="4040632"/>
            <a:ext cx="2560320" cy="365760"/>
          </a:xfrm>
          <a:prstGeom prst="rect">
            <a:avLst/>
          </a:prstGeom>
          <a:noFill/>
          <a:ln/>
        </p:spPr>
        <p:txBody>
          <a:bodyPr wrap="square" lIns="0" tIns="0" rIns="0" bIns="0" rtlCol="0" anchor="t"/>
          <a:lstStyle/>
          <a:p>
            <a:pPr indent="0" marL="0">
              <a:buNone/>
            </a:pPr>
            <a:r>
              <a:rPr lang="en-US" sz="1000" dirty="0">
                <a:solidFill>
                  <a:srgbClr val="667085"/>
                </a:solidFill>
                <a:latin typeface="Inter" pitchFamily="34" charset="0"/>
                <a:ea typeface="Inter" pitchFamily="34" charset="-122"/>
                <a:cs typeface="Inter" pitchFamily="34" charset="-120"/>
              </a:rPr>
              <a:t>SPY on Alpaca paper, filled at $767.57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Architecture</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6 / 15</a:t>
            </a:r>
            <a:endParaRPr lang="en-US" sz="900" dirty="0"/>
          </a:p>
        </p:txBody>
      </p:sp>
      <p:pic>
        <p:nvPicPr>
          <p:cNvPr id="8" name="Image 0" descr="/workspace/ShenzhenFinTechathonTopicA/docs/diagrams/architecture.png">    </p:cNvPr>
          <p:cNvPicPr>
            <a:picLocks noChangeAspect="1"/>
          </p:cNvPicPr>
          <p:nvPr/>
        </p:nvPicPr>
        <p:blipFill>
          <a:blip r:embed="rId1"/>
          <a:stretch>
            <a:fillRect/>
          </a:stretch>
        </p:blipFill>
        <p:spPr>
          <a:xfrm>
            <a:off x="1054852" y="1005840"/>
            <a:ext cx="7034296"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One kernel pipeline for every intent</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7 / 15</a:t>
            </a:r>
            <a:endParaRPr lang="en-US" sz="900" dirty="0"/>
          </a:p>
        </p:txBody>
      </p:sp>
      <p:sp>
        <p:nvSpPr>
          <p:cNvPr id="8" name="Shape 5"/>
          <p:cNvSpPr/>
          <p:nvPr/>
        </p:nvSpPr>
        <p:spPr>
          <a:xfrm>
            <a:off x="457200" y="1234440"/>
            <a:ext cx="1234440" cy="640080"/>
          </a:xfrm>
          <a:prstGeom prst="roundRect">
            <a:avLst>
              <a:gd name="adj" fmla="val 11429"/>
            </a:avLst>
          </a:prstGeom>
          <a:solidFill>
            <a:srgbClr val="FFFFFF"/>
          </a:solidFill>
          <a:ln w="12700">
            <a:solidFill>
              <a:srgbClr val="E4E7EC"/>
            </a:solidFill>
            <a:prstDash val="solid"/>
          </a:ln>
        </p:spPr>
      </p:sp>
      <p:sp>
        <p:nvSpPr>
          <p:cNvPr id="9" name="Text 6"/>
          <p:cNvSpPr/>
          <p:nvPr/>
        </p:nvSpPr>
        <p:spPr>
          <a:xfrm>
            <a:off x="530352" y="127101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01</a:t>
            </a:r>
            <a:endParaRPr lang="en-US" sz="800" dirty="0"/>
          </a:p>
        </p:txBody>
      </p:sp>
      <p:sp>
        <p:nvSpPr>
          <p:cNvPr id="10" name="Text 7"/>
          <p:cNvSpPr/>
          <p:nvPr/>
        </p:nvSpPr>
        <p:spPr>
          <a:xfrm>
            <a:off x="457200" y="134416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Passport</a:t>
            </a:r>
            <a:endParaRPr lang="en-US" sz="1200" dirty="0"/>
          </a:p>
        </p:txBody>
      </p:sp>
      <p:sp>
        <p:nvSpPr>
          <p:cNvPr id="11" name="Text 8"/>
          <p:cNvSpPr/>
          <p:nvPr/>
        </p:nvSpPr>
        <p:spPr>
          <a:xfrm>
            <a:off x="1691640" y="1234440"/>
            <a:ext cx="137160" cy="6400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12" name="Shape 9"/>
          <p:cNvSpPr/>
          <p:nvPr/>
        </p:nvSpPr>
        <p:spPr>
          <a:xfrm>
            <a:off x="1828800" y="1234440"/>
            <a:ext cx="1234440" cy="640080"/>
          </a:xfrm>
          <a:prstGeom prst="roundRect">
            <a:avLst>
              <a:gd name="adj" fmla="val 11429"/>
            </a:avLst>
          </a:prstGeom>
          <a:solidFill>
            <a:srgbClr val="FFFFFF"/>
          </a:solidFill>
          <a:ln w="12700">
            <a:solidFill>
              <a:srgbClr val="E4E7EC"/>
            </a:solidFill>
            <a:prstDash val="solid"/>
          </a:ln>
        </p:spPr>
      </p:sp>
      <p:sp>
        <p:nvSpPr>
          <p:cNvPr id="13" name="Text 10"/>
          <p:cNvSpPr/>
          <p:nvPr/>
        </p:nvSpPr>
        <p:spPr>
          <a:xfrm>
            <a:off x="1901952" y="127101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02</a:t>
            </a:r>
            <a:endParaRPr lang="en-US" sz="800" dirty="0"/>
          </a:p>
        </p:txBody>
      </p:sp>
      <p:sp>
        <p:nvSpPr>
          <p:cNvPr id="14" name="Text 11"/>
          <p:cNvSpPr/>
          <p:nvPr/>
        </p:nvSpPr>
        <p:spPr>
          <a:xfrm>
            <a:off x="1828800" y="134416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Schema</a:t>
            </a:r>
            <a:endParaRPr lang="en-US" sz="1200" dirty="0"/>
          </a:p>
        </p:txBody>
      </p:sp>
      <p:sp>
        <p:nvSpPr>
          <p:cNvPr id="15" name="Text 12"/>
          <p:cNvSpPr/>
          <p:nvPr/>
        </p:nvSpPr>
        <p:spPr>
          <a:xfrm>
            <a:off x="3063240" y="1234440"/>
            <a:ext cx="137160" cy="6400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16" name="Shape 13"/>
          <p:cNvSpPr/>
          <p:nvPr/>
        </p:nvSpPr>
        <p:spPr>
          <a:xfrm>
            <a:off x="3200400" y="1234440"/>
            <a:ext cx="1234440" cy="640080"/>
          </a:xfrm>
          <a:prstGeom prst="roundRect">
            <a:avLst>
              <a:gd name="adj" fmla="val 11429"/>
            </a:avLst>
          </a:prstGeom>
          <a:solidFill>
            <a:srgbClr val="FFFFFF"/>
          </a:solidFill>
          <a:ln w="12700">
            <a:solidFill>
              <a:srgbClr val="E4E7EC"/>
            </a:solidFill>
            <a:prstDash val="solid"/>
          </a:ln>
        </p:spPr>
      </p:sp>
      <p:sp>
        <p:nvSpPr>
          <p:cNvPr id="17" name="Text 14"/>
          <p:cNvSpPr/>
          <p:nvPr/>
        </p:nvSpPr>
        <p:spPr>
          <a:xfrm>
            <a:off x="3273552" y="127101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03</a:t>
            </a:r>
            <a:endParaRPr lang="en-US" sz="800" dirty="0"/>
          </a:p>
        </p:txBody>
      </p:sp>
      <p:sp>
        <p:nvSpPr>
          <p:cNvPr id="18" name="Text 15"/>
          <p:cNvSpPr/>
          <p:nvPr/>
        </p:nvSpPr>
        <p:spPr>
          <a:xfrm>
            <a:off x="3200400" y="134416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Mandate</a:t>
            </a:r>
            <a:endParaRPr lang="en-US" sz="1200" dirty="0"/>
          </a:p>
        </p:txBody>
      </p:sp>
      <p:sp>
        <p:nvSpPr>
          <p:cNvPr id="19" name="Text 16"/>
          <p:cNvSpPr/>
          <p:nvPr/>
        </p:nvSpPr>
        <p:spPr>
          <a:xfrm>
            <a:off x="4434840" y="1234440"/>
            <a:ext cx="137160" cy="6400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20" name="Shape 17"/>
          <p:cNvSpPr/>
          <p:nvPr/>
        </p:nvSpPr>
        <p:spPr>
          <a:xfrm>
            <a:off x="4572000" y="1234440"/>
            <a:ext cx="1234440" cy="640080"/>
          </a:xfrm>
          <a:prstGeom prst="roundRect">
            <a:avLst>
              <a:gd name="adj" fmla="val 11429"/>
            </a:avLst>
          </a:prstGeom>
          <a:solidFill>
            <a:srgbClr val="FFFFFF"/>
          </a:solidFill>
          <a:ln w="12700">
            <a:solidFill>
              <a:srgbClr val="E4E7EC"/>
            </a:solidFill>
            <a:prstDash val="solid"/>
          </a:ln>
        </p:spPr>
      </p:sp>
      <p:sp>
        <p:nvSpPr>
          <p:cNvPr id="21" name="Text 18"/>
          <p:cNvSpPr/>
          <p:nvPr/>
        </p:nvSpPr>
        <p:spPr>
          <a:xfrm>
            <a:off x="4645152" y="127101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04</a:t>
            </a:r>
            <a:endParaRPr lang="en-US" sz="800" dirty="0"/>
          </a:p>
        </p:txBody>
      </p:sp>
      <p:sp>
        <p:nvSpPr>
          <p:cNvPr id="22" name="Text 19"/>
          <p:cNvSpPr/>
          <p:nvPr/>
        </p:nvSpPr>
        <p:spPr>
          <a:xfrm>
            <a:off x="4572000" y="134416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Provenance</a:t>
            </a:r>
            <a:endParaRPr lang="en-US" sz="1200" dirty="0"/>
          </a:p>
        </p:txBody>
      </p:sp>
      <p:sp>
        <p:nvSpPr>
          <p:cNvPr id="23" name="Text 20"/>
          <p:cNvSpPr/>
          <p:nvPr/>
        </p:nvSpPr>
        <p:spPr>
          <a:xfrm>
            <a:off x="5806440" y="1234440"/>
            <a:ext cx="137160" cy="6400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24" name="Shape 21"/>
          <p:cNvSpPr/>
          <p:nvPr/>
        </p:nvSpPr>
        <p:spPr>
          <a:xfrm>
            <a:off x="5943600" y="1234440"/>
            <a:ext cx="1234440" cy="640080"/>
          </a:xfrm>
          <a:prstGeom prst="roundRect">
            <a:avLst>
              <a:gd name="adj" fmla="val 11429"/>
            </a:avLst>
          </a:prstGeom>
          <a:solidFill>
            <a:srgbClr val="FFFFFF"/>
          </a:solidFill>
          <a:ln w="12700">
            <a:solidFill>
              <a:srgbClr val="E4E7EC"/>
            </a:solidFill>
            <a:prstDash val="solid"/>
          </a:ln>
        </p:spPr>
      </p:sp>
      <p:sp>
        <p:nvSpPr>
          <p:cNvPr id="25" name="Text 22"/>
          <p:cNvSpPr/>
          <p:nvPr/>
        </p:nvSpPr>
        <p:spPr>
          <a:xfrm>
            <a:off x="6016752" y="127101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05</a:t>
            </a:r>
            <a:endParaRPr lang="en-US" sz="800" dirty="0"/>
          </a:p>
        </p:txBody>
      </p:sp>
      <p:sp>
        <p:nvSpPr>
          <p:cNvPr id="26" name="Text 23"/>
          <p:cNvSpPr/>
          <p:nvPr/>
        </p:nvSpPr>
        <p:spPr>
          <a:xfrm>
            <a:off x="5943600" y="134416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References</a:t>
            </a:r>
            <a:endParaRPr lang="en-US" sz="1200" dirty="0"/>
          </a:p>
        </p:txBody>
      </p:sp>
      <p:sp>
        <p:nvSpPr>
          <p:cNvPr id="27" name="Text 24"/>
          <p:cNvSpPr/>
          <p:nvPr/>
        </p:nvSpPr>
        <p:spPr>
          <a:xfrm>
            <a:off x="7178040" y="1234440"/>
            <a:ext cx="137160" cy="6400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28" name="Shape 25"/>
          <p:cNvSpPr/>
          <p:nvPr/>
        </p:nvSpPr>
        <p:spPr>
          <a:xfrm>
            <a:off x="7315200" y="1234440"/>
            <a:ext cx="1234440" cy="640080"/>
          </a:xfrm>
          <a:prstGeom prst="roundRect">
            <a:avLst>
              <a:gd name="adj" fmla="val 11429"/>
            </a:avLst>
          </a:prstGeom>
          <a:solidFill>
            <a:srgbClr val="FFFFFF"/>
          </a:solidFill>
          <a:ln w="12700">
            <a:solidFill>
              <a:srgbClr val="E4E7EC"/>
            </a:solidFill>
            <a:prstDash val="solid"/>
          </a:ln>
        </p:spPr>
      </p:sp>
      <p:sp>
        <p:nvSpPr>
          <p:cNvPr id="29" name="Text 26"/>
          <p:cNvSpPr/>
          <p:nvPr/>
        </p:nvSpPr>
        <p:spPr>
          <a:xfrm>
            <a:off x="7388352" y="127101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06</a:t>
            </a:r>
            <a:endParaRPr lang="en-US" sz="800" dirty="0"/>
          </a:p>
        </p:txBody>
      </p:sp>
      <p:sp>
        <p:nvSpPr>
          <p:cNvPr id="30" name="Text 27"/>
          <p:cNvSpPr/>
          <p:nvPr/>
        </p:nvSpPr>
        <p:spPr>
          <a:xfrm>
            <a:off x="7315200" y="134416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Policy</a:t>
            </a:r>
            <a:endParaRPr lang="en-US" sz="1200" dirty="0"/>
          </a:p>
        </p:txBody>
      </p:sp>
      <p:sp>
        <p:nvSpPr>
          <p:cNvPr id="31" name="Shape 28"/>
          <p:cNvSpPr/>
          <p:nvPr/>
        </p:nvSpPr>
        <p:spPr>
          <a:xfrm>
            <a:off x="457200" y="2103120"/>
            <a:ext cx="1234440" cy="640080"/>
          </a:xfrm>
          <a:prstGeom prst="roundRect">
            <a:avLst>
              <a:gd name="adj" fmla="val 11429"/>
            </a:avLst>
          </a:prstGeom>
          <a:solidFill>
            <a:srgbClr val="FFFFFF"/>
          </a:solidFill>
          <a:ln w="12700">
            <a:solidFill>
              <a:srgbClr val="E4E7EC"/>
            </a:solidFill>
            <a:prstDash val="solid"/>
          </a:ln>
        </p:spPr>
      </p:sp>
      <p:sp>
        <p:nvSpPr>
          <p:cNvPr id="32" name="Text 29"/>
          <p:cNvSpPr/>
          <p:nvPr/>
        </p:nvSpPr>
        <p:spPr>
          <a:xfrm>
            <a:off x="530352" y="213969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07</a:t>
            </a:r>
            <a:endParaRPr lang="en-US" sz="800" dirty="0"/>
          </a:p>
        </p:txBody>
      </p:sp>
      <p:sp>
        <p:nvSpPr>
          <p:cNvPr id="33" name="Text 30"/>
          <p:cNvSpPr/>
          <p:nvPr/>
        </p:nvSpPr>
        <p:spPr>
          <a:xfrm>
            <a:off x="457200" y="221284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Risk</a:t>
            </a:r>
            <a:endParaRPr lang="en-US" sz="1200" dirty="0"/>
          </a:p>
        </p:txBody>
      </p:sp>
      <p:sp>
        <p:nvSpPr>
          <p:cNvPr id="34" name="Text 31"/>
          <p:cNvSpPr/>
          <p:nvPr/>
        </p:nvSpPr>
        <p:spPr>
          <a:xfrm>
            <a:off x="1691640" y="2103120"/>
            <a:ext cx="137160" cy="6400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35" name="Shape 32"/>
          <p:cNvSpPr/>
          <p:nvPr/>
        </p:nvSpPr>
        <p:spPr>
          <a:xfrm>
            <a:off x="1828800" y="2103120"/>
            <a:ext cx="1234440" cy="640080"/>
          </a:xfrm>
          <a:prstGeom prst="roundRect">
            <a:avLst>
              <a:gd name="adj" fmla="val 11429"/>
            </a:avLst>
          </a:prstGeom>
          <a:solidFill>
            <a:srgbClr val="FFFFFF"/>
          </a:solidFill>
          <a:ln w="12700">
            <a:solidFill>
              <a:srgbClr val="E4E7EC"/>
            </a:solidFill>
            <a:prstDash val="solid"/>
          </a:ln>
        </p:spPr>
      </p:sp>
      <p:sp>
        <p:nvSpPr>
          <p:cNvPr id="36" name="Text 33"/>
          <p:cNvSpPr/>
          <p:nvPr/>
        </p:nvSpPr>
        <p:spPr>
          <a:xfrm>
            <a:off x="1901952" y="213969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08</a:t>
            </a:r>
            <a:endParaRPr lang="en-US" sz="800" dirty="0"/>
          </a:p>
        </p:txBody>
      </p:sp>
      <p:sp>
        <p:nvSpPr>
          <p:cNvPr id="37" name="Text 34"/>
          <p:cNvSpPr/>
          <p:nvPr/>
        </p:nvSpPr>
        <p:spPr>
          <a:xfrm>
            <a:off x="1828800" y="221284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Critic</a:t>
            </a:r>
            <a:endParaRPr lang="en-US" sz="1200" dirty="0"/>
          </a:p>
        </p:txBody>
      </p:sp>
      <p:sp>
        <p:nvSpPr>
          <p:cNvPr id="38" name="Text 35"/>
          <p:cNvSpPr/>
          <p:nvPr/>
        </p:nvSpPr>
        <p:spPr>
          <a:xfrm>
            <a:off x="3063240" y="2103120"/>
            <a:ext cx="137160" cy="6400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39" name="Shape 36"/>
          <p:cNvSpPr/>
          <p:nvPr/>
        </p:nvSpPr>
        <p:spPr>
          <a:xfrm>
            <a:off x="3200400" y="2103120"/>
            <a:ext cx="1234440" cy="640080"/>
          </a:xfrm>
          <a:prstGeom prst="roundRect">
            <a:avLst>
              <a:gd name="adj" fmla="val 11429"/>
            </a:avLst>
          </a:prstGeom>
          <a:solidFill>
            <a:srgbClr val="FFFFFF"/>
          </a:solidFill>
          <a:ln w="12700">
            <a:solidFill>
              <a:srgbClr val="E4E7EC"/>
            </a:solidFill>
            <a:prstDash val="solid"/>
          </a:ln>
        </p:spPr>
      </p:sp>
      <p:sp>
        <p:nvSpPr>
          <p:cNvPr id="40" name="Text 37"/>
          <p:cNvSpPr/>
          <p:nvPr/>
        </p:nvSpPr>
        <p:spPr>
          <a:xfrm>
            <a:off x="3273552" y="213969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09</a:t>
            </a:r>
            <a:endParaRPr lang="en-US" sz="800" dirty="0"/>
          </a:p>
        </p:txBody>
      </p:sp>
      <p:sp>
        <p:nvSpPr>
          <p:cNvPr id="41" name="Text 38"/>
          <p:cNvSpPr/>
          <p:nvPr/>
        </p:nvSpPr>
        <p:spPr>
          <a:xfrm>
            <a:off x="3200400" y="221284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Shadow run</a:t>
            </a:r>
            <a:endParaRPr lang="en-US" sz="1200" dirty="0"/>
          </a:p>
        </p:txBody>
      </p:sp>
      <p:sp>
        <p:nvSpPr>
          <p:cNvPr id="42" name="Text 39"/>
          <p:cNvSpPr/>
          <p:nvPr/>
        </p:nvSpPr>
        <p:spPr>
          <a:xfrm>
            <a:off x="4434840" y="2103120"/>
            <a:ext cx="137160" cy="6400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43" name="Shape 40"/>
          <p:cNvSpPr/>
          <p:nvPr/>
        </p:nvSpPr>
        <p:spPr>
          <a:xfrm>
            <a:off x="4572000" y="2103120"/>
            <a:ext cx="1234440" cy="640080"/>
          </a:xfrm>
          <a:prstGeom prst="roundRect">
            <a:avLst>
              <a:gd name="adj" fmla="val 11429"/>
            </a:avLst>
          </a:prstGeom>
          <a:solidFill>
            <a:srgbClr val="F3F0FF"/>
          </a:solidFill>
          <a:ln w="12700">
            <a:solidFill>
              <a:srgbClr val="D4CCF9"/>
            </a:solidFill>
            <a:prstDash val="solid"/>
          </a:ln>
        </p:spPr>
      </p:sp>
      <p:sp>
        <p:nvSpPr>
          <p:cNvPr id="44" name="Text 41"/>
          <p:cNvSpPr/>
          <p:nvPr/>
        </p:nvSpPr>
        <p:spPr>
          <a:xfrm>
            <a:off x="4645152" y="213969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10</a:t>
            </a:r>
            <a:endParaRPr lang="en-US" sz="800" dirty="0"/>
          </a:p>
        </p:txBody>
      </p:sp>
      <p:sp>
        <p:nvSpPr>
          <p:cNvPr id="45" name="Text 42"/>
          <p:cNvSpPr/>
          <p:nvPr/>
        </p:nvSpPr>
        <p:spPr>
          <a:xfrm>
            <a:off x="4572000" y="221284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Execute</a:t>
            </a:r>
            <a:endParaRPr lang="en-US" sz="1200" dirty="0"/>
          </a:p>
        </p:txBody>
      </p:sp>
      <p:sp>
        <p:nvSpPr>
          <p:cNvPr id="46" name="Text 43"/>
          <p:cNvSpPr/>
          <p:nvPr/>
        </p:nvSpPr>
        <p:spPr>
          <a:xfrm>
            <a:off x="5806440" y="2103120"/>
            <a:ext cx="137160" cy="6400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47" name="Shape 44"/>
          <p:cNvSpPr/>
          <p:nvPr/>
        </p:nvSpPr>
        <p:spPr>
          <a:xfrm>
            <a:off x="5943600" y="2103120"/>
            <a:ext cx="1234440" cy="640080"/>
          </a:xfrm>
          <a:prstGeom prst="roundRect">
            <a:avLst>
              <a:gd name="adj" fmla="val 11429"/>
            </a:avLst>
          </a:prstGeom>
          <a:solidFill>
            <a:srgbClr val="F3F0FF"/>
          </a:solidFill>
          <a:ln w="12700">
            <a:solidFill>
              <a:srgbClr val="D4CCF9"/>
            </a:solidFill>
            <a:prstDash val="solid"/>
          </a:ln>
        </p:spPr>
      </p:sp>
      <p:sp>
        <p:nvSpPr>
          <p:cNvPr id="48" name="Text 45"/>
          <p:cNvSpPr/>
          <p:nvPr/>
        </p:nvSpPr>
        <p:spPr>
          <a:xfrm>
            <a:off x="6016752" y="2139696"/>
            <a:ext cx="457200" cy="182880"/>
          </a:xfrm>
          <a:prstGeom prst="rect">
            <a:avLst/>
          </a:prstGeom>
          <a:noFill/>
          <a:ln/>
        </p:spPr>
        <p:txBody>
          <a:bodyPr wrap="square" lIns="0" tIns="0" rIns="0" bIns="0" rtlCol="0" anchor="ctr"/>
          <a:lstStyle/>
          <a:p>
            <a:pPr indent="0" marL="0">
              <a:buNone/>
            </a:pPr>
            <a:r>
              <a:rPr lang="en-US" sz="800" dirty="0">
                <a:solidFill>
                  <a:srgbClr val="667085"/>
                </a:solidFill>
                <a:latin typeface="Inter" pitchFamily="34" charset="0"/>
                <a:ea typeface="Inter" pitchFamily="34" charset="-122"/>
                <a:cs typeface="Inter" pitchFamily="34" charset="-120"/>
              </a:rPr>
              <a:t>11</a:t>
            </a:r>
            <a:endParaRPr lang="en-US" sz="800" dirty="0"/>
          </a:p>
        </p:txBody>
      </p:sp>
      <p:sp>
        <p:nvSpPr>
          <p:cNvPr id="49" name="Text 46"/>
          <p:cNvSpPr/>
          <p:nvPr/>
        </p:nvSpPr>
        <p:spPr>
          <a:xfrm>
            <a:off x="5943600" y="2212848"/>
            <a:ext cx="1234440" cy="530352"/>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Verify</a:t>
            </a:r>
            <a:endParaRPr lang="en-US" sz="1200" dirty="0"/>
          </a:p>
        </p:txBody>
      </p:sp>
      <p:sp>
        <p:nvSpPr>
          <p:cNvPr id="50" name="Text 47"/>
          <p:cNvSpPr/>
          <p:nvPr/>
        </p:nvSpPr>
        <p:spPr>
          <a:xfrm>
            <a:off x="457200" y="3108960"/>
            <a:ext cx="4023360" cy="777240"/>
          </a:xfrm>
          <a:prstGeom prst="rect">
            <a:avLst/>
          </a:prstGeom>
          <a:noFill/>
          <a:ln/>
        </p:spPr>
        <p:txBody>
          <a:bodyPr wrap="square" lIns="0" tIns="0" rIns="0" bIns="0" rtlCol="0" anchor="t"/>
          <a:lstStyle/>
          <a:p>
            <a:pPr indent="0" marL="0">
              <a:buNone/>
            </a:pPr>
            <a:r>
              <a:rPr lang="en-US" sz="1200" b="1" dirty="0">
                <a:solidFill>
                  <a:srgbClr val="1D4ED8"/>
                </a:solidFill>
                <a:latin typeface="Inter" pitchFamily="34" charset="0"/>
                <a:ea typeface="Inter" pitchFamily="34" charset="-122"/>
                <a:cs typeface="Inter" pitchFamily="34" charset="-120"/>
              </a:rPr>
              <a:t>Provenance  </a:t>
            </a:r>
            <a:pPr indent="0" marL="0">
              <a:buNone/>
            </a:pPr>
            <a:r>
              <a:rPr lang="en-US" sz="1200" dirty="0">
                <a:solidFill>
                  <a:srgbClr val="101828"/>
                </a:solidFill>
                <a:latin typeface="Inter" pitchFamily="34" charset="0"/>
                <a:ea typeface="Inter" pitchFamily="34" charset="-122"/>
                <a:cs typeface="Inter" pitchFamily="34" charset="-120"/>
              </a:rPr>
              <a:t>CLIENT · BANK · UNTRUSTED. A value from a bill or a web page can never set the payee or the amount.</a:t>
            </a:r>
            <a:endParaRPr lang="en-US" sz="1200" dirty="0"/>
          </a:p>
        </p:txBody>
      </p:sp>
      <p:sp>
        <p:nvSpPr>
          <p:cNvPr id="51" name="Text 48"/>
          <p:cNvSpPr/>
          <p:nvPr/>
        </p:nvSpPr>
        <p:spPr>
          <a:xfrm>
            <a:off x="4663440" y="3108960"/>
            <a:ext cx="4023360" cy="777240"/>
          </a:xfrm>
          <a:prstGeom prst="rect">
            <a:avLst/>
          </a:prstGeom>
          <a:noFill/>
          <a:ln/>
        </p:spPr>
        <p:txBody>
          <a:bodyPr wrap="square" lIns="0" tIns="0" rIns="0" bIns="0" rtlCol="0" anchor="t"/>
          <a:lstStyle/>
          <a:p>
            <a:pPr indent="0" marL="0">
              <a:buNone/>
            </a:pPr>
            <a:r>
              <a:rPr lang="en-US" sz="1200" b="1" dirty="0">
                <a:solidFill>
                  <a:srgbClr val="1D4ED8"/>
                </a:solidFill>
                <a:latin typeface="Inter" pitchFamily="34" charset="0"/>
                <a:ea typeface="Inter" pitchFamily="34" charset="-122"/>
                <a:cs typeface="Inter" pitchFamily="34" charset="-120"/>
              </a:rPr>
              <a:t>Critic  </a:t>
            </a:r>
            <a:pPr indent="0" marL="0">
              <a:buNone/>
            </a:pPr>
            <a:r>
              <a:rPr lang="en-US" sz="1200" dirty="0">
                <a:solidFill>
                  <a:srgbClr val="101828"/>
                </a:solidFill>
                <a:latin typeface="Inter" pitchFamily="34" charset="0"/>
                <a:ea typeface="Inter" pitchFamily="34" charset="-122"/>
                <a:cs typeface="Inter" pitchFamily="34" charset="-120"/>
              </a:rPr>
              <a:t>A second model sees only the client's words and the card, not the documents an attacker controls.</a:t>
            </a:r>
            <a:endParaRPr lang="en-US" sz="1200" dirty="0"/>
          </a:p>
        </p:txBody>
      </p:sp>
      <p:sp>
        <p:nvSpPr>
          <p:cNvPr id="52" name="Text 49"/>
          <p:cNvSpPr/>
          <p:nvPr/>
        </p:nvSpPr>
        <p:spPr>
          <a:xfrm>
            <a:off x="457200" y="3977640"/>
            <a:ext cx="4023360" cy="777240"/>
          </a:xfrm>
          <a:prstGeom prst="rect">
            <a:avLst/>
          </a:prstGeom>
          <a:noFill/>
          <a:ln/>
        </p:spPr>
        <p:txBody>
          <a:bodyPr wrap="square" lIns="0" tIns="0" rIns="0" bIns="0" rtlCol="0" anchor="t"/>
          <a:lstStyle/>
          <a:p>
            <a:pPr indent="0" marL="0">
              <a:buNone/>
            </a:pPr>
            <a:r>
              <a:rPr lang="en-US" sz="1200" b="1" dirty="0">
                <a:solidFill>
                  <a:srgbClr val="1D4ED8"/>
                </a:solidFill>
                <a:latin typeface="Inter" pitchFamily="34" charset="0"/>
                <a:ea typeface="Inter" pitchFamily="34" charset="-122"/>
                <a:cs typeface="Inter" pitchFamily="34" charset="-120"/>
              </a:rPr>
              <a:t>Shadow run  </a:t>
            </a:r>
            <a:pPr indent="0" marL="0">
              <a:buNone/>
            </a:pPr>
            <a:r>
              <a:rPr lang="en-US" sz="1200" dirty="0">
                <a:solidFill>
                  <a:srgbClr val="101828"/>
                </a:solidFill>
                <a:latin typeface="Inter" pitchFamily="34" charset="0"/>
                <a:ea typeface="Inter" pitchFamily="34" charset="-122"/>
                <a:cs typeface="Inter" pitchFamily="34" charset="-120"/>
              </a:rPr>
              <a:t>The payment is rehearsed in a copy of the bank; if money moves differently, it is denied.</a:t>
            </a:r>
            <a:endParaRPr lang="en-US" sz="1200" dirty="0"/>
          </a:p>
        </p:txBody>
      </p:sp>
      <p:sp>
        <p:nvSpPr>
          <p:cNvPr id="53" name="Text 50"/>
          <p:cNvSpPr/>
          <p:nvPr/>
        </p:nvSpPr>
        <p:spPr>
          <a:xfrm>
            <a:off x="4663440" y="3977640"/>
            <a:ext cx="4023360" cy="777240"/>
          </a:xfrm>
          <a:prstGeom prst="rect">
            <a:avLst/>
          </a:prstGeom>
          <a:noFill/>
          <a:ln/>
        </p:spPr>
        <p:txBody>
          <a:bodyPr wrap="square" lIns="0" tIns="0" rIns="0" bIns="0" rtlCol="0" anchor="t"/>
          <a:lstStyle/>
          <a:p>
            <a:pPr indent="0" marL="0">
              <a:buNone/>
            </a:pPr>
            <a:r>
              <a:rPr lang="en-US" sz="1200" b="1" dirty="0">
                <a:solidFill>
                  <a:srgbClr val="1D4ED8"/>
                </a:solidFill>
                <a:latin typeface="Inter" pitchFamily="34" charset="0"/>
                <a:ea typeface="Inter" pitchFamily="34" charset="-122"/>
                <a:cs typeface="Inter" pitchFamily="34" charset="-120"/>
              </a:rPr>
              <a:t>Trust levels 0, 1, 2  </a:t>
            </a:r>
            <a:pPr indent="0" marL="0">
              <a:buNone/>
            </a:pPr>
            <a:r>
              <a:rPr lang="en-US" sz="1200" dirty="0">
                <a:solidFill>
                  <a:srgbClr val="101828"/>
                </a:solidFill>
                <a:latin typeface="Inter" pitchFamily="34" charset="0"/>
                <a:ea typeface="Inter" pitchFamily="34" charset="-122"/>
                <a:cs typeface="Inter" pitchFamily="34" charset="-120"/>
              </a:rPr>
              <a:t>Level 1 limit $12.07; promotion after 5 verified results in a row. Autonomy stages 1 and 2, stage 3 not offered.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Earned trust: rewards and penalties</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8 / 15</a:t>
            </a:r>
            <a:endParaRPr lang="en-US" sz="900" dirty="0"/>
          </a:p>
        </p:txBody>
      </p:sp>
      <p:sp>
        <p:nvSpPr>
          <p:cNvPr id="8" name="Text 5"/>
          <p:cNvSpPr/>
          <p:nvPr/>
        </p:nvSpPr>
        <p:spPr>
          <a:xfrm>
            <a:off x="457200" y="1051560"/>
            <a:ext cx="4023360" cy="365760"/>
          </a:xfrm>
          <a:prstGeom prst="rect">
            <a:avLst/>
          </a:prstGeom>
          <a:noFill/>
          <a:ln/>
        </p:spPr>
        <p:txBody>
          <a:bodyPr wrap="square" lIns="0" tIns="0" rIns="0" bIns="0" rtlCol="0" anchor="ctr"/>
          <a:lstStyle/>
          <a:p>
            <a:pPr indent="0" marL="0">
              <a:buNone/>
            </a:pPr>
            <a:r>
              <a:rPr lang="en-US" sz="1700" b="1" dirty="0">
                <a:solidFill>
                  <a:srgbClr val="1D4ED8"/>
                </a:solidFill>
                <a:latin typeface="Inter" pitchFamily="34" charset="0"/>
                <a:ea typeface="Inter" pitchFamily="34" charset="-122"/>
                <a:cs typeface="Inter" pitchFamily="34" charset="-120"/>
              </a:rPr>
              <a:t>Per kind of task</a:t>
            </a:r>
            <a:endParaRPr lang="en-US" sz="1700" dirty="0"/>
          </a:p>
        </p:txBody>
      </p:sp>
      <p:sp>
        <p:nvSpPr>
          <p:cNvPr id="9" name="Shape 6"/>
          <p:cNvSpPr/>
          <p:nvPr/>
        </p:nvSpPr>
        <p:spPr>
          <a:xfrm>
            <a:off x="457200" y="1508760"/>
            <a:ext cx="2651760" cy="457200"/>
          </a:xfrm>
          <a:prstGeom prst="roundRect">
            <a:avLst>
              <a:gd name="adj" fmla="val 16000"/>
            </a:avLst>
          </a:prstGeom>
          <a:solidFill>
            <a:srgbClr val="E8F6F3"/>
          </a:solidFill>
          <a:ln w="12700">
            <a:solidFill>
              <a:srgbClr val="B7E4D9"/>
            </a:solidFill>
            <a:prstDash val="solid"/>
          </a:ln>
        </p:spPr>
      </p:sp>
      <p:sp>
        <p:nvSpPr>
          <p:cNvPr id="10" name="Text 7"/>
          <p:cNvSpPr/>
          <p:nvPr/>
        </p:nvSpPr>
        <p:spPr>
          <a:xfrm>
            <a:off x="566928" y="1508760"/>
            <a:ext cx="2514600" cy="457200"/>
          </a:xfrm>
          <a:prstGeom prst="rect">
            <a:avLst/>
          </a:prstGeom>
          <a:noFill/>
          <a:ln/>
        </p:spPr>
        <p:txBody>
          <a:bodyPr wrap="square" lIns="0" tIns="0" rIns="0" bIns="0" rtlCol="0" anchor="ctr"/>
          <a:lstStyle/>
          <a:p>
            <a:pPr indent="0" marL="0">
              <a:buNone/>
            </a:pPr>
            <a:r>
              <a:rPr lang="en-US" sz="1100" b="1" dirty="0">
                <a:solidFill>
                  <a:srgbClr val="101828"/>
                </a:solidFill>
                <a:latin typeface="Inter" pitchFamily="34" charset="0"/>
                <a:ea typeface="Inter" pitchFamily="34" charset="-122"/>
                <a:cs typeface="Inter" pitchFamily="34" charset="-120"/>
              </a:rPr>
              <a:t>Level 2  </a:t>
            </a:r>
            <a:pPr indent="0" marL="0">
              <a:buNone/>
            </a:pPr>
            <a:r>
              <a:rPr lang="en-US" sz="1100" dirty="0">
                <a:solidFill>
                  <a:srgbClr val="101828"/>
                </a:solidFill>
                <a:latin typeface="Inter" pitchFamily="34" charset="0"/>
                <a:ea typeface="Inter" pitchFamily="34" charset="-122"/>
                <a:cs typeface="Inter" pitchFamily="34" charset="-120"/>
              </a:rPr>
              <a:t>alone up to the permission's cap</a:t>
            </a:r>
            <a:endParaRPr lang="en-US" sz="1100" dirty="0"/>
          </a:p>
        </p:txBody>
      </p:sp>
      <p:sp>
        <p:nvSpPr>
          <p:cNvPr id="11" name="Shape 8"/>
          <p:cNvSpPr/>
          <p:nvPr/>
        </p:nvSpPr>
        <p:spPr>
          <a:xfrm>
            <a:off x="457200" y="2057400"/>
            <a:ext cx="2651760" cy="457200"/>
          </a:xfrm>
          <a:prstGeom prst="roundRect">
            <a:avLst>
              <a:gd name="adj" fmla="val 16000"/>
            </a:avLst>
          </a:prstGeom>
          <a:solidFill>
            <a:srgbClr val="EEF4FF"/>
          </a:solidFill>
          <a:ln w="12700">
            <a:solidFill>
              <a:srgbClr val="C7D7FE"/>
            </a:solidFill>
            <a:prstDash val="solid"/>
          </a:ln>
        </p:spPr>
      </p:sp>
      <p:sp>
        <p:nvSpPr>
          <p:cNvPr id="12" name="Text 9"/>
          <p:cNvSpPr/>
          <p:nvPr/>
        </p:nvSpPr>
        <p:spPr>
          <a:xfrm>
            <a:off x="566928" y="2057400"/>
            <a:ext cx="2514600" cy="457200"/>
          </a:xfrm>
          <a:prstGeom prst="rect">
            <a:avLst/>
          </a:prstGeom>
          <a:noFill/>
          <a:ln/>
        </p:spPr>
        <p:txBody>
          <a:bodyPr wrap="square" lIns="0" tIns="0" rIns="0" bIns="0" rtlCol="0" anchor="ctr"/>
          <a:lstStyle/>
          <a:p>
            <a:pPr indent="0" marL="0">
              <a:buNone/>
            </a:pPr>
            <a:r>
              <a:rPr lang="en-US" sz="1100" b="1" dirty="0">
                <a:solidFill>
                  <a:srgbClr val="101828"/>
                </a:solidFill>
                <a:latin typeface="Inter" pitchFamily="34" charset="0"/>
                <a:ea typeface="Inter" pitchFamily="34" charset="-122"/>
                <a:cs typeface="Inter" pitchFamily="34" charset="-120"/>
              </a:rPr>
              <a:t>Level 1  </a:t>
            </a:r>
            <a:pPr indent="0" marL="0">
              <a:buNone/>
            </a:pPr>
            <a:r>
              <a:rPr lang="en-US" sz="1100" dirty="0">
                <a:solidFill>
                  <a:srgbClr val="101828"/>
                </a:solidFill>
                <a:latin typeface="Inter" pitchFamily="34" charset="0"/>
                <a:ea typeface="Inter" pitchFamily="34" charset="-122"/>
                <a:cs typeface="Inter" pitchFamily="34" charset="-120"/>
              </a:rPr>
              <a:t>alone up to $12.07 · the start</a:t>
            </a:r>
            <a:endParaRPr lang="en-US" sz="1100" dirty="0"/>
          </a:p>
        </p:txBody>
      </p:sp>
      <p:sp>
        <p:nvSpPr>
          <p:cNvPr id="13" name="Shape 10"/>
          <p:cNvSpPr/>
          <p:nvPr/>
        </p:nvSpPr>
        <p:spPr>
          <a:xfrm>
            <a:off x="457200" y="2606040"/>
            <a:ext cx="2651760" cy="457200"/>
          </a:xfrm>
          <a:prstGeom prst="roundRect">
            <a:avLst>
              <a:gd name="adj" fmla="val 16000"/>
            </a:avLst>
          </a:prstGeom>
          <a:solidFill>
            <a:srgbClr val="FFF6E5"/>
          </a:solidFill>
          <a:ln w="12700">
            <a:solidFill>
              <a:srgbClr val="FEDF89"/>
            </a:solidFill>
            <a:prstDash val="solid"/>
          </a:ln>
        </p:spPr>
      </p:sp>
      <p:sp>
        <p:nvSpPr>
          <p:cNvPr id="14" name="Text 11"/>
          <p:cNvSpPr/>
          <p:nvPr/>
        </p:nvSpPr>
        <p:spPr>
          <a:xfrm>
            <a:off x="566928" y="2606040"/>
            <a:ext cx="2514600" cy="457200"/>
          </a:xfrm>
          <a:prstGeom prst="rect">
            <a:avLst/>
          </a:prstGeom>
          <a:noFill/>
          <a:ln/>
        </p:spPr>
        <p:txBody>
          <a:bodyPr wrap="square" lIns="0" tIns="0" rIns="0" bIns="0" rtlCol="0" anchor="ctr"/>
          <a:lstStyle/>
          <a:p>
            <a:pPr indent="0" marL="0">
              <a:buNone/>
            </a:pPr>
            <a:r>
              <a:rPr lang="en-US" sz="1100" b="1" dirty="0">
                <a:solidFill>
                  <a:srgbClr val="101828"/>
                </a:solidFill>
                <a:latin typeface="Inter" pitchFamily="34" charset="0"/>
                <a:ea typeface="Inter" pitchFamily="34" charset="-122"/>
                <a:cs typeface="Inter" pitchFamily="34" charset="-120"/>
              </a:rPr>
              <a:t>Level 0  </a:t>
            </a:r>
            <a:pPr indent="0" marL="0">
              <a:buNone/>
            </a:pPr>
            <a:r>
              <a:rPr lang="en-US" sz="1100" dirty="0">
                <a:solidFill>
                  <a:srgbClr val="101828"/>
                </a:solidFill>
                <a:latin typeface="Inter" pitchFamily="34" charset="0"/>
                <a:ea typeface="Inter" pitchFamily="34" charset="-122"/>
                <a:cs typeface="Inter" pitchFamily="34" charset="-120"/>
              </a:rPr>
              <a:t>a card for everything</a:t>
            </a:r>
            <a:endParaRPr lang="en-US" sz="1100" dirty="0"/>
          </a:p>
        </p:txBody>
      </p:sp>
      <p:sp>
        <p:nvSpPr>
          <p:cNvPr id="15" name="Text 12"/>
          <p:cNvSpPr/>
          <p:nvPr/>
        </p:nvSpPr>
        <p:spPr>
          <a:xfrm>
            <a:off x="3246120" y="1508760"/>
            <a:ext cx="1325880" cy="640080"/>
          </a:xfrm>
          <a:prstGeom prst="rect">
            <a:avLst/>
          </a:prstGeom>
          <a:noFill/>
          <a:ln/>
        </p:spPr>
        <p:txBody>
          <a:bodyPr wrap="square" lIns="0" tIns="0" rIns="0" bIns="0" rtlCol="0" anchor="t"/>
          <a:lstStyle/>
          <a:p>
            <a:pPr indent="0" marL="0">
              <a:buNone/>
            </a:pPr>
            <a:r>
              <a:rPr lang="en-US" sz="1050" b="1" dirty="0">
                <a:solidFill>
                  <a:srgbClr val="067647"/>
                </a:solidFill>
                <a:latin typeface="Inter" pitchFamily="34" charset="0"/>
                <a:ea typeface="Inter" pitchFamily="34" charset="-122"/>
                <a:cs typeface="Inter" pitchFamily="34" charset="-120"/>
              </a:rPr>
              <a:t>Up </a:t>
            </a:r>
            <a:pPr indent="0" marL="0">
              <a:buNone/>
            </a:pPr>
            <a:r>
              <a:rPr lang="en-US" sz="1050" dirty="0">
                <a:solidFill>
                  <a:srgbClr val="101828"/>
                </a:solidFill>
                <a:latin typeface="Inter" pitchFamily="34" charset="0"/>
                <a:ea typeface="Inter" pitchFamily="34" charset="-122"/>
                <a:cs typeface="Inter" pitchFamily="34" charset="-120"/>
              </a:rPr>
              <a:t>after 5 verified results in a row</a:t>
            </a:r>
            <a:endParaRPr lang="en-US" sz="1050" dirty="0"/>
          </a:p>
        </p:txBody>
      </p:sp>
      <p:sp>
        <p:nvSpPr>
          <p:cNvPr id="16" name="Text 13"/>
          <p:cNvSpPr/>
          <p:nvPr/>
        </p:nvSpPr>
        <p:spPr>
          <a:xfrm>
            <a:off x="3246120" y="2240280"/>
            <a:ext cx="1325880" cy="731520"/>
          </a:xfrm>
          <a:prstGeom prst="rect">
            <a:avLst/>
          </a:prstGeom>
          <a:noFill/>
          <a:ln/>
        </p:spPr>
        <p:txBody>
          <a:bodyPr wrap="square" lIns="0" tIns="0" rIns="0" bIns="0" rtlCol="0" anchor="t"/>
          <a:lstStyle/>
          <a:p>
            <a:pPr indent="0" marL="0">
              <a:buNone/>
            </a:pPr>
            <a:r>
              <a:rPr lang="en-US" sz="1050" b="1" dirty="0">
                <a:solidFill>
                  <a:srgbClr val="B42318"/>
                </a:solidFill>
                <a:latin typeface="Inter" pitchFamily="34" charset="0"/>
                <a:ea typeface="Inter" pitchFamily="34" charset="-122"/>
                <a:cs typeface="Inter" pitchFamily="34" charset="-120"/>
              </a:rPr>
              <a:t>Down </a:t>
            </a:r>
            <a:pPr indent="0" marL="0">
              <a:buNone/>
            </a:pPr>
            <a:r>
              <a:rPr lang="en-US" sz="1050" dirty="0">
                <a:solidFill>
                  <a:srgbClr val="101828"/>
                </a:solidFill>
                <a:latin typeface="Inter" pitchFamily="34" charset="0"/>
                <a:ea typeface="Inter" pitchFamily="34" charset="-122"/>
                <a:cs typeface="Inter" pitchFamily="34" charset="-120"/>
              </a:rPr>
              <a:t>one level per mistake; to 0 on a scope violation</a:t>
            </a:r>
            <a:endParaRPr lang="en-US" sz="1050" dirty="0"/>
          </a:p>
        </p:txBody>
      </p:sp>
      <p:sp>
        <p:nvSpPr>
          <p:cNvPr id="17" name="Text 14"/>
          <p:cNvSpPr/>
          <p:nvPr/>
        </p:nvSpPr>
        <p:spPr>
          <a:xfrm>
            <a:off x="4663440" y="1051560"/>
            <a:ext cx="4023360" cy="365760"/>
          </a:xfrm>
          <a:prstGeom prst="rect">
            <a:avLst/>
          </a:prstGeom>
          <a:noFill/>
          <a:ln/>
        </p:spPr>
        <p:txBody>
          <a:bodyPr wrap="square" lIns="0" tIns="0" rIns="0" bIns="0" rtlCol="0" anchor="ctr"/>
          <a:lstStyle/>
          <a:p>
            <a:pPr indent="0" marL="0">
              <a:buNone/>
            </a:pPr>
            <a:r>
              <a:rPr lang="en-US" sz="1700" b="1" dirty="0">
                <a:solidFill>
                  <a:srgbClr val="1D4ED8"/>
                </a:solidFill>
                <a:latin typeface="Inter" pitchFamily="34" charset="0"/>
                <a:ea typeface="Inter" pitchFamily="34" charset="-122"/>
                <a:cs typeface="Inter" pitchFamily="34" charset="-120"/>
              </a:rPr>
              <a:t>Per agent: role, model, prompt hash</a:t>
            </a:r>
            <a:endParaRPr lang="en-US" sz="1700" dirty="0"/>
          </a:p>
        </p:txBody>
      </p:sp>
      <p:sp>
        <p:nvSpPr>
          <p:cNvPr id="18" name="Shape 15"/>
          <p:cNvSpPr/>
          <p:nvPr/>
        </p:nvSpPr>
        <p:spPr>
          <a:xfrm>
            <a:off x="4663440" y="1508760"/>
            <a:ext cx="1188720" cy="868680"/>
          </a:xfrm>
          <a:prstGeom prst="roundRect">
            <a:avLst>
              <a:gd name="adj" fmla="val 8421"/>
            </a:avLst>
          </a:prstGeom>
          <a:solidFill>
            <a:srgbClr val="FFFFFF"/>
          </a:solidFill>
          <a:ln w="12700">
            <a:solidFill>
              <a:srgbClr val="E4E7EC"/>
            </a:solidFill>
            <a:prstDash val="solid"/>
          </a:ln>
        </p:spPr>
      </p:sp>
      <p:sp>
        <p:nvSpPr>
          <p:cNvPr id="19" name="Text 16"/>
          <p:cNvSpPr/>
          <p:nvPr/>
        </p:nvSpPr>
        <p:spPr>
          <a:xfrm>
            <a:off x="4663440" y="1554480"/>
            <a:ext cx="1188720" cy="320040"/>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Active</a:t>
            </a:r>
            <a:endParaRPr lang="en-US" sz="1200" dirty="0"/>
          </a:p>
        </p:txBody>
      </p:sp>
      <p:sp>
        <p:nvSpPr>
          <p:cNvPr id="20" name="Text 17"/>
          <p:cNvSpPr/>
          <p:nvPr/>
        </p:nvSpPr>
        <p:spPr>
          <a:xfrm>
            <a:off x="4718304" y="1874520"/>
            <a:ext cx="1078992" cy="457200"/>
          </a:xfrm>
          <a:prstGeom prst="rect">
            <a:avLst/>
          </a:prstGeom>
          <a:noFill/>
          <a:ln/>
        </p:spPr>
        <p:txBody>
          <a:bodyPr wrap="square" lIns="0" tIns="0" rIns="0" bIns="0" rtlCol="0" anchor="t"/>
          <a:lstStyle/>
          <a:p>
            <a:pPr algn="ctr" indent="0" marL="0">
              <a:buNone/>
            </a:pPr>
            <a:r>
              <a:rPr lang="en-US" sz="900" dirty="0">
                <a:solidFill>
                  <a:srgbClr val="667085"/>
                </a:solidFill>
                <a:latin typeface="Inter" pitchFamily="34" charset="0"/>
                <a:ea typeface="Inter" pitchFamily="34" charset="-122"/>
                <a:cs typeface="Inter" pitchFamily="34" charset="-120"/>
              </a:rPr>
              <a:t>up to level 2</a:t>
            </a:r>
            <a:endParaRPr lang="en-US" sz="900" dirty="0"/>
          </a:p>
        </p:txBody>
      </p:sp>
      <p:sp>
        <p:nvSpPr>
          <p:cNvPr id="21" name="Text 18"/>
          <p:cNvSpPr/>
          <p:nvPr/>
        </p:nvSpPr>
        <p:spPr>
          <a:xfrm>
            <a:off x="5852160" y="1508760"/>
            <a:ext cx="182880" cy="8686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22" name="Shape 19"/>
          <p:cNvSpPr/>
          <p:nvPr/>
        </p:nvSpPr>
        <p:spPr>
          <a:xfrm>
            <a:off x="6035040" y="1508760"/>
            <a:ext cx="1188720" cy="868680"/>
          </a:xfrm>
          <a:prstGeom prst="roundRect">
            <a:avLst>
              <a:gd name="adj" fmla="val 8421"/>
            </a:avLst>
          </a:prstGeom>
          <a:solidFill>
            <a:srgbClr val="FEF3F2"/>
          </a:solidFill>
          <a:ln w="12700">
            <a:solidFill>
              <a:srgbClr val="FECDCA"/>
            </a:solidFill>
            <a:prstDash val="solid"/>
          </a:ln>
        </p:spPr>
      </p:sp>
      <p:sp>
        <p:nvSpPr>
          <p:cNvPr id="23" name="Text 20"/>
          <p:cNvSpPr/>
          <p:nvPr/>
        </p:nvSpPr>
        <p:spPr>
          <a:xfrm>
            <a:off x="6035040" y="1554480"/>
            <a:ext cx="1188720" cy="320040"/>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Quarantine</a:t>
            </a:r>
            <a:endParaRPr lang="en-US" sz="1200" dirty="0"/>
          </a:p>
        </p:txBody>
      </p:sp>
      <p:sp>
        <p:nvSpPr>
          <p:cNvPr id="24" name="Text 21"/>
          <p:cNvSpPr/>
          <p:nvPr/>
        </p:nvSpPr>
        <p:spPr>
          <a:xfrm>
            <a:off x="6089904" y="1874520"/>
            <a:ext cx="1078992" cy="457200"/>
          </a:xfrm>
          <a:prstGeom prst="rect">
            <a:avLst/>
          </a:prstGeom>
          <a:noFill/>
          <a:ln/>
        </p:spPr>
        <p:txBody>
          <a:bodyPr wrap="square" lIns="0" tIns="0" rIns="0" bIns="0" rtlCol="0" anchor="t"/>
          <a:lstStyle/>
          <a:p>
            <a:pPr algn="ctr" indent="0" marL="0">
              <a:buNone/>
            </a:pPr>
            <a:r>
              <a:rPr lang="en-US" sz="900" dirty="0">
                <a:solidFill>
                  <a:srgbClr val="667085"/>
                </a:solidFill>
                <a:latin typeface="Inter" pitchFamily="34" charset="0"/>
                <a:ea typeface="Inter" pitchFamily="34" charset="-122"/>
                <a:cs typeface="Inter" pitchFamily="34" charset="-120"/>
              </a:rPr>
              <a:t>24 h · level 0 · passports revoked</a:t>
            </a:r>
            <a:endParaRPr lang="en-US" sz="900" dirty="0"/>
          </a:p>
        </p:txBody>
      </p:sp>
      <p:sp>
        <p:nvSpPr>
          <p:cNvPr id="25" name="Text 22"/>
          <p:cNvSpPr/>
          <p:nvPr/>
        </p:nvSpPr>
        <p:spPr>
          <a:xfrm>
            <a:off x="7223760" y="1508760"/>
            <a:ext cx="182880" cy="868680"/>
          </a:xfrm>
          <a:prstGeom prst="rect">
            <a:avLst/>
          </a:prstGeom>
          <a:noFill/>
          <a:ln/>
        </p:spPr>
        <p:txBody>
          <a:bodyPr wrap="square" lIns="0" tIns="0" rIns="0" bIns="0" rtlCol="0" anchor="ctr"/>
          <a:lstStyle/>
          <a:p>
            <a:pPr algn="ctr" indent="0" marL="0">
              <a:buNone/>
            </a:pPr>
            <a:r>
              <a:rPr lang="en-US" sz="1800" dirty="0">
                <a:solidFill>
                  <a:srgbClr val="1D4ED8"/>
                </a:solidFill>
                <a:latin typeface="Inter" pitchFamily="34" charset="0"/>
                <a:ea typeface="Inter" pitchFamily="34" charset="-122"/>
                <a:cs typeface="Inter" pitchFamily="34" charset="-120"/>
              </a:rPr>
              <a:t>›</a:t>
            </a:r>
            <a:endParaRPr lang="en-US" sz="1800" dirty="0"/>
          </a:p>
        </p:txBody>
      </p:sp>
      <p:sp>
        <p:nvSpPr>
          <p:cNvPr id="26" name="Shape 23"/>
          <p:cNvSpPr/>
          <p:nvPr/>
        </p:nvSpPr>
        <p:spPr>
          <a:xfrm>
            <a:off x="7406640" y="1508760"/>
            <a:ext cx="1188720" cy="868680"/>
          </a:xfrm>
          <a:prstGeom prst="roundRect">
            <a:avLst>
              <a:gd name="adj" fmla="val 8421"/>
            </a:avLst>
          </a:prstGeom>
          <a:solidFill>
            <a:srgbClr val="FFF6E5"/>
          </a:solidFill>
          <a:ln w="12700">
            <a:solidFill>
              <a:srgbClr val="FEDF89"/>
            </a:solidFill>
            <a:prstDash val="solid"/>
          </a:ln>
        </p:spPr>
      </p:sp>
      <p:sp>
        <p:nvSpPr>
          <p:cNvPr id="27" name="Text 24"/>
          <p:cNvSpPr/>
          <p:nvPr/>
        </p:nvSpPr>
        <p:spPr>
          <a:xfrm>
            <a:off x="7406640" y="1554480"/>
            <a:ext cx="1188720" cy="320040"/>
          </a:xfrm>
          <a:prstGeom prst="rect">
            <a:avLst/>
          </a:prstGeom>
          <a:noFill/>
          <a:ln/>
        </p:spPr>
        <p:txBody>
          <a:bodyPr wrap="square" lIns="0" tIns="0" rIns="0" bIns="0" rtlCol="0" anchor="ctr"/>
          <a:lstStyle/>
          <a:p>
            <a:pPr algn="ctr" indent="0" marL="0">
              <a:buNone/>
            </a:pPr>
            <a:r>
              <a:rPr lang="en-US" sz="1200" b="1" dirty="0">
                <a:solidFill>
                  <a:srgbClr val="101828"/>
                </a:solidFill>
                <a:latin typeface="Inter" pitchFamily="34" charset="0"/>
                <a:ea typeface="Inter" pitchFamily="34" charset="-122"/>
                <a:cs typeface="Inter" pitchFamily="34" charset="-120"/>
              </a:rPr>
              <a:t>Probation</a:t>
            </a:r>
            <a:endParaRPr lang="en-US" sz="1200" dirty="0"/>
          </a:p>
        </p:txBody>
      </p:sp>
      <p:sp>
        <p:nvSpPr>
          <p:cNvPr id="28" name="Text 25"/>
          <p:cNvSpPr/>
          <p:nvPr/>
        </p:nvSpPr>
        <p:spPr>
          <a:xfrm>
            <a:off x="7461504" y="1874520"/>
            <a:ext cx="1078992" cy="457200"/>
          </a:xfrm>
          <a:prstGeom prst="rect">
            <a:avLst/>
          </a:prstGeom>
          <a:noFill/>
          <a:ln/>
        </p:spPr>
        <p:txBody>
          <a:bodyPr wrap="square" lIns="0" tIns="0" rIns="0" bIns="0" rtlCol="0" anchor="t"/>
          <a:lstStyle/>
          <a:p>
            <a:pPr algn="ctr" indent="0" marL="0">
              <a:buNone/>
            </a:pPr>
            <a:r>
              <a:rPr lang="en-US" sz="900" dirty="0">
                <a:solidFill>
                  <a:srgbClr val="667085"/>
                </a:solidFill>
                <a:latin typeface="Inter" pitchFamily="34" charset="0"/>
                <a:ea typeface="Inter" pitchFamily="34" charset="-122"/>
                <a:cs typeface="Inter" pitchFamily="34" charset="-120"/>
              </a:rPr>
              <a:t>at most level 1</a:t>
            </a:r>
            <a:endParaRPr lang="en-US" sz="900" dirty="0"/>
          </a:p>
        </p:txBody>
      </p:sp>
      <p:sp>
        <p:nvSpPr>
          <p:cNvPr id="29" name="Text 26"/>
          <p:cNvSpPr/>
          <p:nvPr/>
        </p:nvSpPr>
        <p:spPr>
          <a:xfrm>
            <a:off x="4663440" y="2468880"/>
            <a:ext cx="4023360" cy="594360"/>
          </a:xfrm>
          <a:prstGeom prst="rect">
            <a:avLst/>
          </a:prstGeom>
          <a:noFill/>
          <a:ln/>
        </p:spPr>
        <p:txBody>
          <a:bodyPr wrap="square" lIns="0" tIns="0" rIns="0" bIns="0" rtlCol="0" anchor="t"/>
          <a:lstStyle/>
          <a:p>
            <a:pPr indent="0" marL="0">
              <a:buNone/>
            </a:pPr>
            <a:r>
              <a:rPr lang="en-US" sz="1050" dirty="0">
                <a:solidFill>
                  <a:srgbClr val="101828"/>
                </a:solidFill>
                <a:latin typeface="Inter" pitchFamily="34" charset="0"/>
                <a:ea typeface="Inter" pitchFamily="34" charset="-122"/>
                <a:cs typeface="Inter" pitchFamily="34" charset="-120"/>
              </a:rPr>
              <a:t>A mistake is 1 strike, a scope violation 2, a payment the client undoes 1. Three strikes: quarantine. Five clean results end probation; a mistake on probation means quarantine again.</a:t>
            </a:r>
            <a:endParaRPr lang="en-US" sz="1050" dirty="0"/>
          </a:p>
        </p:txBody>
      </p:sp>
      <p:sp>
        <p:nvSpPr>
          <p:cNvPr id="30" name="Shape 27"/>
          <p:cNvSpPr/>
          <p:nvPr/>
        </p:nvSpPr>
        <p:spPr>
          <a:xfrm>
            <a:off x="457200" y="3337560"/>
            <a:ext cx="1920240" cy="1188720"/>
          </a:xfrm>
          <a:prstGeom prst="roundRect">
            <a:avLst>
              <a:gd name="adj" fmla="val 7692"/>
            </a:avLst>
          </a:prstGeom>
          <a:solidFill>
            <a:srgbClr val="F4F5F7"/>
          </a:solidFill>
          <a:ln w="12700">
            <a:solidFill>
              <a:srgbClr val="F4F5F7"/>
            </a:solidFill>
            <a:prstDash val="solid"/>
          </a:ln>
        </p:spPr>
      </p:sp>
      <p:sp>
        <p:nvSpPr>
          <p:cNvPr id="31" name="Text 28"/>
          <p:cNvSpPr/>
          <p:nvPr/>
        </p:nvSpPr>
        <p:spPr>
          <a:xfrm>
            <a:off x="594360" y="342900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1</a:t>
            </a:r>
            <a:endParaRPr lang="en-US" sz="2600" dirty="0"/>
          </a:p>
        </p:txBody>
      </p:sp>
      <p:sp>
        <p:nvSpPr>
          <p:cNvPr id="32" name="Text 29"/>
          <p:cNvSpPr/>
          <p:nvPr/>
        </p:nvSpPr>
        <p:spPr>
          <a:xfrm>
            <a:off x="594360" y="399592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promotion: subscriptions reach level 2</a:t>
            </a:r>
            <a:endParaRPr lang="en-US" sz="1050" dirty="0"/>
          </a:p>
        </p:txBody>
      </p:sp>
      <p:sp>
        <p:nvSpPr>
          <p:cNvPr id="33" name="Shape 30"/>
          <p:cNvSpPr/>
          <p:nvPr/>
        </p:nvSpPr>
        <p:spPr>
          <a:xfrm>
            <a:off x="2560320" y="3337560"/>
            <a:ext cx="1920240" cy="1188720"/>
          </a:xfrm>
          <a:prstGeom prst="roundRect">
            <a:avLst>
              <a:gd name="adj" fmla="val 7692"/>
            </a:avLst>
          </a:prstGeom>
          <a:solidFill>
            <a:srgbClr val="F4F5F7"/>
          </a:solidFill>
          <a:ln w="12700">
            <a:solidFill>
              <a:srgbClr val="F4F5F7"/>
            </a:solidFill>
            <a:prstDash val="solid"/>
          </a:ln>
        </p:spPr>
      </p:sp>
      <p:sp>
        <p:nvSpPr>
          <p:cNvPr id="34" name="Text 31"/>
          <p:cNvSpPr/>
          <p:nvPr/>
        </p:nvSpPr>
        <p:spPr>
          <a:xfrm>
            <a:off x="2697480" y="3429000"/>
            <a:ext cx="1645920" cy="548640"/>
          </a:xfrm>
          <a:prstGeom prst="rect">
            <a:avLst/>
          </a:prstGeom>
          <a:noFill/>
          <a:ln/>
        </p:spPr>
        <p:txBody>
          <a:bodyPr wrap="square" lIns="0" tIns="0" rIns="0" bIns="0" rtlCol="0" anchor="ctr"/>
          <a:lstStyle/>
          <a:p>
            <a:pPr indent="0" marL="0">
              <a:buNone/>
            </a:pPr>
            <a:r>
              <a:rPr lang="en-US" sz="2600" b="1" dirty="0">
                <a:solidFill>
                  <a:srgbClr val="B42318"/>
                </a:solidFill>
                <a:latin typeface="Inter" pitchFamily="34" charset="0"/>
                <a:ea typeface="Inter" pitchFamily="34" charset="-122"/>
                <a:cs typeface="Inter" pitchFamily="34" charset="-120"/>
              </a:rPr>
              <a:t>1</a:t>
            </a:r>
            <a:endParaRPr lang="en-US" sz="2600" dirty="0"/>
          </a:p>
        </p:txBody>
      </p:sp>
      <p:sp>
        <p:nvSpPr>
          <p:cNvPr id="35" name="Text 32"/>
          <p:cNvSpPr/>
          <p:nvPr/>
        </p:nvSpPr>
        <p:spPr>
          <a:xfrm>
            <a:off x="2697480" y="399592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demotion: a faulty planner, level 2 to 0</a:t>
            </a:r>
            <a:endParaRPr lang="en-US" sz="1050" dirty="0"/>
          </a:p>
        </p:txBody>
      </p:sp>
      <p:sp>
        <p:nvSpPr>
          <p:cNvPr id="36" name="Shape 33"/>
          <p:cNvSpPr/>
          <p:nvPr/>
        </p:nvSpPr>
        <p:spPr>
          <a:xfrm>
            <a:off x="4663440" y="3337560"/>
            <a:ext cx="1920240" cy="1188720"/>
          </a:xfrm>
          <a:prstGeom prst="roundRect">
            <a:avLst>
              <a:gd name="adj" fmla="val 7692"/>
            </a:avLst>
          </a:prstGeom>
          <a:solidFill>
            <a:srgbClr val="F4F5F7"/>
          </a:solidFill>
          <a:ln w="12700">
            <a:solidFill>
              <a:srgbClr val="F4F5F7"/>
            </a:solidFill>
            <a:prstDash val="solid"/>
          </a:ln>
        </p:spPr>
      </p:sp>
      <p:sp>
        <p:nvSpPr>
          <p:cNvPr id="37" name="Text 34"/>
          <p:cNvSpPr/>
          <p:nvPr/>
        </p:nvSpPr>
        <p:spPr>
          <a:xfrm>
            <a:off x="4800600" y="3429000"/>
            <a:ext cx="1645920" cy="548640"/>
          </a:xfrm>
          <a:prstGeom prst="rect">
            <a:avLst/>
          </a:prstGeom>
          <a:noFill/>
          <a:ln/>
        </p:spPr>
        <p:txBody>
          <a:bodyPr wrap="square" lIns="0" tIns="0" rIns="0" bIns="0" rtlCol="0" anchor="ctr"/>
          <a:lstStyle/>
          <a:p>
            <a:pPr indent="0" marL="0">
              <a:buNone/>
            </a:pPr>
            <a:r>
              <a:rPr lang="en-US" sz="2600" b="1" dirty="0">
                <a:solidFill>
                  <a:srgbClr val="B54708"/>
                </a:solidFill>
                <a:latin typeface="Inter" pitchFamily="34" charset="0"/>
                <a:ea typeface="Inter" pitchFamily="34" charset="-122"/>
                <a:cs typeface="Inter" pitchFamily="34" charset="-120"/>
              </a:rPr>
              <a:t>3 › 1</a:t>
            </a:r>
            <a:endParaRPr lang="en-US" sz="2600" dirty="0"/>
          </a:p>
        </p:txBody>
      </p:sp>
      <p:sp>
        <p:nvSpPr>
          <p:cNvPr id="38" name="Text 35"/>
          <p:cNvSpPr/>
          <p:nvPr/>
        </p:nvSpPr>
        <p:spPr>
          <a:xfrm>
            <a:off x="4800600" y="399592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strikes, then quarantine; 2 passports revoked</a:t>
            </a:r>
            <a:endParaRPr lang="en-US" sz="1050" dirty="0"/>
          </a:p>
        </p:txBody>
      </p:sp>
      <p:sp>
        <p:nvSpPr>
          <p:cNvPr id="39" name="Shape 36"/>
          <p:cNvSpPr/>
          <p:nvPr/>
        </p:nvSpPr>
        <p:spPr>
          <a:xfrm>
            <a:off x="6766560" y="3337560"/>
            <a:ext cx="1920240" cy="1188720"/>
          </a:xfrm>
          <a:prstGeom prst="roundRect">
            <a:avLst>
              <a:gd name="adj" fmla="val 7692"/>
            </a:avLst>
          </a:prstGeom>
          <a:solidFill>
            <a:srgbClr val="F4F5F7"/>
          </a:solidFill>
          <a:ln w="12700">
            <a:solidFill>
              <a:srgbClr val="F4F5F7"/>
            </a:solidFill>
            <a:prstDash val="solid"/>
          </a:ln>
        </p:spPr>
      </p:sp>
      <p:sp>
        <p:nvSpPr>
          <p:cNvPr id="40" name="Text 37"/>
          <p:cNvSpPr/>
          <p:nvPr/>
        </p:nvSpPr>
        <p:spPr>
          <a:xfrm>
            <a:off x="6903720" y="342900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0/2</a:t>
            </a:r>
            <a:endParaRPr lang="en-US" sz="2600" dirty="0"/>
          </a:p>
        </p:txBody>
      </p:sp>
      <p:sp>
        <p:nvSpPr>
          <p:cNvPr id="41" name="Text 38"/>
          <p:cNvSpPr/>
          <p:nvPr/>
        </p:nvSpPr>
        <p:spPr>
          <a:xfrm>
            <a:off x="6903720" y="399592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faulty agent actions executed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100" b="1" dirty="0">
                <a:solidFill>
                  <a:srgbClr val="101828"/>
                </a:solidFill>
                <a:latin typeface="Inter" pitchFamily="34" charset="0"/>
                <a:ea typeface="Inter" pitchFamily="34" charset="-122"/>
                <a:cs typeface="Inter" pitchFamily="34" charset="-120"/>
              </a:rPr>
              <a:t>Investing: the agent proposes, the kernel trades</a:t>
            </a:r>
            <a:endParaRPr lang="en-US" sz="21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9 / 15</a:t>
            </a:r>
            <a:endParaRPr lang="en-US" sz="900" dirty="0"/>
          </a:p>
        </p:txBody>
      </p:sp>
      <p:sp>
        <p:nvSpPr>
          <p:cNvPr id="8" name="Text 5"/>
          <p:cNvSpPr/>
          <p:nvPr/>
        </p:nvSpPr>
        <p:spPr>
          <a:xfrm>
            <a:off x="457200" y="1051560"/>
            <a:ext cx="4023360" cy="365760"/>
          </a:xfrm>
          <a:prstGeom prst="rect">
            <a:avLst/>
          </a:prstGeom>
          <a:noFill/>
          <a:ln/>
        </p:spPr>
        <p:txBody>
          <a:bodyPr wrap="square" lIns="0" tIns="0" rIns="0" bIns="0" rtlCol="0" anchor="ctr"/>
          <a:lstStyle/>
          <a:p>
            <a:pPr indent="0" marL="0">
              <a:buNone/>
            </a:pPr>
            <a:r>
              <a:rPr lang="en-US" sz="1600" b="1" dirty="0">
                <a:solidFill>
                  <a:srgbClr val="1D4ED8"/>
                </a:solidFill>
                <a:latin typeface="Inter" pitchFamily="34" charset="0"/>
                <a:ea typeface="Inter" pitchFamily="34" charset="-122"/>
                <a:cs typeface="Inter" pitchFamily="34" charset="-120"/>
              </a:rPr>
              <a:t>Broker step: the kernel's own quote</a:t>
            </a:r>
            <a:endParaRPr lang="en-US" sz="1600" dirty="0"/>
          </a:p>
        </p:txBody>
      </p:sp>
      <p:sp>
        <p:nvSpPr>
          <p:cNvPr id="9" name="Shape 6"/>
          <p:cNvSpPr/>
          <p:nvPr/>
        </p:nvSpPr>
        <p:spPr>
          <a:xfrm>
            <a:off x="457200" y="1463040"/>
            <a:ext cx="4023360" cy="310896"/>
          </a:xfrm>
          <a:prstGeom prst="roundRect">
            <a:avLst>
              <a:gd name="adj" fmla="val 17647"/>
            </a:avLst>
          </a:prstGeom>
          <a:solidFill>
            <a:srgbClr val="F4F5F7"/>
          </a:solidFill>
          <a:ln w="12700">
            <a:solidFill>
              <a:srgbClr val="F4F5F7"/>
            </a:solidFill>
            <a:prstDash val="solid"/>
          </a:ln>
        </p:spPr>
      </p:sp>
      <p:sp>
        <p:nvSpPr>
          <p:cNvPr id="10" name="Text 7"/>
          <p:cNvSpPr/>
          <p:nvPr/>
        </p:nvSpPr>
        <p:spPr>
          <a:xfrm>
            <a:off x="548640" y="1463040"/>
            <a:ext cx="3886200" cy="310896"/>
          </a:xfrm>
          <a:prstGeom prst="rect">
            <a:avLst/>
          </a:prstGeom>
          <a:noFill/>
          <a:ln/>
        </p:spPr>
        <p:txBody>
          <a:bodyPr wrap="square" lIns="0" tIns="0" rIns="0" bIns="0" rtlCol="0" anchor="ctr"/>
          <a:lstStyle/>
          <a:p>
            <a:pPr indent="0" marL="0">
              <a:buNone/>
            </a:pPr>
            <a:r>
              <a:rPr lang="en-US" sz="950" b="1" dirty="0">
                <a:solidFill>
                  <a:srgbClr val="101828"/>
                </a:solidFill>
                <a:latin typeface="Inter" pitchFamily="34" charset="0"/>
                <a:ea typeface="Inter" pitchFamily="34" charset="-122"/>
                <a:cs typeface="Inter" pitchFamily="34" charset="-120"/>
              </a:rPr>
              <a:t>What  </a:t>
            </a:r>
            <a:pPr indent="0" marL="0">
              <a:buNone/>
            </a:pPr>
            <a:r>
              <a:rPr lang="en-US" sz="950" dirty="0">
                <a:solidFill>
                  <a:srgbClr val="101828"/>
                </a:solidFill>
                <a:latin typeface="Inter" pitchFamily="34" charset="0"/>
                <a:ea typeface="Inter" pitchFamily="34" charset="-122"/>
                <a:cs typeface="Inter" pitchFamily="34" charset="-120"/>
              </a:rPr>
              <a:t>SPY, VTI, QQQ, BND only; no options, crypto, OTC or shorts</a:t>
            </a:r>
            <a:endParaRPr lang="en-US" sz="950" dirty="0"/>
          </a:p>
        </p:txBody>
      </p:sp>
      <p:sp>
        <p:nvSpPr>
          <p:cNvPr id="11" name="Shape 8"/>
          <p:cNvSpPr/>
          <p:nvPr/>
        </p:nvSpPr>
        <p:spPr>
          <a:xfrm>
            <a:off x="457200" y="1828800"/>
            <a:ext cx="4023360" cy="310896"/>
          </a:xfrm>
          <a:prstGeom prst="roundRect">
            <a:avLst>
              <a:gd name="adj" fmla="val 17647"/>
            </a:avLst>
          </a:prstGeom>
          <a:solidFill>
            <a:srgbClr val="F4F5F7"/>
          </a:solidFill>
          <a:ln w="12700">
            <a:solidFill>
              <a:srgbClr val="F4F5F7"/>
            </a:solidFill>
            <a:prstDash val="solid"/>
          </a:ln>
        </p:spPr>
      </p:sp>
      <p:sp>
        <p:nvSpPr>
          <p:cNvPr id="12" name="Text 9"/>
          <p:cNvSpPr/>
          <p:nvPr/>
        </p:nvSpPr>
        <p:spPr>
          <a:xfrm>
            <a:off x="548640" y="1828800"/>
            <a:ext cx="3886200" cy="310896"/>
          </a:xfrm>
          <a:prstGeom prst="rect">
            <a:avLst/>
          </a:prstGeom>
          <a:noFill/>
          <a:ln/>
        </p:spPr>
        <p:txBody>
          <a:bodyPr wrap="square" lIns="0" tIns="0" rIns="0" bIns="0" rtlCol="0" anchor="ctr"/>
          <a:lstStyle/>
          <a:p>
            <a:pPr indent="0" marL="0">
              <a:buNone/>
            </a:pPr>
            <a:r>
              <a:rPr lang="en-US" sz="950" b="1" dirty="0">
                <a:solidFill>
                  <a:srgbClr val="101828"/>
                </a:solidFill>
                <a:latin typeface="Inter" pitchFamily="34" charset="0"/>
                <a:ea typeface="Inter" pitchFamily="34" charset="-122"/>
                <a:cs typeface="Inter" pitchFamily="34" charset="-120"/>
              </a:rPr>
              <a:t>How much  </a:t>
            </a:r>
            <a:pPr indent="0" marL="0">
              <a:buNone/>
            </a:pPr>
            <a:r>
              <a:rPr lang="en-US" sz="950" dirty="0">
                <a:solidFill>
                  <a:srgbClr val="101828"/>
                </a:solidFill>
                <a:latin typeface="Inter" pitchFamily="34" charset="0"/>
                <a:ea typeface="Inter" pitchFamily="34" charset="-122"/>
                <a:cs typeface="Inter" pitchFamily="34" charset="-120"/>
              </a:rPr>
              <a:t>$1 to $25 in dollars, inside the $50 envelope</a:t>
            </a:r>
            <a:endParaRPr lang="en-US" sz="950" dirty="0"/>
          </a:p>
        </p:txBody>
      </p:sp>
      <p:sp>
        <p:nvSpPr>
          <p:cNvPr id="13" name="Shape 10"/>
          <p:cNvSpPr/>
          <p:nvPr/>
        </p:nvSpPr>
        <p:spPr>
          <a:xfrm>
            <a:off x="457200" y="2194560"/>
            <a:ext cx="4023360" cy="310896"/>
          </a:xfrm>
          <a:prstGeom prst="roundRect">
            <a:avLst>
              <a:gd name="adj" fmla="val 17647"/>
            </a:avLst>
          </a:prstGeom>
          <a:solidFill>
            <a:srgbClr val="F4F5F7"/>
          </a:solidFill>
          <a:ln w="12700">
            <a:solidFill>
              <a:srgbClr val="F4F5F7"/>
            </a:solidFill>
            <a:prstDash val="solid"/>
          </a:ln>
        </p:spPr>
      </p:sp>
      <p:sp>
        <p:nvSpPr>
          <p:cNvPr id="14" name="Text 11"/>
          <p:cNvSpPr/>
          <p:nvPr/>
        </p:nvSpPr>
        <p:spPr>
          <a:xfrm>
            <a:off x="548640" y="2194560"/>
            <a:ext cx="3886200" cy="310896"/>
          </a:xfrm>
          <a:prstGeom prst="rect">
            <a:avLst/>
          </a:prstGeom>
          <a:noFill/>
          <a:ln/>
        </p:spPr>
        <p:txBody>
          <a:bodyPr wrap="square" lIns="0" tIns="0" rIns="0" bIns="0" rtlCol="0" anchor="ctr"/>
          <a:lstStyle/>
          <a:p>
            <a:pPr indent="0" marL="0">
              <a:buNone/>
            </a:pPr>
            <a:r>
              <a:rPr lang="en-US" sz="950" b="1" dirty="0">
                <a:solidFill>
                  <a:srgbClr val="101828"/>
                </a:solidFill>
                <a:latin typeface="Inter" pitchFamily="34" charset="0"/>
                <a:ea typeface="Inter" pitchFamily="34" charset="-122"/>
                <a:cs typeface="Inter" pitchFamily="34" charset="-120"/>
              </a:rPr>
              <a:t>Price  </a:t>
            </a:r>
            <a:pPr indent="0" marL="0">
              <a:buNone/>
            </a:pPr>
            <a:r>
              <a:rPr lang="en-US" sz="950" dirty="0">
                <a:solidFill>
                  <a:srgbClr val="101828"/>
                </a:solidFill>
                <a:latin typeface="Inter" pitchFamily="34" charset="0"/>
                <a:ea typeface="Inter" pitchFamily="34" charset="-122"/>
                <a:cs typeface="Inter" pitchFamily="34" charset="-120"/>
              </a:rPr>
              <a:t>fresh quote; a cited price within 2% of it</a:t>
            </a:r>
            <a:endParaRPr lang="en-US" sz="950" dirty="0"/>
          </a:p>
        </p:txBody>
      </p:sp>
      <p:sp>
        <p:nvSpPr>
          <p:cNvPr id="15" name="Shape 12"/>
          <p:cNvSpPr/>
          <p:nvPr/>
        </p:nvSpPr>
        <p:spPr>
          <a:xfrm>
            <a:off x="457200" y="2560320"/>
            <a:ext cx="4023360" cy="310896"/>
          </a:xfrm>
          <a:prstGeom prst="roundRect">
            <a:avLst>
              <a:gd name="adj" fmla="val 17647"/>
            </a:avLst>
          </a:prstGeom>
          <a:solidFill>
            <a:srgbClr val="F4F5F7"/>
          </a:solidFill>
          <a:ln w="12700">
            <a:solidFill>
              <a:srgbClr val="F4F5F7"/>
            </a:solidFill>
            <a:prstDash val="solid"/>
          </a:ln>
        </p:spPr>
      </p:sp>
      <p:sp>
        <p:nvSpPr>
          <p:cNvPr id="16" name="Text 13"/>
          <p:cNvSpPr/>
          <p:nvPr/>
        </p:nvSpPr>
        <p:spPr>
          <a:xfrm>
            <a:off x="548640" y="2560320"/>
            <a:ext cx="3886200" cy="310896"/>
          </a:xfrm>
          <a:prstGeom prst="rect">
            <a:avLst/>
          </a:prstGeom>
          <a:noFill/>
          <a:ln/>
        </p:spPr>
        <p:txBody>
          <a:bodyPr wrap="square" lIns="0" tIns="0" rIns="0" bIns="0" rtlCol="0" anchor="ctr"/>
          <a:lstStyle/>
          <a:p>
            <a:pPr indent="0" marL="0">
              <a:buNone/>
            </a:pPr>
            <a:r>
              <a:rPr lang="en-US" sz="950" b="1" dirty="0">
                <a:solidFill>
                  <a:srgbClr val="101828"/>
                </a:solidFill>
                <a:latin typeface="Inter" pitchFamily="34" charset="0"/>
                <a:ea typeface="Inter" pitchFamily="34" charset="-122"/>
                <a:cs typeface="Inter" pitchFamily="34" charset="-120"/>
              </a:rPr>
              <a:t>How often  </a:t>
            </a:r>
            <a:pPr indent="0" marL="0">
              <a:buNone/>
            </a:pPr>
            <a:r>
              <a:rPr lang="en-US" sz="950" dirty="0">
                <a:solidFill>
                  <a:srgbClr val="101828"/>
                </a:solidFill>
                <a:latin typeface="Inter" pitchFamily="34" charset="0"/>
                <a:ea typeface="Inter" pitchFamily="34" charset="-122"/>
                <a:cs typeface="Inter" pitchFamily="34" charset="-120"/>
              </a:rPr>
              <a:t>1 order per security a day</a:t>
            </a:r>
            <a:endParaRPr lang="en-US" sz="950" dirty="0"/>
          </a:p>
        </p:txBody>
      </p:sp>
      <p:sp>
        <p:nvSpPr>
          <p:cNvPr id="17" name="Shape 14"/>
          <p:cNvSpPr/>
          <p:nvPr/>
        </p:nvSpPr>
        <p:spPr>
          <a:xfrm>
            <a:off x="457200" y="2926080"/>
            <a:ext cx="4023360" cy="310896"/>
          </a:xfrm>
          <a:prstGeom prst="roundRect">
            <a:avLst>
              <a:gd name="adj" fmla="val 17647"/>
            </a:avLst>
          </a:prstGeom>
          <a:solidFill>
            <a:srgbClr val="F4F5F7"/>
          </a:solidFill>
          <a:ln w="12700">
            <a:solidFill>
              <a:srgbClr val="F4F5F7"/>
            </a:solidFill>
            <a:prstDash val="solid"/>
          </a:ln>
        </p:spPr>
      </p:sp>
      <p:sp>
        <p:nvSpPr>
          <p:cNvPr id="18" name="Text 15"/>
          <p:cNvSpPr/>
          <p:nvPr/>
        </p:nvSpPr>
        <p:spPr>
          <a:xfrm>
            <a:off x="548640" y="2926080"/>
            <a:ext cx="3886200" cy="310896"/>
          </a:xfrm>
          <a:prstGeom prst="rect">
            <a:avLst/>
          </a:prstGeom>
          <a:noFill/>
          <a:ln/>
        </p:spPr>
        <p:txBody>
          <a:bodyPr wrap="square" lIns="0" tIns="0" rIns="0" bIns="0" rtlCol="0" anchor="ctr"/>
          <a:lstStyle/>
          <a:p>
            <a:pPr indent="0" marL="0">
              <a:buNone/>
            </a:pPr>
            <a:r>
              <a:rPr lang="en-US" sz="950" b="1" dirty="0">
                <a:solidFill>
                  <a:srgbClr val="101828"/>
                </a:solidFill>
                <a:latin typeface="Inter" pitchFamily="34" charset="0"/>
                <a:ea typeface="Inter" pitchFamily="34" charset="-122"/>
                <a:cs typeface="Inter" pitchFamily="34" charset="-120"/>
              </a:rPr>
              <a:t>Result  </a:t>
            </a:r>
            <a:pPr indent="0" marL="0">
              <a:buNone/>
            </a:pPr>
            <a:r>
              <a:rPr lang="en-US" sz="950" dirty="0">
                <a:solidFill>
                  <a:srgbClr val="101828"/>
                </a:solidFill>
                <a:latin typeface="Inter" pitchFamily="34" charset="0"/>
                <a:ea typeface="Inter" pitchFamily="34" charset="-122"/>
                <a:cs typeface="Inter" pitchFamily="34" charset="-120"/>
              </a:rPr>
              <a:t>order read back from the broker, fill journaled</a:t>
            </a:r>
            <a:endParaRPr lang="en-US" sz="950" dirty="0"/>
          </a:p>
        </p:txBody>
      </p:sp>
      <p:sp>
        <p:nvSpPr>
          <p:cNvPr id="19" name="Text 16"/>
          <p:cNvSpPr/>
          <p:nvPr/>
        </p:nvSpPr>
        <p:spPr>
          <a:xfrm>
            <a:off x="4663440" y="1051560"/>
            <a:ext cx="4023360" cy="365760"/>
          </a:xfrm>
          <a:prstGeom prst="rect">
            <a:avLst/>
          </a:prstGeom>
          <a:noFill/>
          <a:ln/>
        </p:spPr>
        <p:txBody>
          <a:bodyPr wrap="square" lIns="0" tIns="0" rIns="0" bIns="0" rtlCol="0" anchor="ctr"/>
          <a:lstStyle/>
          <a:p>
            <a:pPr indent="0" marL="0">
              <a:buNone/>
            </a:pPr>
            <a:r>
              <a:rPr lang="en-US" sz="1600" b="1" dirty="0">
                <a:solidFill>
                  <a:srgbClr val="1D4ED8"/>
                </a:solidFill>
                <a:latin typeface="Inter" pitchFamily="34" charset="0"/>
                <a:ea typeface="Inter" pitchFamily="34" charset="-122"/>
                <a:cs typeface="Inter" pitchFamily="34" charset="-120"/>
              </a:rPr>
              <a:t>Order type by market session</a:t>
            </a:r>
            <a:endParaRPr lang="en-US" sz="1600" dirty="0"/>
          </a:p>
        </p:txBody>
      </p:sp>
      <p:sp>
        <p:nvSpPr>
          <p:cNvPr id="20" name="Shape 17"/>
          <p:cNvSpPr/>
          <p:nvPr/>
        </p:nvSpPr>
        <p:spPr>
          <a:xfrm>
            <a:off x="4663440" y="1463040"/>
            <a:ext cx="4023360" cy="457200"/>
          </a:xfrm>
          <a:prstGeom prst="roundRect">
            <a:avLst>
              <a:gd name="adj" fmla="val 16000"/>
            </a:avLst>
          </a:prstGeom>
          <a:solidFill>
            <a:srgbClr val="E8F6F3"/>
          </a:solidFill>
          <a:ln w="12700">
            <a:solidFill>
              <a:srgbClr val="B7E4D9"/>
            </a:solidFill>
            <a:prstDash val="solid"/>
          </a:ln>
        </p:spPr>
      </p:sp>
      <p:sp>
        <p:nvSpPr>
          <p:cNvPr id="21" name="Text 18"/>
          <p:cNvSpPr/>
          <p:nvPr/>
        </p:nvSpPr>
        <p:spPr>
          <a:xfrm>
            <a:off x="4773168" y="1463040"/>
            <a:ext cx="3840480" cy="457200"/>
          </a:xfrm>
          <a:prstGeom prst="rect">
            <a:avLst/>
          </a:prstGeom>
          <a:noFill/>
          <a:ln/>
        </p:spPr>
        <p:txBody>
          <a:bodyPr wrap="square" lIns="0" tIns="0" rIns="0" bIns="0" rtlCol="0" anchor="ctr"/>
          <a:lstStyle/>
          <a:p>
            <a:pPr indent="0" marL="0">
              <a:buNone/>
            </a:pPr>
            <a:r>
              <a:rPr lang="en-US" sz="1000" b="1" dirty="0">
                <a:solidFill>
                  <a:srgbClr val="101828"/>
                </a:solidFill>
                <a:latin typeface="Inter" pitchFamily="34" charset="0"/>
                <a:ea typeface="Inter" pitchFamily="34" charset="-122"/>
                <a:cs typeface="Inter" pitchFamily="34" charset="-120"/>
              </a:rPr>
              <a:t>Regular hours, 9:30 to 16:00 New York</a:t>
            </a:r>
            <a:endParaRPr lang="en-US" sz="1000" dirty="0"/>
          </a:p>
          <a:p>
            <a:pPr indent="0" marL="0">
              <a:buNone/>
            </a:pPr>
            <a:r>
              <a:rPr lang="en-US" sz="1000" dirty="0">
                <a:solidFill>
                  <a:srgbClr val="667085"/>
                </a:solidFill>
                <a:latin typeface="Inter" pitchFamily="34" charset="0"/>
                <a:ea typeface="Inter" pitchFamily="34" charset="-122"/>
                <a:cs typeface="Inter" pitchFamily="34" charset="-120"/>
              </a:rPr>
              <a:t>market order for the dollar amount</a:t>
            </a:r>
            <a:endParaRPr lang="en-US" sz="1000" dirty="0"/>
          </a:p>
        </p:txBody>
      </p:sp>
      <p:sp>
        <p:nvSpPr>
          <p:cNvPr id="22" name="Shape 19"/>
          <p:cNvSpPr/>
          <p:nvPr/>
        </p:nvSpPr>
        <p:spPr>
          <a:xfrm>
            <a:off x="4663440" y="1993392"/>
            <a:ext cx="4023360" cy="457200"/>
          </a:xfrm>
          <a:prstGeom prst="roundRect">
            <a:avLst>
              <a:gd name="adj" fmla="val 16000"/>
            </a:avLst>
          </a:prstGeom>
          <a:solidFill>
            <a:srgbClr val="EEF4FF"/>
          </a:solidFill>
          <a:ln w="12700">
            <a:solidFill>
              <a:srgbClr val="C7D7FE"/>
            </a:solidFill>
            <a:prstDash val="solid"/>
          </a:ln>
        </p:spPr>
      </p:sp>
      <p:sp>
        <p:nvSpPr>
          <p:cNvPr id="23" name="Text 20"/>
          <p:cNvSpPr/>
          <p:nvPr/>
        </p:nvSpPr>
        <p:spPr>
          <a:xfrm>
            <a:off x="4773168" y="1993392"/>
            <a:ext cx="3840480" cy="457200"/>
          </a:xfrm>
          <a:prstGeom prst="rect">
            <a:avLst/>
          </a:prstGeom>
          <a:noFill/>
          <a:ln/>
        </p:spPr>
        <p:txBody>
          <a:bodyPr wrap="square" lIns="0" tIns="0" rIns="0" bIns="0" rtlCol="0" anchor="ctr"/>
          <a:lstStyle/>
          <a:p>
            <a:pPr indent="0" marL="0">
              <a:buNone/>
            </a:pPr>
            <a:r>
              <a:rPr lang="en-US" sz="1000" b="1" dirty="0">
                <a:solidFill>
                  <a:srgbClr val="101828"/>
                </a:solidFill>
                <a:latin typeface="Inter" pitchFamily="34" charset="0"/>
                <a:ea typeface="Inter" pitchFamily="34" charset="-122"/>
                <a:cs typeface="Inter" pitchFamily="34" charset="-120"/>
              </a:rPr>
              <a:t>Pre market from 4:00, after hours until 20:00</a:t>
            </a:r>
            <a:endParaRPr lang="en-US" sz="1000" dirty="0"/>
          </a:p>
          <a:p>
            <a:pPr indent="0" marL="0">
              <a:buNone/>
            </a:pPr>
            <a:r>
              <a:rPr lang="en-US" sz="1000" dirty="0">
                <a:solidFill>
                  <a:srgbClr val="667085"/>
                </a:solidFill>
                <a:latin typeface="Inter" pitchFamily="34" charset="0"/>
                <a:ea typeface="Inter" pitchFamily="34" charset="-122"/>
                <a:cs typeface="Inter" pitchFamily="34" charset="-120"/>
              </a:rPr>
              <a:t>limit order at the quote + 0.5%, extended hours</a:t>
            </a:r>
            <a:endParaRPr lang="en-US" sz="1000" dirty="0"/>
          </a:p>
        </p:txBody>
      </p:sp>
      <p:sp>
        <p:nvSpPr>
          <p:cNvPr id="24" name="Shape 21"/>
          <p:cNvSpPr/>
          <p:nvPr/>
        </p:nvSpPr>
        <p:spPr>
          <a:xfrm>
            <a:off x="4663440" y="2523744"/>
            <a:ext cx="4023360" cy="457200"/>
          </a:xfrm>
          <a:prstGeom prst="roundRect">
            <a:avLst>
              <a:gd name="adj" fmla="val 16000"/>
            </a:avLst>
          </a:prstGeom>
          <a:solidFill>
            <a:srgbClr val="FFF6E5"/>
          </a:solidFill>
          <a:ln w="12700">
            <a:solidFill>
              <a:srgbClr val="FEDF89"/>
            </a:solidFill>
            <a:prstDash val="solid"/>
          </a:ln>
        </p:spPr>
      </p:sp>
      <p:sp>
        <p:nvSpPr>
          <p:cNvPr id="25" name="Text 22"/>
          <p:cNvSpPr/>
          <p:nvPr/>
        </p:nvSpPr>
        <p:spPr>
          <a:xfrm>
            <a:off x="4773168" y="2523744"/>
            <a:ext cx="3840480" cy="457200"/>
          </a:xfrm>
          <a:prstGeom prst="rect">
            <a:avLst/>
          </a:prstGeom>
          <a:noFill/>
          <a:ln/>
        </p:spPr>
        <p:txBody>
          <a:bodyPr wrap="square" lIns="0" tIns="0" rIns="0" bIns="0" rtlCol="0" anchor="ctr"/>
          <a:lstStyle/>
          <a:p>
            <a:pPr indent="0" marL="0">
              <a:buNone/>
            </a:pPr>
            <a:r>
              <a:rPr lang="en-US" sz="1000" b="1" dirty="0">
                <a:solidFill>
                  <a:srgbClr val="101828"/>
                </a:solidFill>
                <a:latin typeface="Inter" pitchFamily="34" charset="0"/>
                <a:ea typeface="Inter" pitchFamily="34" charset="-122"/>
                <a:cs typeface="Inter" pitchFamily="34" charset="-120"/>
              </a:rPr>
              <a:t>Closed</a:t>
            </a:r>
            <a:endParaRPr lang="en-US" sz="1000" dirty="0"/>
          </a:p>
          <a:p>
            <a:pPr indent="0" marL="0">
              <a:buNone/>
            </a:pPr>
            <a:r>
              <a:rPr lang="en-US" sz="1000" dirty="0">
                <a:solidFill>
                  <a:srgbClr val="667085"/>
                </a:solidFill>
                <a:latin typeface="Inter" pitchFamily="34" charset="0"/>
                <a:ea typeface="Inter" pitchFamily="34" charset="-122"/>
                <a:cs typeface="Inter" pitchFamily="34" charset="-120"/>
              </a:rPr>
              <a:t>market order queued for the open</a:t>
            </a:r>
            <a:endParaRPr lang="en-US" sz="1000" dirty="0"/>
          </a:p>
        </p:txBody>
      </p:sp>
      <p:sp>
        <p:nvSpPr>
          <p:cNvPr id="26" name="Text 23"/>
          <p:cNvSpPr/>
          <p:nvPr/>
        </p:nvSpPr>
        <p:spPr>
          <a:xfrm>
            <a:off x="4663440" y="3081528"/>
            <a:ext cx="4023360" cy="228600"/>
          </a:xfrm>
          <a:prstGeom prst="rect">
            <a:avLst/>
          </a:prstGeom>
          <a:noFill/>
          <a:ln/>
        </p:spPr>
        <p:txBody>
          <a:bodyPr wrap="square" lIns="0" tIns="0" rIns="0" bIns="0" rtlCol="0" anchor="ctr"/>
          <a:lstStyle/>
          <a:p>
            <a:pPr indent="0" marL="0">
              <a:buNone/>
            </a:pPr>
            <a:r>
              <a:rPr lang="en-US" sz="950" dirty="0">
                <a:solidFill>
                  <a:srgbClr val="667085"/>
                </a:solidFill>
                <a:latin typeface="Inter" pitchFamily="34" charset="0"/>
                <a:ea typeface="Inter" pitchFamily="34" charset="-122"/>
                <a:cs typeface="Inter" pitchFamily="34" charset="-120"/>
              </a:rPr>
              <a:t>Live, Alpaca paper: SPY limit up to $770.57, filled at $767.57</a:t>
            </a:r>
            <a:endParaRPr lang="en-US" sz="950" dirty="0"/>
          </a:p>
        </p:txBody>
      </p:sp>
      <p:sp>
        <p:nvSpPr>
          <p:cNvPr id="27" name="Shape 24"/>
          <p:cNvSpPr/>
          <p:nvPr/>
        </p:nvSpPr>
        <p:spPr>
          <a:xfrm>
            <a:off x="457200" y="3429000"/>
            <a:ext cx="1920240" cy="1188720"/>
          </a:xfrm>
          <a:prstGeom prst="roundRect">
            <a:avLst>
              <a:gd name="adj" fmla="val 7692"/>
            </a:avLst>
          </a:prstGeom>
          <a:solidFill>
            <a:srgbClr val="F4F5F7"/>
          </a:solidFill>
          <a:ln w="12700">
            <a:solidFill>
              <a:srgbClr val="F4F5F7"/>
            </a:solidFill>
            <a:prstDash val="solid"/>
          </a:ln>
        </p:spPr>
      </p:sp>
      <p:sp>
        <p:nvSpPr>
          <p:cNvPr id="28" name="Text 25"/>
          <p:cNvSpPr/>
          <p:nvPr/>
        </p:nvSpPr>
        <p:spPr>
          <a:xfrm>
            <a:off x="594360" y="352044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2</a:t>
            </a:r>
            <a:endParaRPr lang="en-US" sz="2600" dirty="0"/>
          </a:p>
        </p:txBody>
      </p:sp>
      <p:sp>
        <p:nvSpPr>
          <p:cNvPr id="29" name="Text 26"/>
          <p:cNvSpPr/>
          <p:nvPr/>
        </p:nvSpPr>
        <p:spPr>
          <a:xfrm>
            <a:off x="594360" y="408736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orders placed in the demo month, each read back</a:t>
            </a:r>
            <a:endParaRPr lang="en-US" sz="1050" dirty="0"/>
          </a:p>
        </p:txBody>
      </p:sp>
      <p:sp>
        <p:nvSpPr>
          <p:cNvPr id="30" name="Shape 27"/>
          <p:cNvSpPr/>
          <p:nvPr/>
        </p:nvSpPr>
        <p:spPr>
          <a:xfrm>
            <a:off x="2560320" y="3429000"/>
            <a:ext cx="1920240" cy="1188720"/>
          </a:xfrm>
          <a:prstGeom prst="roundRect">
            <a:avLst>
              <a:gd name="adj" fmla="val 7692"/>
            </a:avLst>
          </a:prstGeom>
          <a:solidFill>
            <a:srgbClr val="F4F5F7"/>
          </a:solidFill>
          <a:ln w="12700">
            <a:solidFill>
              <a:srgbClr val="F4F5F7"/>
            </a:solidFill>
            <a:prstDash val="solid"/>
          </a:ln>
        </p:spPr>
      </p:sp>
      <p:sp>
        <p:nvSpPr>
          <p:cNvPr id="31" name="Text 28"/>
          <p:cNvSpPr/>
          <p:nvPr/>
        </p:nvSpPr>
        <p:spPr>
          <a:xfrm>
            <a:off x="2697480" y="3520440"/>
            <a:ext cx="1645920" cy="548640"/>
          </a:xfrm>
          <a:prstGeom prst="rect">
            <a:avLst/>
          </a:prstGeom>
          <a:noFill/>
          <a:ln/>
        </p:spPr>
        <p:txBody>
          <a:bodyPr wrap="square" lIns="0" tIns="0" rIns="0" bIns="0" rtlCol="0" anchor="ctr"/>
          <a:lstStyle/>
          <a:p>
            <a:pPr indent="0" marL="0">
              <a:buNone/>
            </a:pPr>
            <a:r>
              <a:rPr lang="en-US" sz="2600" b="1" dirty="0">
                <a:solidFill>
                  <a:srgbClr val="B42318"/>
                </a:solidFill>
                <a:latin typeface="Inter" pitchFamily="34" charset="0"/>
                <a:ea typeface="Inter" pitchFamily="34" charset="-122"/>
                <a:cs typeface="Inter" pitchFamily="34" charset="-120"/>
              </a:rPr>
              <a:t>2</a:t>
            </a:r>
            <a:endParaRPr lang="en-US" sz="2600" dirty="0"/>
          </a:p>
        </p:txBody>
      </p:sp>
      <p:sp>
        <p:nvSpPr>
          <p:cNvPr id="32" name="Text 29"/>
          <p:cNvSpPr/>
          <p:nvPr/>
        </p:nvSpPr>
        <p:spPr>
          <a:xfrm>
            <a:off x="2697480" y="408736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off-list requests stopped (a meme stock, an option)</a:t>
            </a:r>
            <a:endParaRPr lang="en-US" sz="1050" dirty="0"/>
          </a:p>
        </p:txBody>
      </p:sp>
      <p:sp>
        <p:nvSpPr>
          <p:cNvPr id="33" name="Shape 30"/>
          <p:cNvSpPr/>
          <p:nvPr/>
        </p:nvSpPr>
        <p:spPr>
          <a:xfrm>
            <a:off x="4663440" y="3429000"/>
            <a:ext cx="1920240" cy="1188720"/>
          </a:xfrm>
          <a:prstGeom prst="roundRect">
            <a:avLst>
              <a:gd name="adj" fmla="val 7692"/>
            </a:avLst>
          </a:prstGeom>
          <a:solidFill>
            <a:srgbClr val="F4F5F7"/>
          </a:solidFill>
          <a:ln w="12700">
            <a:solidFill>
              <a:srgbClr val="F4F5F7"/>
            </a:solidFill>
            <a:prstDash val="solid"/>
          </a:ln>
        </p:spPr>
      </p:sp>
      <p:sp>
        <p:nvSpPr>
          <p:cNvPr id="34" name="Text 31"/>
          <p:cNvSpPr/>
          <p:nvPr/>
        </p:nvSpPr>
        <p:spPr>
          <a:xfrm>
            <a:off x="4800600" y="352044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9/9</a:t>
            </a:r>
            <a:endParaRPr lang="en-US" sz="2600" dirty="0"/>
          </a:p>
        </p:txBody>
      </p:sp>
      <p:sp>
        <p:nvSpPr>
          <p:cNvPr id="35" name="Text 32"/>
          <p:cNvSpPr/>
          <p:nvPr/>
        </p:nvSpPr>
        <p:spPr>
          <a:xfrm>
            <a:off x="4800600" y="408736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red-team attacks on orders stopped</a:t>
            </a:r>
            <a:endParaRPr lang="en-US" sz="1050" dirty="0"/>
          </a:p>
        </p:txBody>
      </p:sp>
      <p:sp>
        <p:nvSpPr>
          <p:cNvPr id="36" name="Shape 33"/>
          <p:cNvSpPr/>
          <p:nvPr/>
        </p:nvSpPr>
        <p:spPr>
          <a:xfrm>
            <a:off x="6766560" y="3429000"/>
            <a:ext cx="1920240" cy="1188720"/>
          </a:xfrm>
          <a:prstGeom prst="roundRect">
            <a:avLst>
              <a:gd name="adj" fmla="val 7692"/>
            </a:avLst>
          </a:prstGeom>
          <a:solidFill>
            <a:srgbClr val="F4F5F7"/>
          </a:solidFill>
          <a:ln w="12700">
            <a:solidFill>
              <a:srgbClr val="F4F5F7"/>
            </a:solidFill>
            <a:prstDash val="solid"/>
          </a:ln>
        </p:spPr>
      </p:sp>
      <p:sp>
        <p:nvSpPr>
          <p:cNvPr id="37" name="Text 34"/>
          <p:cNvSpPr/>
          <p:nvPr/>
        </p:nvSpPr>
        <p:spPr>
          <a:xfrm>
            <a:off x="6903720" y="352044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1</a:t>
            </a:r>
            <a:endParaRPr lang="en-US" sz="2600" dirty="0"/>
          </a:p>
        </p:txBody>
      </p:sp>
      <p:sp>
        <p:nvSpPr>
          <p:cNvPr id="38" name="Text 35"/>
          <p:cNvSpPr/>
          <p:nvPr/>
        </p:nvSpPr>
        <p:spPr>
          <a:xfrm>
            <a:off x="6903720" y="408736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fill journaled at the next open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Budget and payee risk: measured, not claimed</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10 / 15</a:t>
            </a:r>
            <a:endParaRPr lang="en-US" sz="900" dirty="0"/>
          </a:p>
        </p:txBody>
      </p:sp>
      <p:sp>
        <p:nvSpPr>
          <p:cNvPr id="8" name="Text 5"/>
          <p:cNvSpPr/>
          <p:nvPr/>
        </p:nvSpPr>
        <p:spPr>
          <a:xfrm>
            <a:off x="457200" y="1097280"/>
            <a:ext cx="4023360" cy="365760"/>
          </a:xfrm>
          <a:prstGeom prst="rect">
            <a:avLst/>
          </a:prstGeom>
          <a:noFill/>
          <a:ln/>
        </p:spPr>
        <p:txBody>
          <a:bodyPr wrap="square" lIns="0" tIns="0" rIns="0" bIns="0" rtlCol="0" anchor="ctr"/>
          <a:lstStyle/>
          <a:p>
            <a:pPr indent="0" marL="0">
              <a:buNone/>
            </a:pPr>
            <a:r>
              <a:rPr lang="en-US" sz="1700" b="1" dirty="0">
                <a:solidFill>
                  <a:srgbClr val="1D4ED8"/>
                </a:solidFill>
                <a:latin typeface="Inter" pitchFamily="34" charset="0"/>
                <a:ea typeface="Inter" pitchFamily="34" charset="-122"/>
                <a:cs typeface="Inter" pitchFamily="34" charset="-120"/>
              </a:rPr>
              <a:t>C8 budget</a:t>
            </a:r>
            <a:endParaRPr lang="en-US" sz="1700" dirty="0"/>
          </a:p>
        </p:txBody>
      </p:sp>
      <p:sp>
        <p:nvSpPr>
          <p:cNvPr id="9" name="Text 6"/>
          <p:cNvSpPr/>
          <p:nvPr/>
        </p:nvSpPr>
        <p:spPr>
          <a:xfrm>
            <a:off x="4663440" y="1097280"/>
            <a:ext cx="4023360" cy="365760"/>
          </a:xfrm>
          <a:prstGeom prst="rect">
            <a:avLst/>
          </a:prstGeom>
          <a:noFill/>
          <a:ln/>
        </p:spPr>
        <p:txBody>
          <a:bodyPr wrap="square" lIns="0" tIns="0" rIns="0" bIns="0" rtlCol="0" anchor="ctr"/>
          <a:lstStyle/>
          <a:p>
            <a:pPr indent="0" marL="0">
              <a:buNone/>
            </a:pPr>
            <a:r>
              <a:rPr lang="en-US" sz="1700" b="1" dirty="0">
                <a:solidFill>
                  <a:srgbClr val="1D4ED8"/>
                </a:solidFill>
                <a:latin typeface="Inter" pitchFamily="34" charset="0"/>
                <a:ea typeface="Inter" pitchFamily="34" charset="-122"/>
                <a:cs typeface="Inter" pitchFamily="34" charset="-120"/>
              </a:rPr>
              <a:t>C10 payee risk on the transfer graph</a:t>
            </a:r>
            <a:endParaRPr lang="en-US" sz="1700" dirty="0"/>
          </a:p>
        </p:txBody>
      </p:sp>
      <p:sp>
        <p:nvSpPr>
          <p:cNvPr id="10" name="Shape 7"/>
          <p:cNvSpPr/>
          <p:nvPr/>
        </p:nvSpPr>
        <p:spPr>
          <a:xfrm>
            <a:off x="457200" y="1554480"/>
            <a:ext cx="1920240" cy="1188720"/>
          </a:xfrm>
          <a:prstGeom prst="roundRect">
            <a:avLst>
              <a:gd name="adj" fmla="val 7692"/>
            </a:avLst>
          </a:prstGeom>
          <a:solidFill>
            <a:srgbClr val="F4F5F7"/>
          </a:solidFill>
          <a:ln w="12700">
            <a:solidFill>
              <a:srgbClr val="F4F5F7"/>
            </a:solidFill>
            <a:prstDash val="solid"/>
          </a:ln>
        </p:spPr>
      </p:sp>
      <p:sp>
        <p:nvSpPr>
          <p:cNvPr id="11" name="Text 8"/>
          <p:cNvSpPr/>
          <p:nvPr/>
        </p:nvSpPr>
        <p:spPr>
          <a:xfrm>
            <a:off x="594360" y="164592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5/5</a:t>
            </a:r>
            <a:endParaRPr lang="en-US" sz="2600" dirty="0"/>
          </a:p>
        </p:txBody>
      </p:sp>
      <p:sp>
        <p:nvSpPr>
          <p:cNvPr id="12" name="Text 9"/>
          <p:cNvSpPr/>
          <p:nvPr/>
        </p:nvSpPr>
        <p:spPr>
          <a:xfrm>
            <a:off x="594360" y="221284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planted leaks found, $10.23 a month</a:t>
            </a:r>
            <a:endParaRPr lang="en-US" sz="1050" dirty="0"/>
          </a:p>
        </p:txBody>
      </p:sp>
      <p:sp>
        <p:nvSpPr>
          <p:cNvPr id="13" name="Shape 10"/>
          <p:cNvSpPr/>
          <p:nvPr/>
        </p:nvSpPr>
        <p:spPr>
          <a:xfrm>
            <a:off x="2560320" y="1554480"/>
            <a:ext cx="1920240" cy="1188720"/>
          </a:xfrm>
          <a:prstGeom prst="roundRect">
            <a:avLst>
              <a:gd name="adj" fmla="val 7692"/>
            </a:avLst>
          </a:prstGeom>
          <a:solidFill>
            <a:srgbClr val="F4F5F7"/>
          </a:solidFill>
          <a:ln w="12700">
            <a:solidFill>
              <a:srgbClr val="F4F5F7"/>
            </a:solidFill>
            <a:prstDash val="solid"/>
          </a:ln>
        </p:spPr>
      </p:sp>
      <p:sp>
        <p:nvSpPr>
          <p:cNvPr id="14" name="Text 11"/>
          <p:cNvSpPr/>
          <p:nvPr/>
        </p:nvSpPr>
        <p:spPr>
          <a:xfrm>
            <a:off x="2697480" y="164592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27.2%</a:t>
            </a:r>
            <a:endParaRPr lang="en-US" sz="2600" dirty="0"/>
          </a:p>
        </p:txBody>
      </p:sp>
      <p:sp>
        <p:nvSpPr>
          <p:cNvPr id="15" name="Text 12"/>
          <p:cNvSpPr/>
          <p:nvPr/>
        </p:nvSpPr>
        <p:spPr>
          <a:xfrm>
            <a:off x="2697480" y="221284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spending forecast error (WAPE), held-out months</a:t>
            </a:r>
            <a:endParaRPr lang="en-US" sz="1050" dirty="0"/>
          </a:p>
        </p:txBody>
      </p:sp>
      <p:sp>
        <p:nvSpPr>
          <p:cNvPr id="16" name="Shape 13"/>
          <p:cNvSpPr/>
          <p:nvPr/>
        </p:nvSpPr>
        <p:spPr>
          <a:xfrm>
            <a:off x="457200" y="2926080"/>
            <a:ext cx="1920240" cy="1188720"/>
          </a:xfrm>
          <a:prstGeom prst="roundRect">
            <a:avLst>
              <a:gd name="adj" fmla="val 7692"/>
            </a:avLst>
          </a:prstGeom>
          <a:solidFill>
            <a:srgbClr val="F4F5F7"/>
          </a:solidFill>
          <a:ln w="12700">
            <a:solidFill>
              <a:srgbClr val="F4F5F7"/>
            </a:solidFill>
            <a:prstDash val="solid"/>
          </a:ln>
        </p:spPr>
      </p:sp>
      <p:sp>
        <p:nvSpPr>
          <p:cNvPr id="17" name="Text 14"/>
          <p:cNvSpPr/>
          <p:nvPr/>
        </p:nvSpPr>
        <p:spPr>
          <a:xfrm>
            <a:off x="594360" y="301752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1/1</a:t>
            </a:r>
            <a:endParaRPr lang="en-US" sz="2600" dirty="0"/>
          </a:p>
        </p:txBody>
      </p:sp>
      <p:sp>
        <p:nvSpPr>
          <p:cNvPr id="18" name="Text 15"/>
          <p:cNvSpPr/>
          <p:nvPr/>
        </p:nvSpPr>
        <p:spPr>
          <a:xfrm>
            <a:off x="594360" y="358444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cash gap caught in time, 0 false alarms in 18 probes</a:t>
            </a:r>
            <a:endParaRPr lang="en-US" sz="1050" dirty="0"/>
          </a:p>
        </p:txBody>
      </p:sp>
      <p:sp>
        <p:nvSpPr>
          <p:cNvPr id="19" name="Shape 16"/>
          <p:cNvSpPr/>
          <p:nvPr/>
        </p:nvSpPr>
        <p:spPr>
          <a:xfrm>
            <a:off x="2560320" y="2926080"/>
            <a:ext cx="1920240" cy="1188720"/>
          </a:xfrm>
          <a:prstGeom prst="roundRect">
            <a:avLst>
              <a:gd name="adj" fmla="val 7692"/>
            </a:avLst>
          </a:prstGeom>
          <a:solidFill>
            <a:srgbClr val="F4F5F7"/>
          </a:solidFill>
          <a:ln w="12700">
            <a:solidFill>
              <a:srgbClr val="F4F5F7"/>
            </a:solidFill>
            <a:prstDash val="solid"/>
          </a:ln>
        </p:spPr>
      </p:sp>
      <p:sp>
        <p:nvSpPr>
          <p:cNvPr id="20" name="Text 17"/>
          <p:cNvSpPr/>
          <p:nvPr/>
        </p:nvSpPr>
        <p:spPr>
          <a:xfrm>
            <a:off x="2697480" y="301752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1/1</a:t>
            </a:r>
            <a:endParaRPr lang="en-US" sz="2600" dirty="0"/>
          </a:p>
        </p:txBody>
      </p:sp>
      <p:sp>
        <p:nvSpPr>
          <p:cNvPr id="21" name="Text 18"/>
          <p:cNvSpPr/>
          <p:nvPr/>
        </p:nvSpPr>
        <p:spPr>
          <a:xfrm>
            <a:off x="2697480" y="358444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double charge on the same card found</a:t>
            </a:r>
            <a:endParaRPr lang="en-US" sz="1050" dirty="0"/>
          </a:p>
        </p:txBody>
      </p:sp>
      <p:sp>
        <p:nvSpPr>
          <p:cNvPr id="22" name="Shape 19"/>
          <p:cNvSpPr/>
          <p:nvPr/>
        </p:nvSpPr>
        <p:spPr>
          <a:xfrm>
            <a:off x="4663440" y="1554480"/>
            <a:ext cx="1920240" cy="1188720"/>
          </a:xfrm>
          <a:prstGeom prst="roundRect">
            <a:avLst>
              <a:gd name="adj" fmla="val 7692"/>
            </a:avLst>
          </a:prstGeom>
          <a:solidFill>
            <a:srgbClr val="F4F5F7"/>
          </a:solidFill>
          <a:ln w="12700">
            <a:solidFill>
              <a:srgbClr val="F4F5F7"/>
            </a:solidFill>
            <a:prstDash val="solid"/>
          </a:ln>
        </p:spPr>
      </p:sp>
      <p:sp>
        <p:nvSpPr>
          <p:cNvPr id="23" name="Text 20"/>
          <p:cNvSpPr/>
          <p:nvPr/>
        </p:nvSpPr>
        <p:spPr>
          <a:xfrm>
            <a:off x="4800600" y="164592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1.00</a:t>
            </a:r>
            <a:endParaRPr lang="en-US" sz="2600" dirty="0"/>
          </a:p>
        </p:txBody>
      </p:sp>
      <p:sp>
        <p:nvSpPr>
          <p:cNvPr id="24" name="Text 21"/>
          <p:cNvSpPr/>
          <p:nvPr/>
        </p:nvSpPr>
        <p:spPr>
          <a:xfrm>
            <a:off x="4800600" y="221284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ROC-AUC on held-out graphs</a:t>
            </a:r>
            <a:endParaRPr lang="en-US" sz="1050" dirty="0"/>
          </a:p>
        </p:txBody>
      </p:sp>
      <p:sp>
        <p:nvSpPr>
          <p:cNvPr id="25" name="Shape 22"/>
          <p:cNvSpPr/>
          <p:nvPr/>
        </p:nvSpPr>
        <p:spPr>
          <a:xfrm>
            <a:off x="6766560" y="1554480"/>
            <a:ext cx="1920240" cy="1188720"/>
          </a:xfrm>
          <a:prstGeom prst="roundRect">
            <a:avLst>
              <a:gd name="adj" fmla="val 7692"/>
            </a:avLst>
          </a:prstGeom>
          <a:solidFill>
            <a:srgbClr val="F4F5F7"/>
          </a:solidFill>
          <a:ln w="12700">
            <a:solidFill>
              <a:srgbClr val="F4F5F7"/>
            </a:solidFill>
            <a:prstDash val="solid"/>
          </a:ln>
        </p:spPr>
      </p:sp>
      <p:sp>
        <p:nvSpPr>
          <p:cNvPr id="26" name="Text 23"/>
          <p:cNvSpPr/>
          <p:nvPr/>
        </p:nvSpPr>
        <p:spPr>
          <a:xfrm>
            <a:off x="6903720" y="164592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0.993</a:t>
            </a:r>
            <a:endParaRPr lang="en-US" sz="2600" dirty="0"/>
          </a:p>
        </p:txBody>
      </p:sp>
      <p:sp>
        <p:nvSpPr>
          <p:cNvPr id="27" name="Text 24"/>
          <p:cNvSpPr/>
          <p:nvPr/>
        </p:nvSpPr>
        <p:spPr>
          <a:xfrm>
            <a:off x="6903720" y="221284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precision at threshold 0.7</a:t>
            </a:r>
            <a:endParaRPr lang="en-US" sz="1050" dirty="0"/>
          </a:p>
        </p:txBody>
      </p:sp>
      <p:sp>
        <p:nvSpPr>
          <p:cNvPr id="28" name="Shape 25"/>
          <p:cNvSpPr/>
          <p:nvPr/>
        </p:nvSpPr>
        <p:spPr>
          <a:xfrm>
            <a:off x="4663440" y="2926080"/>
            <a:ext cx="1920240" cy="1188720"/>
          </a:xfrm>
          <a:prstGeom prst="roundRect">
            <a:avLst>
              <a:gd name="adj" fmla="val 7692"/>
            </a:avLst>
          </a:prstGeom>
          <a:solidFill>
            <a:srgbClr val="F4F5F7"/>
          </a:solidFill>
          <a:ln w="12700">
            <a:solidFill>
              <a:srgbClr val="F4F5F7"/>
            </a:solidFill>
            <a:prstDash val="solid"/>
          </a:ln>
        </p:spPr>
      </p:sp>
      <p:sp>
        <p:nvSpPr>
          <p:cNvPr id="29" name="Text 26"/>
          <p:cNvSpPr/>
          <p:nvPr/>
        </p:nvSpPr>
        <p:spPr>
          <a:xfrm>
            <a:off x="4800600" y="301752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0.944</a:t>
            </a:r>
            <a:endParaRPr lang="en-US" sz="2600" dirty="0"/>
          </a:p>
        </p:txBody>
      </p:sp>
      <p:sp>
        <p:nvSpPr>
          <p:cNvPr id="30" name="Text 27"/>
          <p:cNvSpPr/>
          <p:nvPr/>
        </p:nvSpPr>
        <p:spPr>
          <a:xfrm>
            <a:off x="4800600" y="358444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recall over mule schemes</a:t>
            </a:r>
            <a:endParaRPr lang="en-US" sz="1050" dirty="0"/>
          </a:p>
        </p:txBody>
      </p:sp>
      <p:sp>
        <p:nvSpPr>
          <p:cNvPr id="31" name="Shape 28"/>
          <p:cNvSpPr/>
          <p:nvPr/>
        </p:nvSpPr>
        <p:spPr>
          <a:xfrm>
            <a:off x="6766560" y="2926080"/>
            <a:ext cx="1920240" cy="1188720"/>
          </a:xfrm>
          <a:prstGeom prst="roundRect">
            <a:avLst>
              <a:gd name="adj" fmla="val 7692"/>
            </a:avLst>
          </a:prstGeom>
          <a:solidFill>
            <a:srgbClr val="F4F5F7"/>
          </a:solidFill>
          <a:ln w="12700">
            <a:solidFill>
              <a:srgbClr val="F4F5F7"/>
            </a:solidFill>
            <a:prstDash val="solid"/>
          </a:ln>
        </p:spPr>
      </p:sp>
      <p:sp>
        <p:nvSpPr>
          <p:cNvPr id="32" name="Text 29"/>
          <p:cNvSpPr/>
          <p:nvPr/>
        </p:nvSpPr>
        <p:spPr>
          <a:xfrm>
            <a:off x="6903720" y="301752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0</a:t>
            </a:r>
            <a:endParaRPr lang="en-US" sz="2600" dirty="0"/>
          </a:p>
        </p:txBody>
      </p:sp>
      <p:sp>
        <p:nvSpPr>
          <p:cNvPr id="33" name="Text 30"/>
          <p:cNvSpPr/>
          <p:nvPr/>
        </p:nvSpPr>
        <p:spPr>
          <a:xfrm>
            <a:off x="6903720" y="358444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false alarms on employers, merchants, landlords</a:t>
            </a:r>
            <a:endParaRPr lang="en-US" sz="1050" dirty="0"/>
          </a:p>
        </p:txBody>
      </p:sp>
      <p:sp>
        <p:nvSpPr>
          <p:cNvPr id="34" name="Text 31"/>
          <p:cNvSpPr/>
          <p:nvPr/>
        </p:nvSpPr>
        <p:spPr>
          <a:xfrm>
            <a:off x="4663440" y="4251960"/>
            <a:ext cx="4023360" cy="457200"/>
          </a:xfrm>
          <a:prstGeom prst="rect">
            <a:avLst/>
          </a:prstGeom>
          <a:noFill/>
          <a:ln/>
        </p:spPr>
        <p:txBody>
          <a:bodyPr wrap="square" lIns="0" tIns="0" rIns="0" bIns="0" rtlCol="0" anchor="ctr"/>
          <a:lstStyle/>
          <a:p>
            <a:pPr indent="0" marL="0">
              <a:buNone/>
            </a:pPr>
            <a:r>
              <a:rPr lang="en-US" sz="1050" dirty="0">
                <a:solidFill>
                  <a:srgbClr val="667085"/>
                </a:solidFill>
                <a:latin typeface="Inter" pitchFamily="34" charset="0"/>
                <a:ea typeface="Inter" pitchFamily="34" charset="-122"/>
                <a:cs typeface="Inter" pitchFamily="34" charset="-120"/>
              </a:rPr>
              <a:t>Synthetic graphs from our generator; real data will score lower. The model can only add a reason to ask.</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Red-team: what an attacker gets</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11 / 15</a:t>
            </a:r>
            <a:endParaRPr lang="en-US" sz="900" dirty="0"/>
          </a:p>
        </p:txBody>
      </p:sp>
      <p:sp>
        <p:nvSpPr>
          <p:cNvPr id="8" name="Shape 5"/>
          <p:cNvSpPr/>
          <p:nvPr/>
        </p:nvSpPr>
        <p:spPr>
          <a:xfrm>
            <a:off x="457200" y="1188720"/>
            <a:ext cx="1920240" cy="1188720"/>
          </a:xfrm>
          <a:prstGeom prst="roundRect">
            <a:avLst>
              <a:gd name="adj" fmla="val 7692"/>
            </a:avLst>
          </a:prstGeom>
          <a:solidFill>
            <a:srgbClr val="F4F5F7"/>
          </a:solidFill>
          <a:ln w="12700">
            <a:solidFill>
              <a:srgbClr val="F4F5F7"/>
            </a:solidFill>
            <a:prstDash val="solid"/>
          </a:ln>
        </p:spPr>
      </p:sp>
      <p:sp>
        <p:nvSpPr>
          <p:cNvPr id="9" name="Text 6"/>
          <p:cNvSpPr/>
          <p:nvPr/>
        </p:nvSpPr>
        <p:spPr>
          <a:xfrm>
            <a:off x="594360" y="128016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48/48</a:t>
            </a:r>
            <a:endParaRPr lang="en-US" sz="2600" dirty="0"/>
          </a:p>
        </p:txBody>
      </p:sp>
      <p:sp>
        <p:nvSpPr>
          <p:cNvPr id="10" name="Text 7"/>
          <p:cNvSpPr/>
          <p:nvPr/>
        </p:nvSpPr>
        <p:spPr>
          <a:xfrm>
            <a:off x="594360" y="184708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static attacks stopped</a:t>
            </a:r>
            <a:endParaRPr lang="en-US" sz="1050" dirty="0"/>
          </a:p>
        </p:txBody>
      </p:sp>
      <p:sp>
        <p:nvSpPr>
          <p:cNvPr id="11" name="Shape 8"/>
          <p:cNvSpPr/>
          <p:nvPr/>
        </p:nvSpPr>
        <p:spPr>
          <a:xfrm>
            <a:off x="2560320" y="1188720"/>
            <a:ext cx="1920240" cy="1188720"/>
          </a:xfrm>
          <a:prstGeom prst="roundRect">
            <a:avLst>
              <a:gd name="adj" fmla="val 7692"/>
            </a:avLst>
          </a:prstGeom>
          <a:solidFill>
            <a:srgbClr val="F4F5F7"/>
          </a:solidFill>
          <a:ln w="12700">
            <a:solidFill>
              <a:srgbClr val="F4F5F7"/>
            </a:solidFill>
            <a:prstDash val="solid"/>
          </a:ln>
        </p:spPr>
      </p:sp>
      <p:sp>
        <p:nvSpPr>
          <p:cNvPr id="12" name="Text 9"/>
          <p:cNvSpPr/>
          <p:nvPr/>
        </p:nvSpPr>
        <p:spPr>
          <a:xfrm>
            <a:off x="2697480" y="128016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5/5</a:t>
            </a:r>
            <a:endParaRPr lang="en-US" sz="2600" dirty="0"/>
          </a:p>
        </p:txBody>
      </p:sp>
      <p:sp>
        <p:nvSpPr>
          <p:cNvPr id="13" name="Text 10"/>
          <p:cNvSpPr/>
          <p:nvPr/>
        </p:nvSpPr>
        <p:spPr>
          <a:xfrm>
            <a:off x="2697480" y="184708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memory-planting attacks stopped</a:t>
            </a:r>
            <a:endParaRPr lang="en-US" sz="1050" dirty="0"/>
          </a:p>
        </p:txBody>
      </p:sp>
      <p:sp>
        <p:nvSpPr>
          <p:cNvPr id="14" name="Shape 11"/>
          <p:cNvSpPr/>
          <p:nvPr/>
        </p:nvSpPr>
        <p:spPr>
          <a:xfrm>
            <a:off x="4663440" y="1188720"/>
            <a:ext cx="1920240" cy="1188720"/>
          </a:xfrm>
          <a:prstGeom prst="roundRect">
            <a:avLst>
              <a:gd name="adj" fmla="val 7692"/>
            </a:avLst>
          </a:prstGeom>
          <a:solidFill>
            <a:srgbClr val="F4F5F7"/>
          </a:solidFill>
          <a:ln w="12700">
            <a:solidFill>
              <a:srgbClr val="F4F5F7"/>
            </a:solidFill>
            <a:prstDash val="solid"/>
          </a:ln>
        </p:spPr>
      </p:sp>
      <p:sp>
        <p:nvSpPr>
          <p:cNvPr id="15" name="Text 12"/>
          <p:cNvSpPr/>
          <p:nvPr/>
        </p:nvSpPr>
        <p:spPr>
          <a:xfrm>
            <a:off x="4800600" y="128016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0/360</a:t>
            </a:r>
            <a:endParaRPr lang="en-US" sz="2600" dirty="0"/>
          </a:p>
        </p:txBody>
      </p:sp>
      <p:sp>
        <p:nvSpPr>
          <p:cNvPr id="16" name="Text 13"/>
          <p:cNvSpPr/>
          <p:nvPr/>
        </p:nvSpPr>
        <p:spPr>
          <a:xfrm>
            <a:off x="4800600" y="184708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adaptive attacker's tries outside the mandate</a:t>
            </a:r>
            <a:endParaRPr lang="en-US" sz="1050" dirty="0"/>
          </a:p>
        </p:txBody>
      </p:sp>
      <p:sp>
        <p:nvSpPr>
          <p:cNvPr id="17" name="Shape 14"/>
          <p:cNvSpPr/>
          <p:nvPr/>
        </p:nvSpPr>
        <p:spPr>
          <a:xfrm>
            <a:off x="6766560" y="1188720"/>
            <a:ext cx="1920240" cy="1188720"/>
          </a:xfrm>
          <a:prstGeom prst="roundRect">
            <a:avLst>
              <a:gd name="adj" fmla="val 7692"/>
            </a:avLst>
          </a:prstGeom>
          <a:solidFill>
            <a:srgbClr val="F4F5F7"/>
          </a:solidFill>
          <a:ln w="12700">
            <a:solidFill>
              <a:srgbClr val="F4F5F7"/>
            </a:solidFill>
            <a:prstDash val="solid"/>
          </a:ln>
        </p:spPr>
      </p:sp>
      <p:sp>
        <p:nvSpPr>
          <p:cNvPr id="18" name="Text 15"/>
          <p:cNvSpPr/>
          <p:nvPr/>
        </p:nvSpPr>
        <p:spPr>
          <a:xfrm>
            <a:off x="6903720" y="128016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20/21</a:t>
            </a:r>
            <a:endParaRPr lang="en-US" sz="2600" dirty="0"/>
          </a:p>
        </p:txBody>
      </p:sp>
      <p:sp>
        <p:nvSpPr>
          <p:cNvPr id="19" name="Text 16"/>
          <p:cNvSpPr/>
          <p:nvPr/>
        </p:nvSpPr>
        <p:spPr>
          <a:xfrm>
            <a:off x="6903720" y="184708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earlier prototype's suite, 1 bounded by the limit</a:t>
            </a:r>
            <a:endParaRPr lang="en-US" sz="1050" dirty="0"/>
          </a:p>
        </p:txBody>
      </p:sp>
      <p:sp>
        <p:nvSpPr>
          <p:cNvPr id="20" name="Text 17"/>
          <p:cNvSpPr/>
          <p:nvPr/>
        </p:nvSpPr>
        <p:spPr>
          <a:xfrm>
            <a:off x="457200" y="2697480"/>
            <a:ext cx="3657600" cy="365760"/>
          </a:xfrm>
          <a:prstGeom prst="rect">
            <a:avLst/>
          </a:prstGeom>
          <a:noFill/>
          <a:ln/>
        </p:spPr>
        <p:txBody>
          <a:bodyPr wrap="square" lIns="0" tIns="0" rIns="0" bIns="0" rtlCol="0" anchor="ctr"/>
          <a:lstStyle/>
          <a:p>
            <a:pPr indent="0" marL="0">
              <a:buNone/>
            </a:pPr>
            <a:r>
              <a:rPr lang="en-US" sz="1600" b="1" dirty="0">
                <a:solidFill>
                  <a:srgbClr val="101828"/>
                </a:solidFill>
                <a:latin typeface="Inter" pitchFamily="34" charset="0"/>
                <a:ea typeface="Inter" pitchFamily="34" charset="-122"/>
                <a:cs typeface="Inter" pitchFamily="34" charset="-120"/>
              </a:rPr>
              <a:t>Without the kernel</a:t>
            </a:r>
            <a:endParaRPr lang="en-US" sz="1600" dirty="0"/>
          </a:p>
        </p:txBody>
      </p:sp>
      <p:sp>
        <p:nvSpPr>
          <p:cNvPr id="21" name="Text 18"/>
          <p:cNvSpPr/>
          <p:nvPr/>
        </p:nvSpPr>
        <p:spPr>
          <a:xfrm>
            <a:off x="457200" y="3063240"/>
            <a:ext cx="4023360" cy="411480"/>
          </a:xfrm>
          <a:prstGeom prst="rect">
            <a:avLst/>
          </a:prstGeom>
          <a:noFill/>
          <a:ln/>
        </p:spPr>
        <p:txBody>
          <a:bodyPr wrap="square" lIns="0" tIns="0" rIns="0" bIns="0" rtlCol="0" anchor="ctr"/>
          <a:lstStyle/>
          <a:p>
            <a:pPr indent="0" marL="0">
              <a:buNone/>
            </a:pPr>
            <a:r>
              <a:rPr lang="en-US" sz="1800" b="1" dirty="0">
                <a:solidFill>
                  <a:srgbClr val="B42318"/>
                </a:solidFill>
                <a:latin typeface="Inter" pitchFamily="34" charset="0"/>
                <a:ea typeface="Inter" pitchFamily="34" charset="-122"/>
                <a:cs typeface="Inter" pitchFamily="34" charset="-120"/>
              </a:rPr>
              <a:t>48/48 succeeded · </a:t>
            </a:r>
            <a:pPr indent="0" marL="0">
              <a:buNone/>
            </a:pPr>
            <a:r>
              <a:rPr lang="en-US" sz="1800" b="1" dirty="0">
                <a:solidFill>
                  <a:srgbClr val="B42318"/>
                </a:solidFill>
                <a:latin typeface="Inter" pitchFamily="34" charset="0"/>
                <a:ea typeface="Inter" pitchFamily="34" charset="-122"/>
                <a:cs typeface="Inter" pitchFamily="34" charset="-120"/>
              </a:rPr>
              <a:t>$6,546.63 lost</a:t>
            </a:r>
            <a:endParaRPr lang="en-US" sz="1800" dirty="0"/>
          </a:p>
        </p:txBody>
      </p:sp>
      <p:sp>
        <p:nvSpPr>
          <p:cNvPr id="22" name="Text 19"/>
          <p:cNvSpPr/>
          <p:nvPr/>
        </p:nvSpPr>
        <p:spPr>
          <a:xfrm>
            <a:off x="457200" y="3611880"/>
            <a:ext cx="4023360" cy="822960"/>
          </a:xfrm>
          <a:prstGeom prst="rect">
            <a:avLst/>
          </a:prstGeom>
          <a:noFill/>
          <a:ln/>
        </p:spPr>
        <p:txBody>
          <a:bodyPr wrap="square" lIns="0" tIns="0" rIns="0" bIns="0" rtlCol="0" anchor="ctr"/>
          <a:lstStyle/>
          <a:p>
            <a:pPr indent="0" marL="0">
              <a:buNone/>
            </a:pPr>
            <a:r>
              <a:rPr lang="en-US" sz="1200" dirty="0">
                <a:solidFill>
                  <a:srgbClr val="667085"/>
                </a:solidFill>
                <a:latin typeface="Inter" pitchFamily="34" charset="0"/>
                <a:ea typeface="Inter" pitchFamily="34" charset="-122"/>
                <a:cs typeface="Inter" pitchFamily="34" charset="-120"/>
              </a:rPr>
              <a:t>Known risks are listed openly in the security report (K1 to K15): a compromised client device, a colluding analyst, synthetic training data, no SD-JWT yet.</a:t>
            </a:r>
            <a:endParaRPr lang="en-US" sz="1200" dirty="0"/>
          </a:p>
        </p:txBody>
      </p:sp>
      <p:graphicFrame>
        <p:nvGraphicFramePr>
          <p:cNvPr id="23" name="Chart 0" descr=""/>
          <p:cNvGraphicFramePr/>
          <p:nvPr/>
        </p:nvGraphicFramePr>
        <p:xfrm>
          <a:off x="4663440" y="2606040"/>
          <a:ext cx="4023360" cy="2011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100" b="1" dirty="0">
                <a:solidFill>
                  <a:srgbClr val="101828"/>
                </a:solidFill>
                <a:latin typeface="Inter" pitchFamily="34" charset="0"/>
                <a:ea typeface="Inter" pitchFamily="34" charset="-122"/>
                <a:cs typeface="Inter" pitchFamily="34" charset="-120"/>
              </a:rPr>
              <a:t>Compliance: the agent payment convention · VI / AP2</a:t>
            </a:r>
            <a:endParaRPr lang="en-US" sz="21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12 / 15</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120640" cy="914400"/>
        </p:xfrm>
        <a:graphic>
          <a:graphicData uri="http://schemas.openxmlformats.org/drawingml/2006/table">
            <a:tbl>
              <a:tblPr/>
              <a:tblGrid>
                <a:gridCol w="2011680"/>
                <a:gridCol w="3108960"/>
              </a:tblGrid>
              <a:tr h="329184">
                <a:tc>
                  <a:txBody>
                    <a:bodyPr/>
                    <a:lstStyle/>
                    <a:p>
                      <a:pPr indent="0" marL="0">
                        <a:buNone/>
                      </a:pPr>
                      <a:r>
                        <a:rPr lang="en-US" sz="1000" b="1" dirty="0">
                          <a:solidFill>
                            <a:srgbClr val="FFFFFF"/>
                          </a:solidFill>
                          <a:latin typeface="Inter" pitchFamily="34" charset="0"/>
                          <a:ea typeface="Inter" pitchFamily="34" charset="-122"/>
                          <a:cs typeface="Inter" pitchFamily="34" charset="-120"/>
                        </a:rPr>
                        <a:t>Convention requirement</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c>
                  <a:txBody>
                    <a:bodyPr/>
                    <a:lstStyle/>
                    <a:p>
                      <a:pPr indent="0" marL="0">
                        <a:buNone/>
                      </a:pPr>
                      <a:r>
                        <a:rPr lang="en-US" sz="1000" b="1" dirty="0">
                          <a:solidFill>
                            <a:srgbClr val="FFFFFF"/>
                          </a:solidFill>
                          <a:latin typeface="Inter" pitchFamily="34" charset="0"/>
                          <a:ea typeface="Inter" pitchFamily="34" charset="-122"/>
                          <a:cs typeface="Inter" pitchFamily="34" charset="-120"/>
                        </a:rPr>
                        <a:t>Guardian</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Three stages</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Stages 1 and 2 implemented, stage 3 not offered</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Who provides payment is responsible</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Bank module; only the bank's executor moves money</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Know your agent</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Agent passport checked at every step, in the journal</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Verify intent, clear authority</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Kernel-rendered card, device signature, critic</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Withdraw authorisation</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One press, child grants revoked too</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Immutable records</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Signed hash chain, append-only, anchored on chain</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Human fallback, emergency stop</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Analyst hold, kill switch, 24-hour reversible hold</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Elderly and minors</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Elevated protection, trusted person informed</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No inducement to spend</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No credit or upsell; offers in model text replaced</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806440" y="1097280"/>
          <a:ext cx="2926080" cy="914400"/>
        </p:xfrm>
        <a:graphic>
          <a:graphicData uri="http://schemas.openxmlformats.org/drawingml/2006/table">
            <a:tbl>
              <a:tblPr/>
              <a:tblGrid>
                <a:gridCol w="1143000"/>
                <a:gridCol w="1783080"/>
              </a:tblGrid>
              <a:tr h="329184">
                <a:tc>
                  <a:txBody>
                    <a:bodyPr/>
                    <a:lstStyle/>
                    <a:p>
                      <a:pPr indent="0" marL="0">
                        <a:buNone/>
                      </a:pPr>
                      <a:r>
                        <a:rPr lang="en-US" sz="1000" b="1" dirty="0">
                          <a:solidFill>
                            <a:srgbClr val="FFFFFF"/>
                          </a:solidFill>
                          <a:latin typeface="Inter" pitchFamily="34" charset="0"/>
                          <a:ea typeface="Inter" pitchFamily="34" charset="-122"/>
                          <a:cs typeface="Inter" pitchFamily="34" charset="-120"/>
                        </a:rPr>
                        <a:t>VI / AP2</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c>
                  <a:txBody>
                    <a:bodyPr/>
                    <a:lstStyle/>
                    <a:p>
                      <a:pPr indent="0" marL="0">
                        <a:buNone/>
                      </a:pPr>
                      <a:r>
                        <a:rPr lang="en-US" sz="1000" b="1" dirty="0">
                          <a:solidFill>
                            <a:srgbClr val="FFFFFF"/>
                          </a:solidFill>
                          <a:latin typeface="Inter" pitchFamily="34" charset="0"/>
                          <a:ea typeface="Inter" pitchFamily="34" charset="-122"/>
                          <a:cs typeface="Inter" pitchFamily="34" charset="-120"/>
                        </a:rPr>
                        <a:t>Guardian</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Intent mandate</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Standing permission with limits</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Cart / payment mandate</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One-time mandate per card</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Constraints</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payees, amount range, budget, recurrence, + origins, money source</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Delegation</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Child grants, rights only narrow</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1828"/>
                          </a:solidFill>
                          <a:latin typeface="Inter" pitchFamily="34" charset="0"/>
                          <a:ea typeface="Inter" pitchFamily="34" charset="-122"/>
                          <a:cs typeface="Inter" pitchFamily="34" charset="-120"/>
                        </a:rPr>
                        <a:t>Signatures</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indent="0" marL="0">
                        <a:buNone/>
                      </a:pPr>
                      <a:r>
                        <a:rPr lang="en-US" sz="1000" dirty="0">
                          <a:solidFill>
                            <a:srgbClr val="101828"/>
                          </a:solidFill>
                          <a:latin typeface="Inter" pitchFamily="34" charset="0"/>
                          <a:ea typeface="Inter" pitchFamily="34" charset="-122"/>
                          <a:cs typeface="Inter" pitchFamily="34" charset="-120"/>
                        </a:rPr>
                        <a:t>Device key + kernel countersignature</a:t>
                      </a:r>
                      <a:endParaRPr lang="en-US" sz="1000" dirty="0">
                        <a:latin typeface="Inter" charset="0"/>
                        <a:ea typeface="Inter" charset="0"/>
                        <a:cs typeface="Inter" charset="0"/>
                      </a:endParaRPr>
                    </a:p>
                  </a:txBody>
                  <a:tcPr marL="45720" marR="45720" marT="45720" marB="45720">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Cost: most of the work needs no large model</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13 / 15</a:t>
            </a:r>
            <a:endParaRPr lang="en-US" sz="900" dirty="0"/>
          </a:p>
        </p:txBody>
      </p:sp>
      <p:graphicFrame>
        <p:nvGraphicFramePr>
          <p:cNvPr id="8" name="Chart 0" descr=""/>
          <p:cNvGraphicFramePr/>
          <p:nvPr/>
        </p:nvGraphicFramePr>
        <p:xfrm>
          <a:off x="365760" y="105156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5760720" y="1097280"/>
            <a:ext cx="2926080" cy="1188720"/>
          </a:xfrm>
          <a:prstGeom prst="roundRect">
            <a:avLst>
              <a:gd name="adj" fmla="val 7692"/>
            </a:avLst>
          </a:prstGeom>
          <a:solidFill>
            <a:srgbClr val="F4F5F7"/>
          </a:solidFill>
          <a:ln w="12700">
            <a:solidFill>
              <a:srgbClr val="F4F5F7"/>
            </a:solidFill>
            <a:prstDash val="solid"/>
          </a:ln>
        </p:spPr>
      </p:sp>
      <p:sp>
        <p:nvSpPr>
          <p:cNvPr id="10" name="Text 6"/>
          <p:cNvSpPr/>
          <p:nvPr/>
        </p:nvSpPr>
        <p:spPr>
          <a:xfrm>
            <a:off x="5897880" y="1188720"/>
            <a:ext cx="2651760" cy="548640"/>
          </a:xfrm>
          <a:prstGeom prst="rect">
            <a:avLst/>
          </a:prstGeom>
          <a:noFill/>
          <a:ln/>
        </p:spPr>
        <p:txBody>
          <a:bodyPr wrap="square" lIns="0" tIns="0" rIns="0" bIns="0" rtlCol="0" anchor="ctr"/>
          <a:lstStyle/>
          <a:p>
            <a:pPr indent="0" marL="0">
              <a:buNone/>
            </a:pPr>
            <a:r>
              <a:rPr lang="en-US" sz="2000" b="1" dirty="0">
                <a:solidFill>
                  <a:srgbClr val="101828"/>
                </a:solidFill>
                <a:latin typeface="Inter" pitchFamily="34" charset="0"/>
                <a:ea typeface="Inter" pitchFamily="34" charset="-122"/>
                <a:cs typeface="Inter" pitchFamily="34" charset="-120"/>
              </a:rPr>
              <a:t>$0.0114 → $0.0043</a:t>
            </a:r>
            <a:endParaRPr lang="en-US" sz="2000" dirty="0"/>
          </a:p>
        </p:txBody>
      </p:sp>
      <p:sp>
        <p:nvSpPr>
          <p:cNvPr id="11" name="Text 7"/>
          <p:cNvSpPr/>
          <p:nvPr/>
        </p:nvSpPr>
        <p:spPr>
          <a:xfrm>
            <a:off x="5897880" y="1755648"/>
            <a:ext cx="265176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one client's month, 63% less in the second</a:t>
            </a:r>
            <a:endParaRPr lang="en-US" sz="1050" dirty="0"/>
          </a:p>
        </p:txBody>
      </p:sp>
      <p:sp>
        <p:nvSpPr>
          <p:cNvPr id="12" name="Shape 8"/>
          <p:cNvSpPr/>
          <p:nvPr/>
        </p:nvSpPr>
        <p:spPr>
          <a:xfrm>
            <a:off x="5760720" y="2423160"/>
            <a:ext cx="2926080" cy="1188720"/>
          </a:xfrm>
          <a:prstGeom prst="roundRect">
            <a:avLst>
              <a:gd name="adj" fmla="val 7692"/>
            </a:avLst>
          </a:prstGeom>
          <a:solidFill>
            <a:srgbClr val="F4F5F7"/>
          </a:solidFill>
          <a:ln w="12700">
            <a:solidFill>
              <a:srgbClr val="F4F5F7"/>
            </a:solidFill>
            <a:prstDash val="solid"/>
          </a:ln>
        </p:spPr>
      </p:sp>
      <p:sp>
        <p:nvSpPr>
          <p:cNvPr id="13" name="Text 9"/>
          <p:cNvSpPr/>
          <p:nvPr/>
        </p:nvSpPr>
        <p:spPr>
          <a:xfrm>
            <a:off x="5897880" y="2514600"/>
            <a:ext cx="265176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97.6%</a:t>
            </a:r>
            <a:endParaRPr lang="en-US" sz="2600" dirty="0"/>
          </a:p>
        </p:txBody>
      </p:sp>
      <p:sp>
        <p:nvSpPr>
          <p:cNvPr id="14" name="Text 10"/>
          <p:cNvSpPr/>
          <p:nvPr/>
        </p:nvSpPr>
        <p:spPr>
          <a:xfrm>
            <a:off x="5897880" y="3081528"/>
            <a:ext cx="265176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of work on levels 0 and 1 (rules, templates, small model)</a:t>
            </a:r>
            <a:endParaRPr lang="en-US" sz="1050" dirty="0"/>
          </a:p>
        </p:txBody>
      </p:sp>
      <p:sp>
        <p:nvSpPr>
          <p:cNvPr id="15" name="Shape 11"/>
          <p:cNvSpPr/>
          <p:nvPr/>
        </p:nvSpPr>
        <p:spPr>
          <a:xfrm>
            <a:off x="5760720" y="3749040"/>
            <a:ext cx="2926080" cy="1188720"/>
          </a:xfrm>
          <a:prstGeom prst="roundRect">
            <a:avLst>
              <a:gd name="adj" fmla="val 7692"/>
            </a:avLst>
          </a:prstGeom>
          <a:solidFill>
            <a:srgbClr val="F4F5F7"/>
          </a:solidFill>
          <a:ln w="12700">
            <a:solidFill>
              <a:srgbClr val="F4F5F7"/>
            </a:solidFill>
            <a:prstDash val="solid"/>
          </a:ln>
        </p:spPr>
      </p:sp>
      <p:sp>
        <p:nvSpPr>
          <p:cNvPr id="16" name="Text 12"/>
          <p:cNvSpPr/>
          <p:nvPr/>
        </p:nvSpPr>
        <p:spPr>
          <a:xfrm>
            <a:off x="5897880" y="3840480"/>
            <a:ext cx="265176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 $4,000</a:t>
            </a:r>
            <a:endParaRPr lang="en-US" sz="2600" dirty="0"/>
          </a:p>
        </p:txBody>
      </p:sp>
      <p:sp>
        <p:nvSpPr>
          <p:cNvPr id="17" name="Text 13"/>
          <p:cNvSpPr/>
          <p:nvPr/>
        </p:nvSpPr>
        <p:spPr>
          <a:xfrm>
            <a:off x="5897880" y="4407408"/>
            <a:ext cx="265176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a month for 1 million clients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100" b="1" dirty="0">
                <a:solidFill>
                  <a:srgbClr val="101828"/>
                </a:solidFill>
                <a:latin typeface="Inter" pitchFamily="34" charset="0"/>
                <a:ea typeface="Inter" pitchFamily="34" charset="-122"/>
                <a:cs typeface="Inter" pitchFamily="34" charset="-120"/>
              </a:rPr>
              <a:t>Pilot with a bank: who pays, how, what we measure</a:t>
            </a:r>
            <a:endParaRPr lang="en-US" sz="21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14 / 15</a:t>
            </a:r>
            <a:endParaRPr lang="en-US" sz="900" dirty="0"/>
          </a:p>
        </p:txBody>
      </p:sp>
      <p:sp>
        <p:nvSpPr>
          <p:cNvPr id="8" name="Shape 5"/>
          <p:cNvSpPr/>
          <p:nvPr/>
        </p:nvSpPr>
        <p:spPr>
          <a:xfrm>
            <a:off x="457200" y="1143000"/>
            <a:ext cx="2651760" cy="3429000"/>
          </a:xfrm>
          <a:prstGeom prst="roundRect">
            <a:avLst>
              <a:gd name="adj" fmla="val 4138"/>
            </a:avLst>
          </a:prstGeom>
          <a:solidFill>
            <a:srgbClr val="EEF4FF"/>
          </a:solidFill>
          <a:ln w="12700">
            <a:solidFill>
              <a:srgbClr val="EEF4FF"/>
            </a:solidFill>
            <a:prstDash val="solid"/>
          </a:ln>
        </p:spPr>
      </p:sp>
      <p:sp>
        <p:nvSpPr>
          <p:cNvPr id="9" name="Text 6"/>
          <p:cNvSpPr/>
          <p:nvPr/>
        </p:nvSpPr>
        <p:spPr>
          <a:xfrm>
            <a:off x="640080" y="1261872"/>
            <a:ext cx="2286000" cy="365760"/>
          </a:xfrm>
          <a:prstGeom prst="rect">
            <a:avLst/>
          </a:prstGeom>
          <a:noFill/>
          <a:ln/>
        </p:spPr>
        <p:txBody>
          <a:bodyPr wrap="square" lIns="0" tIns="0" rIns="0" bIns="0" rtlCol="0" anchor="ctr"/>
          <a:lstStyle/>
          <a:p>
            <a:pPr indent="0" marL="0">
              <a:buNone/>
            </a:pPr>
            <a:r>
              <a:rPr lang="en-US" sz="1600" b="1" dirty="0">
                <a:solidFill>
                  <a:srgbClr val="101828"/>
                </a:solidFill>
                <a:latin typeface="Inter" pitchFamily="34" charset="0"/>
                <a:ea typeface="Inter" pitchFamily="34" charset="-122"/>
                <a:cs typeface="Inter" pitchFamily="34" charset="-120"/>
              </a:rPr>
              <a:t>Who pays</a:t>
            </a:r>
            <a:endParaRPr lang="en-US" sz="1600" dirty="0"/>
          </a:p>
        </p:txBody>
      </p:sp>
      <p:sp>
        <p:nvSpPr>
          <p:cNvPr id="10" name="Text 7"/>
          <p:cNvSpPr/>
          <p:nvPr/>
        </p:nvSpPr>
        <p:spPr>
          <a:xfrm>
            <a:off x="640080" y="1691640"/>
            <a:ext cx="2331720" cy="278892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01828"/>
                </a:solidFill>
                <a:latin typeface="Inter" pitchFamily="34" charset="0"/>
                <a:ea typeface="Inter" pitchFamily="34" charset="-122"/>
                <a:cs typeface="Inter" pitchFamily="34" charset="-120"/>
              </a:rPr>
              <a:t>The bank: Guardian is the gate of its agent channel, a fee per active client a month</a:t>
            </a:r>
            <a:endParaRPr lang="en-US" sz="1150" dirty="0"/>
          </a:p>
          <a:p>
            <a:pPr marL="342900" indent="-342900">
              <a:spcAft>
                <a:spcPts val="700"/>
              </a:spcAft>
              <a:buSzPct val="100000"/>
              <a:buChar char="•"/>
            </a:pPr>
            <a:r>
              <a:rPr lang="en-US" sz="1150" dirty="0">
                <a:solidFill>
                  <a:srgbClr val="101828"/>
                </a:solidFill>
                <a:latin typeface="Inter" pitchFamily="34" charset="0"/>
                <a:ea typeface="Inter" pitchFamily="34" charset="-122"/>
                <a:cs typeface="Inter" pitchFamily="34" charset="-120"/>
              </a:rPr>
              <a:t>Fraud losses not paid out</a:t>
            </a:r>
            <a:endParaRPr lang="en-US" sz="1150" dirty="0"/>
          </a:p>
          <a:p>
            <a:pPr marL="342900" indent="-342900">
              <a:spcAft>
                <a:spcPts val="700"/>
              </a:spcAft>
              <a:buSzPct val="100000"/>
              <a:buChar char="•"/>
            </a:pPr>
            <a:r>
              <a:rPr lang="en-US" sz="1150" dirty="0">
                <a:solidFill>
                  <a:srgbClr val="101828"/>
                </a:solidFill>
                <a:latin typeface="Inter" pitchFamily="34" charset="0"/>
                <a:ea typeface="Inter" pitchFamily="34" charset="-122"/>
                <a:cs typeface="Inter" pitchFamily="34" charset="-120"/>
              </a:rPr>
              <a:t>Third party AI assistants admitted safely</a:t>
            </a:r>
            <a:endParaRPr lang="en-US" sz="1150" dirty="0"/>
          </a:p>
          <a:p>
            <a:pPr marL="342900" indent="-342900">
              <a:spcAft>
                <a:spcPts val="700"/>
              </a:spcAft>
              <a:buSzPct val="100000"/>
              <a:buChar char="•"/>
            </a:pPr>
            <a:r>
              <a:rPr lang="en-US" sz="1150" dirty="0">
                <a:solidFill>
                  <a:srgbClr val="101828"/>
                </a:solidFill>
                <a:latin typeface="Inter" pitchFamily="34" charset="0"/>
                <a:ea typeface="Inter" pitchFamily="34" charset="-122"/>
                <a:cs typeface="Inter" pitchFamily="34" charset="-120"/>
              </a:rPr>
              <a:t>Audit evidence for the regulator</a:t>
            </a:r>
            <a:endParaRPr lang="en-US" sz="1150" dirty="0"/>
          </a:p>
        </p:txBody>
      </p:sp>
      <p:sp>
        <p:nvSpPr>
          <p:cNvPr id="11" name="Shape 8"/>
          <p:cNvSpPr/>
          <p:nvPr/>
        </p:nvSpPr>
        <p:spPr>
          <a:xfrm>
            <a:off x="3291840" y="1143000"/>
            <a:ext cx="2651760" cy="3429000"/>
          </a:xfrm>
          <a:prstGeom prst="roundRect">
            <a:avLst>
              <a:gd name="adj" fmla="val 4138"/>
            </a:avLst>
          </a:prstGeom>
          <a:solidFill>
            <a:srgbClr val="F3F0FF"/>
          </a:solidFill>
          <a:ln w="12700">
            <a:solidFill>
              <a:srgbClr val="F3F0FF"/>
            </a:solidFill>
            <a:prstDash val="solid"/>
          </a:ln>
        </p:spPr>
      </p:sp>
      <p:sp>
        <p:nvSpPr>
          <p:cNvPr id="12" name="Text 9"/>
          <p:cNvSpPr/>
          <p:nvPr/>
        </p:nvSpPr>
        <p:spPr>
          <a:xfrm>
            <a:off x="3474720" y="1261872"/>
            <a:ext cx="2286000" cy="365760"/>
          </a:xfrm>
          <a:prstGeom prst="rect">
            <a:avLst/>
          </a:prstGeom>
          <a:noFill/>
          <a:ln/>
        </p:spPr>
        <p:txBody>
          <a:bodyPr wrap="square" lIns="0" tIns="0" rIns="0" bIns="0" rtlCol="0" anchor="ctr"/>
          <a:lstStyle/>
          <a:p>
            <a:pPr indent="0" marL="0">
              <a:buNone/>
            </a:pPr>
            <a:r>
              <a:rPr lang="en-US" sz="1600" b="1" dirty="0">
                <a:solidFill>
                  <a:srgbClr val="101828"/>
                </a:solidFill>
                <a:latin typeface="Inter" pitchFamily="34" charset="0"/>
                <a:ea typeface="Inter" pitchFamily="34" charset="-122"/>
                <a:cs typeface="Inter" pitchFamily="34" charset="-120"/>
              </a:rPr>
              <a:t>Stages</a:t>
            </a:r>
            <a:endParaRPr lang="en-US" sz="1600" dirty="0"/>
          </a:p>
        </p:txBody>
      </p:sp>
      <p:sp>
        <p:nvSpPr>
          <p:cNvPr id="13" name="Text 10"/>
          <p:cNvSpPr/>
          <p:nvPr/>
        </p:nvSpPr>
        <p:spPr>
          <a:xfrm>
            <a:off x="3474720" y="1691640"/>
            <a:ext cx="2331720" cy="2788920"/>
          </a:xfrm>
          <a:prstGeom prst="rect">
            <a:avLst/>
          </a:prstGeom>
          <a:noFill/>
          <a:ln/>
        </p:spPr>
        <p:txBody>
          <a:bodyPr wrap="square" lIns="0" tIns="0" rIns="0" bIns="0" rtlCol="0" anchor="t"/>
          <a:lstStyle/>
          <a:p>
            <a:pPr indent="0" marL="0">
              <a:spcAft>
                <a:spcPts val="700"/>
              </a:spcAft>
              <a:buNone/>
            </a:pPr>
            <a:r>
              <a:rPr lang="en-US" sz="1150" dirty="0">
                <a:solidFill>
                  <a:srgbClr val="101828"/>
                </a:solidFill>
                <a:latin typeface="Inter" pitchFamily="34" charset="0"/>
                <a:ea typeface="Inter" pitchFamily="34" charset="-122"/>
                <a:cs typeface="Inter" pitchFamily="34" charset="-120"/>
              </a:rPr>
              <a:t>1  Shadow, about 3 months: decide, do not act; compare with the fraud team</a:t>
            </a:r>
            <a:endParaRPr lang="en-US" sz="1150" dirty="0"/>
          </a:p>
          <a:p>
            <a:pPr indent="0" marL="0">
              <a:spcAft>
                <a:spcPts val="700"/>
              </a:spcAft>
              <a:buNone/>
            </a:pPr>
            <a:r>
              <a:rPr lang="en-US" sz="1150" dirty="0">
                <a:solidFill>
                  <a:srgbClr val="101828"/>
                </a:solidFill>
                <a:latin typeface="Inter" pitchFamily="34" charset="0"/>
                <a:ea typeface="Inter" pitchFamily="34" charset="-122"/>
                <a:cs typeface="Inter" pitchFamily="34" charset="-120"/>
              </a:rPr>
              <a:t>2  Employees: real money, small caps, device signatures</a:t>
            </a:r>
            <a:endParaRPr lang="en-US" sz="1150" dirty="0"/>
          </a:p>
          <a:p>
            <a:pPr indent="0" marL="0">
              <a:spcAft>
                <a:spcPts val="700"/>
              </a:spcAft>
              <a:buNone/>
            </a:pPr>
            <a:r>
              <a:rPr lang="en-US" sz="1150" dirty="0">
                <a:solidFill>
                  <a:srgbClr val="101828"/>
                </a:solidFill>
                <a:latin typeface="Inter" pitchFamily="34" charset="0"/>
                <a:ea typeface="Inter" pitchFamily="34" charset="-122"/>
                <a:cs typeface="Inter" pitchFamily="34" charset="-120"/>
              </a:rPr>
              <a:t>3  Volunteer clients: subscriptions and bills, then investing</a:t>
            </a:r>
            <a:endParaRPr lang="en-US" sz="1150" dirty="0"/>
          </a:p>
        </p:txBody>
      </p:sp>
      <p:sp>
        <p:nvSpPr>
          <p:cNvPr id="14" name="Shape 11"/>
          <p:cNvSpPr/>
          <p:nvPr/>
        </p:nvSpPr>
        <p:spPr>
          <a:xfrm>
            <a:off x="6126480" y="1143000"/>
            <a:ext cx="2651760" cy="3429000"/>
          </a:xfrm>
          <a:prstGeom prst="roundRect">
            <a:avLst>
              <a:gd name="adj" fmla="val 4138"/>
            </a:avLst>
          </a:prstGeom>
          <a:solidFill>
            <a:srgbClr val="E8F6F3"/>
          </a:solidFill>
          <a:ln w="12700">
            <a:solidFill>
              <a:srgbClr val="E8F6F3"/>
            </a:solidFill>
            <a:prstDash val="solid"/>
          </a:ln>
        </p:spPr>
      </p:sp>
      <p:sp>
        <p:nvSpPr>
          <p:cNvPr id="15" name="Text 12"/>
          <p:cNvSpPr/>
          <p:nvPr/>
        </p:nvSpPr>
        <p:spPr>
          <a:xfrm>
            <a:off x="6309360" y="1261872"/>
            <a:ext cx="2286000" cy="365760"/>
          </a:xfrm>
          <a:prstGeom prst="rect">
            <a:avLst/>
          </a:prstGeom>
          <a:noFill/>
          <a:ln/>
        </p:spPr>
        <p:txBody>
          <a:bodyPr wrap="square" lIns="0" tIns="0" rIns="0" bIns="0" rtlCol="0" anchor="ctr"/>
          <a:lstStyle/>
          <a:p>
            <a:pPr indent="0" marL="0">
              <a:buNone/>
            </a:pPr>
            <a:r>
              <a:rPr lang="en-US" sz="1600" b="1" dirty="0">
                <a:solidFill>
                  <a:srgbClr val="101828"/>
                </a:solidFill>
                <a:latin typeface="Inter" pitchFamily="34" charset="0"/>
                <a:ea typeface="Inter" pitchFamily="34" charset="-122"/>
                <a:cs typeface="Inter" pitchFamily="34" charset="-120"/>
              </a:rPr>
              <a:t>What we measure</a:t>
            </a:r>
            <a:endParaRPr lang="en-US" sz="1600" dirty="0"/>
          </a:p>
        </p:txBody>
      </p:sp>
      <p:sp>
        <p:nvSpPr>
          <p:cNvPr id="16" name="Text 13"/>
          <p:cNvSpPr/>
          <p:nvPr/>
        </p:nvSpPr>
        <p:spPr>
          <a:xfrm>
            <a:off x="6309360" y="1691640"/>
            <a:ext cx="2331720" cy="278892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01828"/>
                </a:solidFill>
                <a:latin typeface="Inter" pitchFamily="34" charset="0"/>
                <a:ea typeface="Inter" pitchFamily="34" charset="-122"/>
                <a:cs typeface="Inter" pitchFamily="34" charset="-120"/>
              </a:rPr>
              <a:t>Attacks stopped vs the fraud team</a:t>
            </a:r>
            <a:endParaRPr lang="en-US" sz="1150" dirty="0"/>
          </a:p>
          <a:p>
            <a:pPr marL="342900" indent="-342900">
              <a:spcAft>
                <a:spcPts val="700"/>
              </a:spcAft>
              <a:buSzPct val="100000"/>
              <a:buChar char="•"/>
            </a:pPr>
            <a:r>
              <a:rPr lang="en-US" sz="1150" dirty="0">
                <a:solidFill>
                  <a:srgbClr val="101828"/>
                </a:solidFill>
                <a:latin typeface="Inter" pitchFamily="34" charset="0"/>
                <a:ea typeface="Inter" pitchFamily="34" charset="-122"/>
                <a:cs typeface="Inter" pitchFamily="34" charset="-120"/>
              </a:rPr>
              <a:t>Cards that asked without need</a:t>
            </a:r>
            <a:endParaRPr lang="en-US" sz="1150" dirty="0"/>
          </a:p>
          <a:p>
            <a:pPr marL="342900" indent="-342900">
              <a:spcAft>
                <a:spcPts val="700"/>
              </a:spcAft>
              <a:buSzPct val="100000"/>
              <a:buChar char="•"/>
            </a:pPr>
            <a:r>
              <a:rPr lang="en-US" sz="1150" dirty="0">
                <a:solidFill>
                  <a:srgbClr val="101828"/>
                </a:solidFill>
                <a:latin typeface="Inter" pitchFamily="34" charset="0"/>
                <a:ea typeface="Inter" pitchFamily="34" charset="-122"/>
                <a:cs typeface="Inter" pitchFamily="34" charset="-120"/>
              </a:rPr>
              <a:t>Payments outside a mandate: 0</a:t>
            </a:r>
            <a:endParaRPr lang="en-US" sz="1150" dirty="0"/>
          </a:p>
          <a:p>
            <a:pPr marL="342900" indent="-342900">
              <a:spcAft>
                <a:spcPts val="700"/>
              </a:spcAft>
              <a:buSzPct val="100000"/>
              <a:buChar char="•"/>
            </a:pPr>
            <a:r>
              <a:rPr lang="en-US" sz="1150" dirty="0">
                <a:solidFill>
                  <a:srgbClr val="101828"/>
                </a:solidFill>
                <a:latin typeface="Inter" pitchFamily="34" charset="0"/>
                <a:ea typeface="Inter" pitchFamily="34" charset="-122"/>
                <a:cs typeface="Inter" pitchFamily="34" charset="-120"/>
              </a:rPr>
              <a:t>Token cost per client: $0.0043 a month</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548640"/>
          </a:xfrm>
          <a:prstGeom prst="rect">
            <a:avLst/>
          </a:prstGeom>
          <a:noFill/>
          <a:ln/>
        </p:spPr>
        <p:txBody>
          <a:bodyPr wrap="square" lIns="0" tIns="0" rIns="0" bIns="0" rtlCol="0" anchor="ctr"/>
          <a:lstStyle/>
          <a:p>
            <a:pPr indent="0" marL="0">
              <a:buNone/>
            </a:pPr>
            <a:r>
              <a:rPr lang="en-US" sz="2500" b="1" dirty="0">
                <a:solidFill>
                  <a:srgbClr val="101828"/>
                </a:solidFill>
                <a:latin typeface="Inter" pitchFamily="34" charset="0"/>
                <a:ea typeface="Inter" pitchFamily="34" charset="-122"/>
                <a:cs typeface="Inter" pitchFamily="34" charset="-120"/>
              </a:rPr>
              <a:t>Results and what comes next</a:t>
            </a:r>
            <a:endParaRPr lang="en-US" sz="2500" dirty="0"/>
          </a:p>
        </p:txBody>
      </p:sp>
      <p:sp>
        <p:nvSpPr>
          <p:cNvPr id="3" name="Shape 1"/>
          <p:cNvSpPr/>
          <p:nvPr/>
        </p:nvSpPr>
        <p:spPr>
          <a:xfrm>
            <a:off x="457200" y="4754880"/>
            <a:ext cx="210312" cy="210312"/>
          </a:xfrm>
          <a:prstGeom prst="roundRect">
            <a:avLst>
              <a:gd name="adj" fmla="val 22000"/>
            </a:avLst>
          </a:prstGeom>
          <a:solidFill>
            <a:srgbClr val="C2361F"/>
          </a:solidFill>
          <a:ln w="12700">
            <a:solidFill>
              <a:srgbClr val="C2361F"/>
            </a:solidFill>
            <a:prstDash val="solid"/>
          </a:ln>
        </p:spPr>
      </p:sp>
      <p:sp>
        <p:nvSpPr>
          <p:cNvPr id="4" name="Text 2"/>
          <p:cNvSpPr/>
          <p:nvPr/>
        </p:nvSpPr>
        <p:spPr>
          <a:xfrm>
            <a:off x="457200" y="4754880"/>
            <a:ext cx="210312" cy="210312"/>
          </a:xfrm>
          <a:prstGeom prst="rect">
            <a:avLst/>
          </a:prstGeom>
          <a:noFill/>
          <a:ln/>
        </p:spPr>
        <p:txBody>
          <a:bodyPr wrap="square" lIns="0" tIns="0" rIns="0" bIns="0" rtlCol="0" anchor="ctr"/>
          <a:lstStyle/>
          <a:p>
            <a:pPr algn="ctr" indent="0" marL="0">
              <a:buNone/>
            </a:pPr>
            <a:r>
              <a:rPr lang="en-US" sz="920" dirty="0">
                <a:solidFill>
                  <a:srgbClr val="FFFFFF"/>
                </a:solidFill>
                <a:latin typeface="Noto Sans CJK SC" pitchFamily="34" charset="0"/>
                <a:ea typeface="Noto Sans CJK SC" pitchFamily="34" charset="-122"/>
                <a:cs typeface="Noto Sans CJK SC" pitchFamily="34" charset="-120"/>
              </a:rPr>
              <a:t>守</a:t>
            </a:r>
            <a:endParaRPr lang="en-US" sz="920" dirty="0"/>
          </a:p>
        </p:txBody>
      </p:sp>
      <p:sp>
        <p:nvSpPr>
          <p:cNvPr id="5" name="Text 3"/>
          <p:cNvSpPr/>
          <p:nvPr/>
        </p:nvSpPr>
        <p:spPr>
          <a:xfrm>
            <a:off x="731520" y="4754880"/>
            <a:ext cx="1828800" cy="210312"/>
          </a:xfrm>
          <a:prstGeom prst="rect">
            <a:avLst/>
          </a:prstGeom>
          <a:noFill/>
          <a:ln/>
        </p:spPr>
        <p:txBody>
          <a:bodyPr wrap="square" lIns="0" tIns="0" rIns="0" bIns="0" rtlCol="0" anchor="ctr"/>
          <a:lstStyle/>
          <a:p>
            <a:pPr indent="0" marL="0">
              <a:buNone/>
            </a:pPr>
            <a:r>
              <a:rPr lang="en-US" sz="900" b="1" dirty="0">
                <a:solidFill>
                  <a:srgbClr val="101828"/>
                </a:solidFill>
                <a:latin typeface="Inter" pitchFamily="34" charset="0"/>
                <a:ea typeface="Inter" pitchFamily="34" charset="-122"/>
                <a:cs typeface="Inter" pitchFamily="34" charset="-120"/>
              </a:rPr>
              <a:t>Guardian</a:t>
            </a:r>
            <a:endParaRPr lang="en-US" sz="900" dirty="0"/>
          </a:p>
        </p:txBody>
      </p:sp>
      <p:sp>
        <p:nvSpPr>
          <p:cNvPr id="6" name="Text 4"/>
          <p:cNvSpPr/>
          <p:nvPr/>
        </p:nvSpPr>
        <p:spPr>
          <a:xfrm>
            <a:off x="6858000" y="4754880"/>
            <a:ext cx="1828800" cy="210312"/>
          </a:xfrm>
          <a:prstGeom prst="rect">
            <a:avLst/>
          </a:prstGeom>
          <a:noFill/>
          <a:ln/>
        </p:spPr>
        <p:txBody>
          <a:bodyPr wrap="square" lIns="0" tIns="0" rIns="0" bIns="0" rtlCol="0" anchor="ctr"/>
          <a:lstStyle/>
          <a:p>
            <a:pPr algn="r" indent="0" marL="0">
              <a:buNone/>
            </a:pPr>
            <a:r>
              <a:rPr lang="en-US" sz="900" dirty="0">
                <a:solidFill>
                  <a:srgbClr val="667085"/>
                </a:solidFill>
                <a:latin typeface="Inter" pitchFamily="34" charset="0"/>
                <a:ea typeface="Inter" pitchFamily="34" charset="-122"/>
                <a:cs typeface="Inter" pitchFamily="34" charset="-120"/>
              </a:rPr>
              <a:t>15 / 15</a:t>
            </a:r>
            <a:endParaRPr lang="en-US" sz="900" dirty="0"/>
          </a:p>
        </p:txBody>
      </p:sp>
      <p:sp>
        <p:nvSpPr>
          <p:cNvPr id="8" name="Shape 5"/>
          <p:cNvSpPr/>
          <p:nvPr/>
        </p:nvSpPr>
        <p:spPr>
          <a:xfrm>
            <a:off x="457200" y="1188720"/>
            <a:ext cx="1920240" cy="1188720"/>
          </a:xfrm>
          <a:prstGeom prst="roundRect">
            <a:avLst>
              <a:gd name="adj" fmla="val 7692"/>
            </a:avLst>
          </a:prstGeom>
          <a:solidFill>
            <a:srgbClr val="F4F5F7"/>
          </a:solidFill>
          <a:ln w="12700">
            <a:solidFill>
              <a:srgbClr val="F4F5F7"/>
            </a:solidFill>
            <a:prstDash val="solid"/>
          </a:ln>
        </p:spPr>
      </p:sp>
      <p:sp>
        <p:nvSpPr>
          <p:cNvPr id="9" name="Text 6"/>
          <p:cNvSpPr/>
          <p:nvPr/>
        </p:nvSpPr>
        <p:spPr>
          <a:xfrm>
            <a:off x="594360" y="128016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48/48</a:t>
            </a:r>
            <a:endParaRPr lang="en-US" sz="2600" dirty="0"/>
          </a:p>
        </p:txBody>
      </p:sp>
      <p:sp>
        <p:nvSpPr>
          <p:cNvPr id="10" name="Text 7"/>
          <p:cNvSpPr/>
          <p:nvPr/>
        </p:nvSpPr>
        <p:spPr>
          <a:xfrm>
            <a:off x="594360" y="184708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functional tasks, EN / RU / ZH; 44/48 live</a:t>
            </a:r>
            <a:endParaRPr lang="en-US" sz="1050" dirty="0"/>
          </a:p>
        </p:txBody>
      </p:sp>
      <p:sp>
        <p:nvSpPr>
          <p:cNvPr id="11" name="Shape 8"/>
          <p:cNvSpPr/>
          <p:nvPr/>
        </p:nvSpPr>
        <p:spPr>
          <a:xfrm>
            <a:off x="2560320" y="1188720"/>
            <a:ext cx="1920240" cy="1188720"/>
          </a:xfrm>
          <a:prstGeom prst="roundRect">
            <a:avLst>
              <a:gd name="adj" fmla="val 7692"/>
            </a:avLst>
          </a:prstGeom>
          <a:solidFill>
            <a:srgbClr val="F4F5F7"/>
          </a:solidFill>
          <a:ln w="12700">
            <a:solidFill>
              <a:srgbClr val="F4F5F7"/>
            </a:solidFill>
            <a:prstDash val="solid"/>
          </a:ln>
        </p:spPr>
      </p:sp>
      <p:sp>
        <p:nvSpPr>
          <p:cNvPr id="12" name="Text 9"/>
          <p:cNvSpPr/>
          <p:nvPr/>
        </p:nvSpPr>
        <p:spPr>
          <a:xfrm>
            <a:off x="2697480" y="128016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59/59</a:t>
            </a:r>
            <a:endParaRPr lang="en-US" sz="2600" dirty="0"/>
          </a:p>
        </p:txBody>
      </p:sp>
      <p:sp>
        <p:nvSpPr>
          <p:cNvPr id="13" name="Text 10"/>
          <p:cNvSpPr/>
          <p:nvPr/>
        </p:nvSpPr>
        <p:spPr>
          <a:xfrm>
            <a:off x="2697480" y="184708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attacks in the evaluation set stopped</a:t>
            </a:r>
            <a:endParaRPr lang="en-US" sz="1050" dirty="0"/>
          </a:p>
        </p:txBody>
      </p:sp>
      <p:sp>
        <p:nvSpPr>
          <p:cNvPr id="14" name="Shape 11"/>
          <p:cNvSpPr/>
          <p:nvPr/>
        </p:nvSpPr>
        <p:spPr>
          <a:xfrm>
            <a:off x="4663440" y="1188720"/>
            <a:ext cx="1920240" cy="1188720"/>
          </a:xfrm>
          <a:prstGeom prst="roundRect">
            <a:avLst>
              <a:gd name="adj" fmla="val 7692"/>
            </a:avLst>
          </a:prstGeom>
          <a:solidFill>
            <a:srgbClr val="F4F5F7"/>
          </a:solidFill>
          <a:ln w="12700">
            <a:solidFill>
              <a:srgbClr val="F4F5F7"/>
            </a:solidFill>
            <a:prstDash val="solid"/>
          </a:ln>
        </p:spPr>
      </p:sp>
      <p:sp>
        <p:nvSpPr>
          <p:cNvPr id="15" name="Text 12"/>
          <p:cNvSpPr/>
          <p:nvPr/>
        </p:nvSpPr>
        <p:spPr>
          <a:xfrm>
            <a:off x="4800600" y="128016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437</a:t>
            </a:r>
            <a:endParaRPr lang="en-US" sz="2600" dirty="0"/>
          </a:p>
        </p:txBody>
      </p:sp>
      <p:sp>
        <p:nvSpPr>
          <p:cNvPr id="16" name="Text 13"/>
          <p:cNvSpPr/>
          <p:nvPr/>
        </p:nvSpPr>
        <p:spPr>
          <a:xfrm>
            <a:off x="4800600" y="184708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signed journal entries in the demo, chain verified</a:t>
            </a:r>
            <a:endParaRPr lang="en-US" sz="1050" dirty="0"/>
          </a:p>
        </p:txBody>
      </p:sp>
      <p:sp>
        <p:nvSpPr>
          <p:cNvPr id="17" name="Shape 14"/>
          <p:cNvSpPr/>
          <p:nvPr/>
        </p:nvSpPr>
        <p:spPr>
          <a:xfrm>
            <a:off x="6766560" y="1188720"/>
            <a:ext cx="1920240" cy="1188720"/>
          </a:xfrm>
          <a:prstGeom prst="roundRect">
            <a:avLst>
              <a:gd name="adj" fmla="val 7692"/>
            </a:avLst>
          </a:prstGeom>
          <a:solidFill>
            <a:srgbClr val="F4F5F7"/>
          </a:solidFill>
          <a:ln w="12700">
            <a:solidFill>
              <a:srgbClr val="F4F5F7"/>
            </a:solidFill>
            <a:prstDash val="solid"/>
          </a:ln>
        </p:spPr>
      </p:sp>
      <p:sp>
        <p:nvSpPr>
          <p:cNvPr id="18" name="Text 15"/>
          <p:cNvSpPr/>
          <p:nvPr/>
        </p:nvSpPr>
        <p:spPr>
          <a:xfrm>
            <a:off x="6903720" y="1280160"/>
            <a:ext cx="1645920" cy="548640"/>
          </a:xfrm>
          <a:prstGeom prst="rect">
            <a:avLst/>
          </a:prstGeom>
          <a:noFill/>
          <a:ln/>
        </p:spPr>
        <p:txBody>
          <a:bodyPr wrap="square" lIns="0" tIns="0" rIns="0" bIns="0" rtlCol="0" anchor="ctr"/>
          <a:lstStyle/>
          <a:p>
            <a:pPr indent="0" marL="0">
              <a:buNone/>
            </a:pPr>
            <a:r>
              <a:rPr lang="en-US" sz="2600" b="1" dirty="0">
                <a:solidFill>
                  <a:srgbClr val="101828"/>
                </a:solidFill>
                <a:latin typeface="Inter" pitchFamily="34" charset="0"/>
                <a:ea typeface="Inter" pitchFamily="34" charset="-122"/>
                <a:cs typeface="Inter" pitchFamily="34" charset="-120"/>
              </a:rPr>
              <a:t>0 keys</a:t>
            </a:r>
            <a:endParaRPr lang="en-US" sz="2600" dirty="0"/>
          </a:p>
        </p:txBody>
      </p:sp>
      <p:sp>
        <p:nvSpPr>
          <p:cNvPr id="19" name="Text 16"/>
          <p:cNvSpPr/>
          <p:nvPr/>
        </p:nvSpPr>
        <p:spPr>
          <a:xfrm>
            <a:off x="6903720" y="1847088"/>
            <a:ext cx="1645920" cy="457200"/>
          </a:xfrm>
          <a:prstGeom prst="rect">
            <a:avLst/>
          </a:prstGeom>
          <a:noFill/>
          <a:ln/>
        </p:spPr>
        <p:txBody>
          <a:bodyPr wrap="square" lIns="0" tIns="0" rIns="0" bIns="0" rtlCol="0" anchor="t"/>
          <a:lstStyle/>
          <a:p>
            <a:pPr indent="0" marL="0">
              <a:buNone/>
            </a:pPr>
            <a:r>
              <a:rPr lang="en-US" sz="1050" dirty="0">
                <a:solidFill>
                  <a:srgbClr val="667085"/>
                </a:solidFill>
                <a:latin typeface="Inter" pitchFamily="34" charset="0"/>
                <a:ea typeface="Inter" pitchFamily="34" charset="-122"/>
                <a:cs typeface="Inter" pitchFamily="34" charset="-120"/>
              </a:rPr>
              <a:t>needed to reproduce: replay mode, make test</a:t>
            </a:r>
            <a:endParaRPr lang="en-US" sz="1050" dirty="0"/>
          </a:p>
        </p:txBody>
      </p:sp>
      <p:sp>
        <p:nvSpPr>
          <p:cNvPr id="20" name="Text 17"/>
          <p:cNvSpPr/>
          <p:nvPr/>
        </p:nvSpPr>
        <p:spPr>
          <a:xfrm>
            <a:off x="457200" y="2697480"/>
            <a:ext cx="3657600" cy="365760"/>
          </a:xfrm>
          <a:prstGeom prst="rect">
            <a:avLst/>
          </a:prstGeom>
          <a:noFill/>
          <a:ln/>
        </p:spPr>
        <p:txBody>
          <a:bodyPr wrap="square" lIns="0" tIns="0" rIns="0" bIns="0" rtlCol="0" anchor="ctr"/>
          <a:lstStyle/>
          <a:p>
            <a:pPr indent="0" marL="0">
              <a:buNone/>
            </a:pPr>
            <a:r>
              <a:rPr lang="en-US" sz="1700" b="1" dirty="0">
                <a:solidFill>
                  <a:srgbClr val="1D4ED8"/>
                </a:solidFill>
                <a:latin typeface="Inter" pitchFamily="34" charset="0"/>
                <a:ea typeface="Inter" pitchFamily="34" charset="-122"/>
                <a:cs typeface="Inter" pitchFamily="34" charset="-120"/>
              </a:rPr>
              <a:t>Next</a:t>
            </a:r>
            <a:endParaRPr lang="en-US" sz="1700" dirty="0"/>
          </a:p>
        </p:txBody>
      </p:sp>
      <p:sp>
        <p:nvSpPr>
          <p:cNvPr id="21" name="Text 18"/>
          <p:cNvSpPr/>
          <p:nvPr/>
        </p:nvSpPr>
        <p:spPr>
          <a:xfrm>
            <a:off x="457200" y="3063240"/>
            <a:ext cx="512064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01828"/>
                </a:solidFill>
                <a:latin typeface="Inter" pitchFamily="34" charset="0"/>
                <a:ea typeface="Inter" pitchFamily="34" charset="-122"/>
                <a:cs typeface="Inter" pitchFamily="34" charset="-120"/>
              </a:rPr>
              <a:t>Pilot with a bank: shadow mode next to its fraud team first</a:t>
            </a:r>
            <a:endParaRPr lang="en-US" sz="1300" dirty="0"/>
          </a:p>
          <a:p>
            <a:pPr marL="342900" indent="-342900">
              <a:spcAft>
                <a:spcPts val="400"/>
              </a:spcAft>
              <a:buSzPct val="100000"/>
              <a:buChar char="•"/>
            </a:pPr>
            <a:r>
              <a:rPr lang="en-US" sz="1300" dirty="0">
                <a:solidFill>
                  <a:srgbClr val="101828"/>
                </a:solidFill>
                <a:latin typeface="Inter" pitchFamily="34" charset="0"/>
                <a:ea typeface="Inter" pitchFamily="34" charset="-122"/>
                <a:cs typeface="Inter" pitchFamily="34" charset="-120"/>
              </a:rPr>
              <a:t>Journal anchoring on a public test network</a:t>
            </a:r>
            <a:endParaRPr lang="en-US" sz="1300" dirty="0"/>
          </a:p>
          <a:p>
            <a:pPr marL="342900" indent="-342900">
              <a:spcAft>
                <a:spcPts val="400"/>
              </a:spcAft>
              <a:buSzPct val="100000"/>
              <a:buChar char="•"/>
            </a:pPr>
            <a:r>
              <a:rPr lang="en-US" sz="1300" dirty="0">
                <a:solidFill>
                  <a:srgbClr val="101828"/>
                </a:solidFill>
                <a:latin typeface="Inter" pitchFamily="34" charset="0"/>
                <a:ea typeface="Inter" pitchFamily="34" charset="-122"/>
                <a:cs typeface="Inter" pitchFamily="34" charset="-120"/>
              </a:rPr>
              <a:t>Payee model trained and checked on real bank graphs</a:t>
            </a:r>
            <a:endParaRPr lang="en-US" sz="1300" dirty="0"/>
          </a:p>
          <a:p>
            <a:pPr marL="342900" indent="-342900">
              <a:spcAft>
                <a:spcPts val="400"/>
              </a:spcAft>
              <a:buSzPct val="100000"/>
              <a:buChar char="•"/>
            </a:pPr>
            <a:r>
              <a:rPr lang="en-US" sz="1300" dirty="0">
                <a:solidFill>
                  <a:srgbClr val="101828"/>
                </a:solidFill>
                <a:latin typeface="Inter" pitchFamily="34" charset="0"/>
                <a:ea typeface="Inter" pitchFamily="34" charset="-122"/>
                <a:cs typeface="Inter" pitchFamily="34" charset="-120"/>
              </a:rPr>
              <a:t>SD-JWT selective disclosure for mandates</a:t>
            </a:r>
            <a:endParaRPr lang="en-US" sz="1300" dirty="0"/>
          </a:p>
        </p:txBody>
      </p:sp>
      <p:sp>
        <p:nvSpPr>
          <p:cNvPr id="22" name="Shape 19"/>
          <p:cNvSpPr/>
          <p:nvPr/>
        </p:nvSpPr>
        <p:spPr>
          <a:xfrm>
            <a:off x="5852160" y="2743200"/>
            <a:ext cx="2834640" cy="1737360"/>
          </a:xfrm>
          <a:prstGeom prst="roundRect">
            <a:avLst>
              <a:gd name="adj" fmla="val 6316"/>
            </a:avLst>
          </a:prstGeom>
          <a:solidFill>
            <a:srgbClr val="101828"/>
          </a:solidFill>
          <a:ln w="12700">
            <a:solidFill>
              <a:srgbClr val="101828"/>
            </a:solidFill>
            <a:prstDash val="solid"/>
          </a:ln>
        </p:spPr>
      </p:sp>
      <p:sp>
        <p:nvSpPr>
          <p:cNvPr id="23" name="Text 20"/>
          <p:cNvSpPr/>
          <p:nvPr/>
        </p:nvSpPr>
        <p:spPr>
          <a:xfrm>
            <a:off x="5989320" y="2834640"/>
            <a:ext cx="2560320" cy="155448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Agents propose.</a:t>
            </a:r>
            <a:endParaRPr lang="en-US" sz="1600" dirty="0"/>
          </a:p>
          <a:p>
            <a:pPr indent="0" marL="0">
              <a:buNone/>
            </a:pPr>
            <a:r>
              <a:rPr lang="en-US" sz="1600" b="1" dirty="0">
                <a:solidFill>
                  <a:srgbClr val="FFFFFF"/>
                </a:solidFill>
                <a:latin typeface="Inter" pitchFamily="34" charset="0"/>
                <a:ea typeface="Inter" pitchFamily="34" charset="-122"/>
                <a:cs typeface="Inter" pitchFamily="34" charset="-120"/>
              </a:rPr>
              <a:t>The kernel decides, checks and records.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Guardian: a bank-side safety kernel for AI payment agents</dc:title>
  <dc:subject>PptxGenJS Presentation</dc:subject>
  <dc:creator>PptxGenJS</dc:creator>
  <cp:lastModifiedBy>PptxGenJS</cp:lastModifiedBy>
  <cp:revision>1</cp:revision>
  <dcterms:created xsi:type="dcterms:W3CDTF">2026-10-19T23:51:03Z</dcterms:created>
  <dcterms:modified xsi:type="dcterms:W3CDTF">2026-10-19T23:51:03Z</dcterms:modified>
</cp:coreProperties>
</file>