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712"/>
                </a:solidFill>
                <a:latin typeface="Arial"/>
              </a:defRPr>
            </a:pPr>
            <a:r>
              <a:rPr sz="1200" b="0" i="0" u="none" strike="noStrike">
                <a:solidFill>
                  <a:srgbClr val="1B1712"/>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B171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712"/>
                </a:solidFill>
                <a:latin typeface="Arial"/>
              </a:defRPr>
            </a:pPr>
            <a:r>
              <a:rPr sz="1200" b="0" i="0" u="none" strike="noStrike">
                <a:solidFill>
                  <a:srgbClr val="1B1712"/>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B9AD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B832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548 ₽ a month, did 10 things, asked 11 times and stopped 2. The whole run is in the evidence folder: 292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96.7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7"/>
        </a:solidFill>
      </p:bgPr>
    </p:bg>
    <p:spTree>
      <p:nvGrpSpPr>
        <p:cNvPr id="1" name=""/>
        <p:cNvGrpSpPr/>
        <p:nvPr/>
      </p:nvGrpSpPr>
      <p:grpSpPr>
        <a:xfrm>
          <a:off x="0" y="0"/>
          <a:ext cx="0" cy="0"/>
          <a:chOff x="0" y="0"/>
          <a:chExt cx="0" cy="0"/>
        </a:xfrm>
      </p:grpSpPr>
      <p:sp>
        <p:nvSpPr>
          <p:cNvPr id="3" name="Shape 0"/>
          <p:cNvSpPr/>
          <p:nvPr/>
        </p:nvSpPr>
        <p:spPr>
          <a:xfrm>
            <a:off x="0" y="0"/>
            <a:ext cx="9144000" cy="109728"/>
          </a:xfrm>
          <a:prstGeom prst="rect">
            <a:avLst/>
          </a:prstGeom>
          <a:solidFill>
            <a:srgbClr val="1B1712"/>
          </a:solidFill>
          <a:ln w="12700">
            <a:solidFill>
              <a:srgbClr val="1B1712"/>
            </a:solidFill>
            <a:prstDash val="solid"/>
          </a:ln>
        </p:spPr>
      </p:sp>
      <p:sp>
        <p:nvSpPr>
          <p:cNvPr id="4" name="Shape 1"/>
          <p:cNvSpPr/>
          <p:nvPr/>
        </p:nvSpPr>
        <p:spPr>
          <a:xfrm>
            <a:off x="640080" y="960120"/>
            <a:ext cx="1051560" cy="1051560"/>
          </a:xfrm>
          <a:prstGeom prst="rect">
            <a:avLst/>
          </a:prstGeom>
          <a:solidFill>
            <a:srgbClr val="B8321C"/>
          </a:solidFill>
          <a:ln w="12700">
            <a:solidFill>
              <a:srgbClr val="B8321C"/>
            </a:solidFill>
            <a:prstDash val="solid"/>
          </a:ln>
        </p:spPr>
      </p:sp>
      <p:sp>
        <p:nvSpPr>
          <p:cNvPr id="5" name="Shape 2"/>
          <p:cNvSpPr/>
          <p:nvPr/>
        </p:nvSpPr>
        <p:spPr>
          <a:xfrm>
            <a:off x="734720" y="1054760"/>
            <a:ext cx="862279" cy="862279"/>
          </a:xfrm>
          <a:prstGeom prst="rect">
            <a:avLst/>
          </a:prstGeom>
          <a:ln w="29210">
            <a:solidFill>
              <a:srgbClr val="FFF8EE"/>
            </a:solidFill>
            <a:prstDash val="solid"/>
          </a:ln>
        </p:spPr>
      </p:sp>
      <p:sp>
        <p:nvSpPr>
          <p:cNvPr id="6" name="Text 3"/>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5060" b="1" dirty="0">
                <a:solidFill>
                  <a:srgbClr val="FFF8EE"/>
                </a:solidFill>
                <a:latin typeface="SimSun" pitchFamily="34" charset="0"/>
                <a:ea typeface="SimSun" pitchFamily="34" charset="-122"/>
                <a:cs typeface="SimSun" pitchFamily="34" charset="-120"/>
              </a:rPr>
              <a:t>守</a:t>
            </a:r>
            <a:endParaRPr lang="en-US" sz="5060" dirty="0"/>
          </a:p>
        </p:txBody>
      </p:sp>
      <p:sp>
        <p:nvSpPr>
          <p:cNvPr id="7" name="Text 4"/>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B1712"/>
                </a:solidFill>
                <a:latin typeface="Georgia" pitchFamily="34" charset="0"/>
                <a:ea typeface="Georgia" pitchFamily="34" charset="-122"/>
                <a:cs typeface="Georgia" pitchFamily="34" charset="-120"/>
              </a:rPr>
              <a:t>Guardian</a:t>
            </a:r>
            <a:endParaRPr lang="en-US" sz="5800" dirty="0"/>
          </a:p>
        </p:txBody>
      </p:sp>
      <p:sp>
        <p:nvSpPr>
          <p:cNvPr id="8" name="Shape 5"/>
          <p:cNvSpPr/>
          <p:nvPr/>
        </p:nvSpPr>
        <p:spPr>
          <a:xfrm>
            <a:off x="640080" y="3154680"/>
            <a:ext cx="4754880" cy="0"/>
          </a:xfrm>
          <a:prstGeom prst="line">
            <a:avLst/>
          </a:prstGeom>
          <a:noFill/>
          <a:ln w="19050">
            <a:solidFill>
              <a:srgbClr val="1B1712"/>
            </a:solidFill>
            <a:prstDash val="solid"/>
          </a:ln>
        </p:spPr>
      </p:sp>
      <p:sp>
        <p:nvSpPr>
          <p:cNvPr id="9" name="Text 6"/>
          <p:cNvSpPr/>
          <p:nvPr/>
        </p:nvSpPr>
        <p:spPr>
          <a:xfrm>
            <a:off x="640080" y="3291840"/>
            <a:ext cx="7863840" cy="457200"/>
          </a:xfrm>
          <a:prstGeom prst="rect">
            <a:avLst/>
          </a:prstGeom>
          <a:noFill/>
          <a:ln/>
        </p:spPr>
        <p:txBody>
          <a:bodyPr wrap="square" lIns="0" tIns="0" rIns="0" bIns="0" rtlCol="0" anchor="ctr"/>
          <a:lstStyle/>
          <a:p>
            <a:pPr indent="0" marL="0">
              <a:buNone/>
            </a:pPr>
            <a:r>
              <a:rPr lang="en-US" sz="2200" i="1" dirty="0">
                <a:solidFill>
                  <a:srgbClr val="1B1712"/>
                </a:solidFill>
                <a:latin typeface="Georgia" pitchFamily="34" charset="0"/>
                <a:ea typeface="Georgia" pitchFamily="34" charset="-122"/>
                <a:cs typeface="Georgia" pitchFamily="34" charset="-120"/>
              </a:rPr>
              <a:t>A bank-side safety kernel for AI payment agents</a:t>
            </a:r>
            <a:endParaRPr lang="en-US" sz="2200" dirty="0"/>
          </a:p>
        </p:txBody>
      </p:sp>
      <p:sp>
        <p:nvSpPr>
          <p:cNvPr id="10" name="Text 7"/>
          <p:cNvSpPr/>
          <p:nvPr/>
        </p:nvSpPr>
        <p:spPr>
          <a:xfrm>
            <a:off x="640080" y="3749040"/>
            <a:ext cx="7863840" cy="365760"/>
          </a:xfrm>
          <a:prstGeom prst="rect">
            <a:avLst/>
          </a:prstGeom>
          <a:noFill/>
          <a:ln/>
        </p:spPr>
        <p:txBody>
          <a:bodyPr wrap="square" lIns="0" tIns="0" rIns="0" bIns="0" rtlCol="0" anchor="ctr"/>
          <a:lstStyle/>
          <a:p>
            <a:pPr indent="0" marL="0">
              <a:buNone/>
            </a:pPr>
            <a:r>
              <a:rPr lang="en-US" sz="1500" dirty="0">
                <a:solidFill>
                  <a:srgbClr val="6F675B"/>
                </a:solidFill>
                <a:latin typeface="Calibri" pitchFamily="34" charset="0"/>
                <a:ea typeface="Calibri" pitchFamily="34" charset="-122"/>
                <a:cs typeface="Calibri" pitchFamily="34" charset="-120"/>
              </a:rPr>
              <a:t>Agents propose. The kernel decides, checks and records.</a:t>
            </a:r>
            <a:endParaRPr lang="en-US" sz="1500" dirty="0"/>
          </a:p>
        </p:txBody>
      </p:sp>
      <p:sp>
        <p:nvSpPr>
          <p:cNvPr id="11" name="Text 8"/>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spc="200" kern="0" dirty="0">
                <a:solidFill>
                  <a:srgbClr val="B8321C"/>
                </a:solidFill>
                <a:latin typeface="Calibri" pitchFamily="34" charset="0"/>
                <a:ea typeface="Calibri" pitchFamily="34" charset="-122"/>
                <a:cs typeface="Calibri" pitchFamily="34" charset="-120"/>
              </a:rPr>
              <a:t>KSENIIA KUZMINA  ·  NIKITA STEPANOV</a:t>
            </a:r>
            <a:endParaRPr lang="en-US" sz="1200" dirty="0"/>
          </a:p>
        </p:txBody>
      </p:sp>
      <p:sp>
        <p:nvSpPr>
          <p:cNvPr id="12" name="Text 9"/>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F675B"/>
                </a:solidFill>
                <a:latin typeface="Calibri" pitchFamily="34" charset="0"/>
                <a:ea typeface="Calibri" pitchFamily="34" charset="-122"/>
                <a:cs typeface="Calibri"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02</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200" b="1" dirty="0">
                <a:solidFill>
                  <a:srgbClr val="1B1712"/>
                </a:solidFill>
                <a:latin typeface="Georgia" pitchFamily="34" charset="0"/>
                <a:ea typeface="Georgia" pitchFamily="34" charset="-122"/>
                <a:cs typeface="Georgia" pitchFamily="34" charset="-120"/>
              </a:rPr>
              <a:t>Letting an AI agent touch money is a new attack surface</a:t>
            </a:r>
            <a:endParaRPr lang="en-US" sz="22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2 of 12</a:t>
            </a:r>
            <a:endParaRPr lang="en-US" sz="900" dirty="0"/>
          </a:p>
        </p:txBody>
      </p:sp>
      <p:sp>
        <p:nvSpPr>
          <p:cNvPr id="10" name="Text 7"/>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B8321C"/>
                </a:solidFill>
                <a:latin typeface="Georgia" pitchFamily="34" charset="0"/>
                <a:ea typeface="Georgia" pitchFamily="34" charset="-122"/>
                <a:cs typeface="Georgia" pitchFamily="34" charset="-120"/>
              </a:rPr>
              <a:t>01</a:t>
            </a:r>
            <a:endParaRPr lang="en-US" sz="2600" dirty="0"/>
          </a:p>
        </p:txBody>
      </p:sp>
      <p:sp>
        <p:nvSpPr>
          <p:cNvPr id="11" name="Text 8"/>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B1712"/>
                </a:solidFill>
                <a:latin typeface="Georgia" pitchFamily="34" charset="0"/>
                <a:ea typeface="Georgia" pitchFamily="34" charset="-122"/>
                <a:cs typeface="Georgia" pitchFamily="34" charset="-120"/>
              </a:rPr>
              <a:t>Intent</a:t>
            </a:r>
            <a:endParaRPr lang="en-US" sz="1800" dirty="0"/>
          </a:p>
        </p:txBody>
      </p:sp>
      <p:sp>
        <p:nvSpPr>
          <p:cNvPr id="12" name="Text 9"/>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F675B"/>
                </a:solidFill>
                <a:latin typeface="Calibri" pitchFamily="34" charset="0"/>
                <a:ea typeface="Calibri" pitchFamily="34" charset="-122"/>
                <a:cs typeface="Calibri" pitchFamily="34" charset="-120"/>
              </a:rPr>
              <a:t>A model can pick the wrong payee or amount. The client cannot prove what they approved.</a:t>
            </a:r>
            <a:endParaRPr lang="en-US" sz="1300" dirty="0"/>
          </a:p>
        </p:txBody>
      </p:sp>
      <p:sp>
        <p:nvSpPr>
          <p:cNvPr id="13" name="Text 10"/>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B8321C"/>
                </a:solidFill>
                <a:latin typeface="Georgia" pitchFamily="34" charset="0"/>
                <a:ea typeface="Georgia" pitchFamily="34" charset="-122"/>
                <a:cs typeface="Georgia" pitchFamily="34" charset="-120"/>
              </a:rPr>
              <a:t>02</a:t>
            </a:r>
            <a:endParaRPr lang="en-US" sz="2600" dirty="0"/>
          </a:p>
        </p:txBody>
      </p:sp>
      <p:sp>
        <p:nvSpPr>
          <p:cNvPr id="14" name="Text 11"/>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B1712"/>
                </a:solidFill>
                <a:latin typeface="Georgia" pitchFamily="34" charset="0"/>
                <a:ea typeface="Georgia" pitchFamily="34" charset="-122"/>
                <a:cs typeface="Georgia" pitchFamily="34" charset="-120"/>
              </a:rPr>
              <a:t>Manipulation</a:t>
            </a:r>
            <a:endParaRPr lang="en-US" sz="1800" dirty="0"/>
          </a:p>
        </p:txBody>
      </p:sp>
      <p:sp>
        <p:nvSpPr>
          <p:cNvPr id="15" name="Text 12"/>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F675B"/>
                </a:solidFill>
                <a:latin typeface="Calibri" pitchFamily="34" charset="0"/>
                <a:ea typeface="Calibri" pitchFamily="34" charset="-122"/>
                <a:cs typeface="Calibri" pitchFamily="34" charset="-120"/>
              </a:rPr>
              <a:t>Fake bills, hidden instructions for AI agents, look-alike merchants, 'safe account' scam calls.</a:t>
            </a:r>
            <a:endParaRPr lang="en-US" sz="1300" dirty="0"/>
          </a:p>
        </p:txBody>
      </p:sp>
      <p:sp>
        <p:nvSpPr>
          <p:cNvPr id="16" name="Text 13"/>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B8321C"/>
                </a:solidFill>
                <a:latin typeface="Georgia" pitchFamily="34" charset="0"/>
                <a:ea typeface="Georgia" pitchFamily="34" charset="-122"/>
                <a:cs typeface="Georgia" pitchFamily="34" charset="-120"/>
              </a:rPr>
              <a:t>03</a:t>
            </a:r>
            <a:endParaRPr lang="en-US" sz="2600" dirty="0"/>
          </a:p>
        </p:txBody>
      </p:sp>
      <p:sp>
        <p:nvSpPr>
          <p:cNvPr id="17" name="Text 14"/>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B1712"/>
                </a:solidFill>
                <a:latin typeface="Georgia" pitchFamily="34" charset="0"/>
                <a:ea typeface="Georgia" pitchFamily="34" charset="-122"/>
                <a:cs typeface="Georgia" pitchFamily="34" charset="-120"/>
              </a:rPr>
              <a:t>Accountability</a:t>
            </a:r>
            <a:endParaRPr lang="en-US" sz="1800" dirty="0"/>
          </a:p>
        </p:txBody>
      </p:sp>
      <p:sp>
        <p:nvSpPr>
          <p:cNvPr id="18" name="Text 15"/>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F675B"/>
                </a:solidFill>
                <a:latin typeface="Calibri" pitchFamily="34" charset="0"/>
                <a:ea typeface="Calibri" pitchFamily="34" charset="-122"/>
                <a:cs typeface="Calibri" pitchFamily="34" charset="-120"/>
              </a:rPr>
              <a:t>Regulators ask: who authorised this payment, which model decided, can it be rolled back?</a:t>
            </a:r>
            <a:endParaRPr lang="en-US" sz="1300" dirty="0"/>
          </a:p>
        </p:txBody>
      </p:sp>
      <p:sp>
        <p:nvSpPr>
          <p:cNvPr id="19" name="Shape 16"/>
          <p:cNvSpPr/>
          <p:nvPr/>
        </p:nvSpPr>
        <p:spPr>
          <a:xfrm>
            <a:off x="5577840" y="1188720"/>
            <a:ext cx="3108960" cy="2926080"/>
          </a:xfrm>
          <a:prstGeom prst="rect">
            <a:avLst/>
          </a:prstGeom>
          <a:solidFill>
            <a:srgbClr val="1B1712"/>
          </a:solidFill>
          <a:ln w="12700">
            <a:solidFill>
              <a:srgbClr val="1B1712"/>
            </a:solidFill>
            <a:prstDash val="solid"/>
          </a:ln>
        </p:spPr>
      </p:sp>
      <p:sp>
        <p:nvSpPr>
          <p:cNvPr id="20" name="Shape 17"/>
          <p:cNvSpPr/>
          <p:nvPr/>
        </p:nvSpPr>
        <p:spPr>
          <a:xfrm>
            <a:off x="5577840" y="1188720"/>
            <a:ext cx="82296" cy="2926080"/>
          </a:xfrm>
          <a:prstGeom prst="rect">
            <a:avLst/>
          </a:prstGeom>
          <a:solidFill>
            <a:srgbClr val="B8321C"/>
          </a:solidFill>
          <a:ln w="12700">
            <a:solidFill>
              <a:srgbClr val="B8321C"/>
            </a:solidFill>
            <a:prstDash val="solid"/>
          </a:ln>
        </p:spPr>
      </p:sp>
      <p:sp>
        <p:nvSpPr>
          <p:cNvPr id="21" name="Text 18"/>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8EE"/>
                </a:solidFill>
                <a:latin typeface="Calibri" pitchFamily="34" charset="0"/>
                <a:ea typeface="Calibri" pitchFamily="34" charset="-122"/>
                <a:cs typeface="Calibri" pitchFamily="34" charset="-120"/>
              </a:rPr>
              <a:t>Same attacks, agent without the kernel</a:t>
            </a:r>
            <a:endParaRPr lang="en-US" sz="1300" dirty="0"/>
          </a:p>
        </p:txBody>
      </p:sp>
      <p:sp>
        <p:nvSpPr>
          <p:cNvPr id="22" name="Text 19"/>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E58A6F"/>
                </a:solidFill>
                <a:latin typeface="Georgia" pitchFamily="34" charset="0"/>
                <a:ea typeface="Georgia" pitchFamily="34" charset="-122"/>
                <a:cs typeface="Georgia" pitchFamily="34" charset="-120"/>
              </a:rPr>
              <a:t>39 / 39</a:t>
            </a:r>
            <a:endParaRPr lang="en-US" sz="4400" dirty="0"/>
          </a:p>
        </p:txBody>
      </p:sp>
      <p:sp>
        <p:nvSpPr>
          <p:cNvPr id="23" name="Text 20"/>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8EE"/>
                </a:solidFill>
                <a:latin typeface="Calibri" pitchFamily="34" charset="0"/>
                <a:ea typeface="Calibri" pitchFamily="34" charset="-122"/>
                <a:cs typeface="Calibri" pitchFamily="34" charset="-120"/>
              </a:rPr>
              <a:t>attacks succeeded</a:t>
            </a:r>
            <a:endParaRPr lang="en-US" sz="1300" dirty="0"/>
          </a:p>
        </p:txBody>
      </p:sp>
      <p:sp>
        <p:nvSpPr>
          <p:cNvPr id="24" name="Text 21"/>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E58A6F"/>
                </a:solidFill>
                <a:latin typeface="Georgia" pitchFamily="34" charset="0"/>
                <a:ea typeface="Georgia" pitchFamily="34" charset="-122"/>
                <a:cs typeface="Georgia" pitchFamily="34" charset="-120"/>
              </a:rPr>
              <a:t>532 038.76 ₽</a:t>
            </a:r>
            <a:endParaRPr lang="en-US" sz="2600" dirty="0"/>
          </a:p>
        </p:txBody>
      </p:sp>
      <p:sp>
        <p:nvSpPr>
          <p:cNvPr id="25" name="Text 22"/>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8EE"/>
                </a:solidFill>
                <a:latin typeface="Calibri" pitchFamily="34" charset="0"/>
                <a:ea typeface="Calibri" pitchFamily="34" charset="-122"/>
                <a:cs typeface="Calibri"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03</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The idea: models never hold the money</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3 of 12</a:t>
            </a:r>
            <a:endParaRPr lang="en-US" sz="900" dirty="0"/>
          </a:p>
        </p:txBody>
      </p:sp>
      <p:sp>
        <p:nvSpPr>
          <p:cNvPr id="10" name="Shape 7"/>
          <p:cNvSpPr/>
          <p:nvPr/>
        </p:nvSpPr>
        <p:spPr>
          <a:xfrm>
            <a:off x="457200" y="1234440"/>
            <a:ext cx="2651760" cy="2651760"/>
          </a:xfrm>
          <a:prstGeom prst="rect">
            <a:avLst/>
          </a:prstGeom>
          <a:solidFill>
            <a:srgbClr val="FFFFFF"/>
          </a:solidFill>
          <a:ln w="12700">
            <a:solidFill>
              <a:srgbClr val="1B1712"/>
            </a:solidFill>
            <a:prstDash val="solid"/>
          </a:ln>
          <a:effectLst>
            <a:outerShdw sx="100000" sy="100000" kx="0" ky="0" algn="bl" rotWithShape="0" blurRad="101600" dist="50800" dir="2700000">
              <a:srgbClr val="D9CFBD">
                <a:alpha val="100000"/>
              </a:srgbClr>
            </a:outerShdw>
          </a:effectLst>
        </p:spPr>
      </p:sp>
      <p:sp>
        <p:nvSpPr>
          <p:cNvPr id="11" name="Text 8"/>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I</a:t>
            </a:r>
            <a:endParaRPr lang="en-US" sz="1200" dirty="0"/>
          </a:p>
        </p:txBody>
      </p:sp>
      <p:sp>
        <p:nvSpPr>
          <p:cNvPr id="12" name="Text 9"/>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B1712"/>
                </a:solidFill>
                <a:latin typeface="Georgia" pitchFamily="34" charset="0"/>
                <a:ea typeface="Georgia" pitchFamily="34" charset="-122"/>
                <a:cs typeface="Georgia" pitchFamily="34" charset="-120"/>
              </a:rPr>
              <a:t>What you see is what you sign</a:t>
            </a:r>
            <a:endParaRPr lang="en-US" sz="1600" dirty="0"/>
          </a:p>
        </p:txBody>
      </p:sp>
      <p:sp>
        <p:nvSpPr>
          <p:cNvPr id="13" name="Text 10"/>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B1712"/>
                </a:solidFill>
                <a:latin typeface="Calibri" pitchFamily="34" charset="0"/>
                <a:ea typeface="Calibri" pitchFamily="34" charset="-122"/>
                <a:cs typeface="Calibri" pitchFamily="34" charset="-120"/>
              </a:rPr>
              <a:t>The kernel renders every card. The client's device key (Ed25519 / P-256, WebCrypto) signs its hash; the kernel countersigns.</a:t>
            </a:r>
            <a:endParaRPr lang="en-US" sz="1300" dirty="0"/>
          </a:p>
        </p:txBody>
      </p:sp>
      <p:sp>
        <p:nvSpPr>
          <p:cNvPr id="14" name="Shape 11"/>
          <p:cNvSpPr/>
          <p:nvPr/>
        </p:nvSpPr>
        <p:spPr>
          <a:xfrm>
            <a:off x="3291840" y="1234440"/>
            <a:ext cx="2651760" cy="2651760"/>
          </a:xfrm>
          <a:prstGeom prst="rect">
            <a:avLst/>
          </a:prstGeom>
          <a:solidFill>
            <a:srgbClr val="FFFFFF"/>
          </a:solidFill>
          <a:ln w="12700">
            <a:solidFill>
              <a:srgbClr val="1B1712"/>
            </a:solidFill>
            <a:prstDash val="solid"/>
          </a:ln>
          <a:effectLst>
            <a:outerShdw sx="100000" sy="100000" kx="0" ky="0" algn="bl" rotWithShape="0" blurRad="101600" dist="50800" dir="2700000">
              <a:srgbClr val="D9CFBD">
                <a:alpha val="100000"/>
              </a:srgbClr>
            </a:outerShdw>
          </a:effectLst>
        </p:spPr>
      </p:sp>
      <p:sp>
        <p:nvSpPr>
          <p:cNvPr id="15" name="Text 12"/>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II</a:t>
            </a:r>
            <a:endParaRPr lang="en-US" sz="1200" dirty="0"/>
          </a:p>
        </p:txBody>
      </p:sp>
      <p:sp>
        <p:nvSpPr>
          <p:cNvPr id="16" name="Text 13"/>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B1712"/>
                </a:solidFill>
                <a:latin typeface="Georgia" pitchFamily="34" charset="0"/>
                <a:ea typeface="Georgia" pitchFamily="34" charset="-122"/>
                <a:cs typeface="Georgia" pitchFamily="34" charset="-120"/>
              </a:rPr>
              <a:t>Nothing outside the mandate</a:t>
            </a:r>
            <a:endParaRPr lang="en-US" sz="1600" dirty="0"/>
          </a:p>
        </p:txBody>
      </p:sp>
      <p:sp>
        <p:nvSpPr>
          <p:cNvPr id="17" name="Text 14"/>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B1712"/>
                </a:solidFill>
                <a:latin typeface="Calibri" pitchFamily="34" charset="0"/>
                <a:ea typeface="Calibri" pitchFamily="34" charset="-122"/>
                <a:cs typeface="Calibri" pitchFamily="34" charset="-120"/>
              </a:rPr>
              <a:t>Payee, amount range, period, money source, expiry. Agents get single-use grants that only narrow.</a:t>
            </a:r>
            <a:endParaRPr lang="en-US" sz="1300" dirty="0"/>
          </a:p>
        </p:txBody>
      </p:sp>
      <p:sp>
        <p:nvSpPr>
          <p:cNvPr id="18" name="Shape 15"/>
          <p:cNvSpPr/>
          <p:nvPr/>
        </p:nvSpPr>
        <p:spPr>
          <a:xfrm>
            <a:off x="6126480" y="1234440"/>
            <a:ext cx="2651760" cy="2651760"/>
          </a:xfrm>
          <a:prstGeom prst="rect">
            <a:avLst/>
          </a:prstGeom>
          <a:solidFill>
            <a:srgbClr val="FFFFFF"/>
          </a:solidFill>
          <a:ln w="12700">
            <a:solidFill>
              <a:srgbClr val="1B1712"/>
            </a:solidFill>
            <a:prstDash val="solid"/>
          </a:ln>
          <a:effectLst>
            <a:outerShdw sx="100000" sy="100000" kx="0" ky="0" algn="bl" rotWithShape="0" blurRad="101600" dist="50800" dir="2700000">
              <a:srgbClr val="D9CFBD">
                <a:alpha val="100000"/>
              </a:srgbClr>
            </a:outerShdw>
          </a:effectLst>
        </p:spPr>
      </p:sp>
      <p:sp>
        <p:nvSpPr>
          <p:cNvPr id="19" name="Text 16"/>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III</a:t>
            </a:r>
            <a:endParaRPr lang="en-US" sz="1200" dirty="0"/>
          </a:p>
        </p:txBody>
      </p:sp>
      <p:sp>
        <p:nvSpPr>
          <p:cNvPr id="20" name="Text 17"/>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B1712"/>
                </a:solidFill>
                <a:latin typeface="Georgia" pitchFamily="34" charset="0"/>
                <a:ea typeface="Georgia" pitchFamily="34" charset="-122"/>
                <a:cs typeface="Georgia" pitchFamily="34" charset="-120"/>
              </a:rPr>
              <a:t>Verified, then recorded</a:t>
            </a:r>
            <a:endParaRPr lang="en-US" sz="1600" dirty="0"/>
          </a:p>
        </p:txBody>
      </p:sp>
      <p:sp>
        <p:nvSpPr>
          <p:cNvPr id="21" name="Text 18"/>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B1712"/>
                </a:solidFill>
                <a:latin typeface="Calibri" pitchFamily="34" charset="0"/>
                <a:ea typeface="Calibri" pitchFamily="34" charset="-122"/>
                <a:cs typeface="Calibri" pitchFamily="34" charset="-120"/>
              </a:rPr>
              <a:t>After execution the kernel checks the bank itself, not the agent's word. Every step goes into a signed hash chain.</a:t>
            </a:r>
            <a:endParaRPr lang="en-US" sz="1300" dirty="0"/>
          </a:p>
        </p:txBody>
      </p:sp>
      <p:sp>
        <p:nvSpPr>
          <p:cNvPr id="22" name="Text 19"/>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9E2A16"/>
                </a:solidFill>
                <a:latin typeface="Georgia" pitchFamily="34" charset="0"/>
                <a:ea typeface="Georgia" pitchFamily="34" charset="-122"/>
                <a:cs typeface="Georgia"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04</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One month, one client: scenarios C1 to C10</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4 of 12</a:t>
            </a:r>
            <a:endParaRPr lang="en-US" sz="900" dirty="0"/>
          </a:p>
        </p:txBody>
      </p:sp>
      <p:sp>
        <p:nvSpPr>
          <p:cNvPr id="10" name="Shape 7"/>
          <p:cNvSpPr/>
          <p:nvPr/>
        </p:nvSpPr>
        <p:spPr>
          <a:xfrm>
            <a:off x="457200" y="1188720"/>
            <a:ext cx="1554480" cy="0"/>
          </a:xfrm>
          <a:prstGeom prst="line">
            <a:avLst/>
          </a:prstGeom>
          <a:noFill/>
          <a:ln w="19050">
            <a:solidFill>
              <a:srgbClr val="1B1712"/>
            </a:solidFill>
            <a:prstDash val="solid"/>
          </a:ln>
        </p:spPr>
      </p:sp>
      <p:sp>
        <p:nvSpPr>
          <p:cNvPr id="11" name="Text 8"/>
          <p:cNvSpPr/>
          <p:nvPr/>
        </p:nvSpPr>
        <p:spPr>
          <a:xfrm>
            <a:off x="457200" y="126187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C1</a:t>
            </a:r>
            <a:endParaRPr lang="en-US" sz="1600" dirty="0"/>
          </a:p>
        </p:txBody>
      </p:sp>
      <p:sp>
        <p:nvSpPr>
          <p:cNvPr id="12" name="Text 9"/>
          <p:cNvSpPr/>
          <p:nvPr/>
        </p:nvSpPr>
        <p:spPr>
          <a:xfrm>
            <a:off x="457200" y="157276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Pay, allow monthly</a:t>
            </a:r>
            <a:endParaRPr lang="en-US" sz="1250" dirty="0"/>
          </a:p>
        </p:txBody>
      </p:sp>
      <p:sp>
        <p:nvSpPr>
          <p:cNvPr id="13" name="Text 10"/>
          <p:cNvSpPr/>
          <p:nvPr/>
        </p:nvSpPr>
        <p:spPr>
          <a:xfrm>
            <a:off x="457200" y="193852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standing, ≤ 344 ₽</a:t>
            </a:r>
            <a:endParaRPr lang="en-US" sz="1050" dirty="0"/>
          </a:p>
        </p:txBody>
      </p:sp>
      <p:sp>
        <p:nvSpPr>
          <p:cNvPr id="14" name="Shape 11"/>
          <p:cNvSpPr/>
          <p:nvPr/>
        </p:nvSpPr>
        <p:spPr>
          <a:xfrm>
            <a:off x="2121408" y="1188720"/>
            <a:ext cx="1554480" cy="0"/>
          </a:xfrm>
          <a:prstGeom prst="line">
            <a:avLst/>
          </a:prstGeom>
          <a:noFill/>
          <a:ln w="19050">
            <a:solidFill>
              <a:srgbClr val="1B1712"/>
            </a:solidFill>
            <a:prstDash val="solid"/>
          </a:ln>
        </p:spPr>
      </p:sp>
      <p:sp>
        <p:nvSpPr>
          <p:cNvPr id="15" name="Text 12"/>
          <p:cNvSpPr/>
          <p:nvPr/>
        </p:nvSpPr>
        <p:spPr>
          <a:xfrm>
            <a:off x="2121408" y="126187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C2</a:t>
            </a:r>
            <a:endParaRPr lang="en-US" sz="1600" dirty="0"/>
          </a:p>
        </p:txBody>
      </p:sp>
      <p:sp>
        <p:nvSpPr>
          <p:cNvPr id="16" name="Text 13"/>
          <p:cNvSpPr/>
          <p:nvPr/>
        </p:nvSpPr>
        <p:spPr>
          <a:xfrm>
            <a:off x="2121408" y="157276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Cancel a subscription</a:t>
            </a:r>
            <a:endParaRPr lang="en-US" sz="1250" dirty="0"/>
          </a:p>
        </p:txBody>
      </p:sp>
      <p:sp>
        <p:nvSpPr>
          <p:cNvPr id="17" name="Text 14"/>
          <p:cNvSpPr/>
          <p:nvPr/>
        </p:nvSpPr>
        <p:spPr>
          <a:xfrm>
            <a:off x="2121408" y="193852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merchant API + card block</a:t>
            </a:r>
            <a:endParaRPr lang="en-US" sz="1050" dirty="0"/>
          </a:p>
        </p:txBody>
      </p:sp>
      <p:sp>
        <p:nvSpPr>
          <p:cNvPr id="18" name="Shape 15"/>
          <p:cNvSpPr/>
          <p:nvPr/>
        </p:nvSpPr>
        <p:spPr>
          <a:xfrm>
            <a:off x="3785616" y="1188720"/>
            <a:ext cx="1554480" cy="0"/>
          </a:xfrm>
          <a:prstGeom prst="line">
            <a:avLst/>
          </a:prstGeom>
          <a:noFill/>
          <a:ln w="19050">
            <a:solidFill>
              <a:srgbClr val="1B1712"/>
            </a:solidFill>
            <a:prstDash val="solid"/>
          </a:ln>
        </p:spPr>
      </p:sp>
      <p:sp>
        <p:nvSpPr>
          <p:cNvPr id="19" name="Text 16"/>
          <p:cNvSpPr/>
          <p:nvPr/>
        </p:nvSpPr>
        <p:spPr>
          <a:xfrm>
            <a:off x="3785616" y="126187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C3</a:t>
            </a:r>
            <a:endParaRPr lang="en-US" sz="1600" dirty="0"/>
          </a:p>
        </p:txBody>
      </p:sp>
      <p:sp>
        <p:nvSpPr>
          <p:cNvPr id="20" name="Text 17"/>
          <p:cNvSpPr/>
          <p:nvPr/>
        </p:nvSpPr>
        <p:spPr>
          <a:xfrm>
            <a:off x="3785616" y="157276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Find leaks</a:t>
            </a:r>
            <a:endParaRPr lang="en-US" sz="1250" dirty="0"/>
          </a:p>
        </p:txBody>
      </p:sp>
      <p:sp>
        <p:nvSpPr>
          <p:cNvPr id="21" name="Text 18"/>
          <p:cNvSpPr/>
          <p:nvPr/>
        </p:nvSpPr>
        <p:spPr>
          <a:xfrm>
            <a:off x="3785616" y="193852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847 ₽ a month</a:t>
            </a:r>
            <a:endParaRPr lang="en-US" sz="1050" dirty="0"/>
          </a:p>
        </p:txBody>
      </p:sp>
      <p:sp>
        <p:nvSpPr>
          <p:cNvPr id="22" name="Shape 19"/>
          <p:cNvSpPr/>
          <p:nvPr/>
        </p:nvSpPr>
        <p:spPr>
          <a:xfrm>
            <a:off x="5449824" y="1188720"/>
            <a:ext cx="1554480" cy="0"/>
          </a:xfrm>
          <a:prstGeom prst="line">
            <a:avLst/>
          </a:prstGeom>
          <a:noFill/>
          <a:ln w="19050">
            <a:solidFill>
              <a:srgbClr val="1B1712"/>
            </a:solidFill>
            <a:prstDash val="solid"/>
          </a:ln>
        </p:spPr>
      </p:sp>
      <p:sp>
        <p:nvSpPr>
          <p:cNvPr id="23" name="Text 20"/>
          <p:cNvSpPr/>
          <p:nvPr/>
        </p:nvSpPr>
        <p:spPr>
          <a:xfrm>
            <a:off x="5449824" y="126187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C4</a:t>
            </a:r>
            <a:endParaRPr lang="en-US" sz="1600" dirty="0"/>
          </a:p>
        </p:txBody>
      </p:sp>
      <p:sp>
        <p:nvSpPr>
          <p:cNvPr id="24" name="Text 21"/>
          <p:cNvSpPr/>
          <p:nvPr/>
        </p:nvSpPr>
        <p:spPr>
          <a:xfrm>
            <a:off x="5449824" y="157276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Double charge</a:t>
            </a:r>
            <a:endParaRPr lang="en-US" sz="1250" dirty="0"/>
          </a:p>
        </p:txBody>
      </p:sp>
      <p:sp>
        <p:nvSpPr>
          <p:cNvPr id="25" name="Text 22"/>
          <p:cNvSpPr/>
          <p:nvPr/>
        </p:nvSpPr>
        <p:spPr>
          <a:xfrm>
            <a:off x="5449824" y="193852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dispute opened</a:t>
            </a:r>
            <a:endParaRPr lang="en-US" sz="1050" dirty="0"/>
          </a:p>
        </p:txBody>
      </p:sp>
      <p:sp>
        <p:nvSpPr>
          <p:cNvPr id="26" name="Shape 23"/>
          <p:cNvSpPr/>
          <p:nvPr/>
        </p:nvSpPr>
        <p:spPr>
          <a:xfrm>
            <a:off x="7114032" y="1188720"/>
            <a:ext cx="1554480" cy="0"/>
          </a:xfrm>
          <a:prstGeom prst="line">
            <a:avLst/>
          </a:prstGeom>
          <a:noFill/>
          <a:ln w="19050">
            <a:solidFill>
              <a:srgbClr val="1B1712"/>
            </a:solidFill>
            <a:prstDash val="solid"/>
          </a:ln>
        </p:spPr>
      </p:sp>
      <p:sp>
        <p:nvSpPr>
          <p:cNvPr id="27" name="Text 24"/>
          <p:cNvSpPr/>
          <p:nvPr/>
        </p:nvSpPr>
        <p:spPr>
          <a:xfrm>
            <a:off x="7114032" y="126187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C5</a:t>
            </a:r>
            <a:endParaRPr lang="en-US" sz="1600" dirty="0"/>
          </a:p>
        </p:txBody>
      </p:sp>
      <p:sp>
        <p:nvSpPr>
          <p:cNvPr id="28" name="Text 25"/>
          <p:cNvSpPr/>
          <p:nvPr/>
        </p:nvSpPr>
        <p:spPr>
          <a:xfrm>
            <a:off x="7114032" y="157276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Pay bills</a:t>
            </a:r>
            <a:endParaRPr lang="en-US" sz="1250" dirty="0"/>
          </a:p>
        </p:txBody>
      </p:sp>
      <p:sp>
        <p:nvSpPr>
          <p:cNvPr id="29" name="Text 26"/>
          <p:cNvSpPr/>
          <p:nvPr/>
        </p:nvSpPr>
        <p:spPr>
          <a:xfrm>
            <a:off x="7114032" y="193852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checked against bank records</a:t>
            </a:r>
            <a:endParaRPr lang="en-US" sz="1050" dirty="0"/>
          </a:p>
        </p:txBody>
      </p:sp>
      <p:sp>
        <p:nvSpPr>
          <p:cNvPr id="30" name="Shape 27"/>
          <p:cNvSpPr/>
          <p:nvPr/>
        </p:nvSpPr>
        <p:spPr>
          <a:xfrm>
            <a:off x="457200" y="2514600"/>
            <a:ext cx="1554480" cy="0"/>
          </a:xfrm>
          <a:prstGeom prst="line">
            <a:avLst/>
          </a:prstGeom>
          <a:noFill/>
          <a:ln w="19050">
            <a:solidFill>
              <a:srgbClr val="1B1712"/>
            </a:solidFill>
            <a:prstDash val="solid"/>
          </a:ln>
        </p:spPr>
      </p:sp>
      <p:sp>
        <p:nvSpPr>
          <p:cNvPr id="31" name="Text 28"/>
          <p:cNvSpPr/>
          <p:nvPr/>
        </p:nvSpPr>
        <p:spPr>
          <a:xfrm>
            <a:off x="457200" y="258775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C6</a:t>
            </a:r>
            <a:endParaRPr lang="en-US" sz="1600" dirty="0"/>
          </a:p>
        </p:txBody>
      </p:sp>
      <p:sp>
        <p:nvSpPr>
          <p:cNvPr id="32" name="Text 29"/>
          <p:cNvSpPr/>
          <p:nvPr/>
        </p:nvSpPr>
        <p:spPr>
          <a:xfrm>
            <a:off x="457200" y="289864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Fake bill</a:t>
            </a:r>
            <a:endParaRPr lang="en-US" sz="1250" dirty="0"/>
          </a:p>
        </p:txBody>
      </p:sp>
      <p:sp>
        <p:nvSpPr>
          <p:cNvPr id="33" name="Text 30"/>
          <p:cNvSpPr/>
          <p:nvPr/>
        </p:nvSpPr>
        <p:spPr>
          <a:xfrm>
            <a:off x="457200" y="326440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stopped, case to analysts</a:t>
            </a:r>
            <a:endParaRPr lang="en-US" sz="1050" dirty="0"/>
          </a:p>
        </p:txBody>
      </p:sp>
      <p:sp>
        <p:nvSpPr>
          <p:cNvPr id="34" name="Shape 31"/>
          <p:cNvSpPr/>
          <p:nvPr/>
        </p:nvSpPr>
        <p:spPr>
          <a:xfrm>
            <a:off x="2121408" y="2514600"/>
            <a:ext cx="1554480" cy="0"/>
          </a:xfrm>
          <a:prstGeom prst="line">
            <a:avLst/>
          </a:prstGeom>
          <a:noFill/>
          <a:ln w="19050">
            <a:solidFill>
              <a:srgbClr val="1B1712"/>
            </a:solidFill>
            <a:prstDash val="solid"/>
          </a:ln>
        </p:spPr>
      </p:sp>
      <p:sp>
        <p:nvSpPr>
          <p:cNvPr id="35" name="Text 32"/>
          <p:cNvSpPr/>
          <p:nvPr/>
        </p:nvSpPr>
        <p:spPr>
          <a:xfrm>
            <a:off x="2121408" y="258775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C7</a:t>
            </a:r>
            <a:endParaRPr lang="en-US" sz="1600" dirty="0"/>
          </a:p>
        </p:txBody>
      </p:sp>
      <p:sp>
        <p:nvSpPr>
          <p:cNvPr id="36" name="Text 33"/>
          <p:cNvSpPr/>
          <p:nvPr/>
        </p:nvSpPr>
        <p:spPr>
          <a:xfrm>
            <a:off x="2121408" y="289864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Trial turns paid</a:t>
            </a:r>
            <a:endParaRPr lang="en-US" sz="1250" dirty="0"/>
          </a:p>
        </p:txBody>
      </p:sp>
      <p:sp>
        <p:nvSpPr>
          <p:cNvPr id="37" name="Text 34"/>
          <p:cNvSpPr/>
          <p:nvPr/>
        </p:nvSpPr>
        <p:spPr>
          <a:xfrm>
            <a:off x="2121408" y="326440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cancelled before charge</a:t>
            </a:r>
            <a:endParaRPr lang="en-US" sz="1050" dirty="0"/>
          </a:p>
        </p:txBody>
      </p:sp>
      <p:sp>
        <p:nvSpPr>
          <p:cNvPr id="38" name="Shape 35"/>
          <p:cNvSpPr/>
          <p:nvPr/>
        </p:nvSpPr>
        <p:spPr>
          <a:xfrm>
            <a:off x="3785616" y="2514600"/>
            <a:ext cx="1554480" cy="0"/>
          </a:xfrm>
          <a:prstGeom prst="line">
            <a:avLst/>
          </a:prstGeom>
          <a:noFill/>
          <a:ln w="19050">
            <a:solidFill>
              <a:srgbClr val="1B1712"/>
            </a:solidFill>
            <a:prstDash val="solid"/>
          </a:ln>
        </p:spPr>
      </p:sp>
      <p:sp>
        <p:nvSpPr>
          <p:cNvPr id="39" name="Text 36"/>
          <p:cNvSpPr/>
          <p:nvPr/>
        </p:nvSpPr>
        <p:spPr>
          <a:xfrm>
            <a:off x="3785616" y="258775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C8</a:t>
            </a:r>
            <a:endParaRPr lang="en-US" sz="1600" dirty="0"/>
          </a:p>
        </p:txBody>
      </p:sp>
      <p:sp>
        <p:nvSpPr>
          <p:cNvPr id="40" name="Text 37"/>
          <p:cNvSpPr/>
          <p:nvPr/>
        </p:nvSpPr>
        <p:spPr>
          <a:xfrm>
            <a:off x="3785616" y="289864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Budget and goal</a:t>
            </a:r>
            <a:endParaRPr lang="en-US" sz="1250" dirty="0"/>
          </a:p>
        </p:txBody>
      </p:sp>
      <p:sp>
        <p:nvSpPr>
          <p:cNvPr id="41" name="Text 38"/>
          <p:cNvSpPr/>
          <p:nvPr/>
        </p:nvSpPr>
        <p:spPr>
          <a:xfrm>
            <a:off x="3785616" y="326440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envelopes, safe-to-spend</a:t>
            </a:r>
            <a:endParaRPr lang="en-US" sz="1050" dirty="0"/>
          </a:p>
        </p:txBody>
      </p:sp>
      <p:sp>
        <p:nvSpPr>
          <p:cNvPr id="42" name="Shape 39"/>
          <p:cNvSpPr/>
          <p:nvPr/>
        </p:nvSpPr>
        <p:spPr>
          <a:xfrm>
            <a:off x="5449824" y="2514600"/>
            <a:ext cx="1554480" cy="0"/>
          </a:xfrm>
          <a:prstGeom prst="line">
            <a:avLst/>
          </a:prstGeom>
          <a:noFill/>
          <a:ln w="19050">
            <a:solidFill>
              <a:srgbClr val="1B1712"/>
            </a:solidFill>
            <a:prstDash val="solid"/>
          </a:ln>
        </p:spPr>
      </p:sp>
      <p:sp>
        <p:nvSpPr>
          <p:cNvPr id="43" name="Text 40"/>
          <p:cNvSpPr/>
          <p:nvPr/>
        </p:nvSpPr>
        <p:spPr>
          <a:xfrm>
            <a:off x="5449824" y="258775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C9</a:t>
            </a:r>
            <a:endParaRPr lang="en-US" sz="1600" dirty="0"/>
          </a:p>
        </p:txBody>
      </p:sp>
      <p:sp>
        <p:nvSpPr>
          <p:cNvPr id="44" name="Text 41"/>
          <p:cNvSpPr/>
          <p:nvPr/>
        </p:nvSpPr>
        <p:spPr>
          <a:xfrm>
            <a:off x="5449824" y="289864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Scam call</a:t>
            </a:r>
            <a:endParaRPr lang="en-US" sz="1250" dirty="0"/>
          </a:p>
        </p:txBody>
      </p:sp>
      <p:sp>
        <p:nvSpPr>
          <p:cNvPr id="45" name="Text 42"/>
          <p:cNvSpPr/>
          <p:nvPr/>
        </p:nvSpPr>
        <p:spPr>
          <a:xfrm>
            <a:off x="5449824" y="326440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pause → analyst hold</a:t>
            </a:r>
            <a:endParaRPr lang="en-US" sz="1050" dirty="0"/>
          </a:p>
        </p:txBody>
      </p:sp>
      <p:sp>
        <p:nvSpPr>
          <p:cNvPr id="46" name="Shape 43"/>
          <p:cNvSpPr/>
          <p:nvPr/>
        </p:nvSpPr>
        <p:spPr>
          <a:xfrm>
            <a:off x="7114032" y="2514600"/>
            <a:ext cx="1554480" cy="0"/>
          </a:xfrm>
          <a:prstGeom prst="line">
            <a:avLst/>
          </a:prstGeom>
          <a:noFill/>
          <a:ln w="19050">
            <a:solidFill>
              <a:srgbClr val="1B1712"/>
            </a:solidFill>
            <a:prstDash val="solid"/>
          </a:ln>
        </p:spPr>
      </p:sp>
      <p:sp>
        <p:nvSpPr>
          <p:cNvPr id="47" name="Text 44"/>
          <p:cNvSpPr/>
          <p:nvPr/>
        </p:nvSpPr>
        <p:spPr>
          <a:xfrm>
            <a:off x="7114032" y="2587752"/>
            <a:ext cx="1371600" cy="320040"/>
          </a:xfrm>
          <a:prstGeom prst="rect">
            <a:avLst/>
          </a:prstGeom>
          <a:noFill/>
          <a:ln/>
        </p:spPr>
        <p:txBody>
          <a:bodyPr wrap="square" lIns="0" tIns="0" rIns="0" bIns="0" rtlCol="0" anchor="ctr"/>
          <a:lstStyle/>
          <a:p>
            <a:pPr indent="0" marL="0">
              <a:buNone/>
            </a:pPr>
            <a:r>
              <a:rPr lang="en-US" sz="1600" b="1" dirty="0">
                <a:solidFill>
                  <a:srgbClr val="B8321C"/>
                </a:solidFill>
                <a:latin typeface="Georgia" pitchFamily="34" charset="0"/>
                <a:ea typeface="Georgia" pitchFamily="34" charset="-122"/>
                <a:cs typeface="Georgia" pitchFamily="34" charset="-120"/>
              </a:rPr>
              <a:t>C10</a:t>
            </a:r>
            <a:endParaRPr lang="en-US" sz="1600" dirty="0"/>
          </a:p>
        </p:txBody>
      </p:sp>
      <p:sp>
        <p:nvSpPr>
          <p:cNvPr id="48" name="Text 45"/>
          <p:cNvSpPr/>
          <p:nvPr/>
        </p:nvSpPr>
        <p:spPr>
          <a:xfrm>
            <a:off x="7114032" y="2898648"/>
            <a:ext cx="1508760" cy="365760"/>
          </a:xfrm>
          <a:prstGeom prst="rect">
            <a:avLst/>
          </a:prstGeom>
          <a:noFill/>
          <a:ln/>
        </p:spPr>
        <p:txBody>
          <a:bodyPr wrap="square" lIns="0" tIns="0" rIns="0" bIns="0" rtlCol="0" anchor="ctr"/>
          <a:lstStyle/>
          <a:p>
            <a:pPr indent="0" marL="0">
              <a:buNone/>
            </a:pPr>
            <a:r>
              <a:rPr lang="en-US" sz="1250" b="1" dirty="0">
                <a:solidFill>
                  <a:srgbClr val="1B1712"/>
                </a:solidFill>
                <a:latin typeface="Georgia" pitchFamily="34" charset="0"/>
                <a:ea typeface="Georgia" pitchFamily="34" charset="-122"/>
                <a:cs typeface="Georgia" pitchFamily="34" charset="-120"/>
              </a:rPr>
              <a:t>Risky payee</a:t>
            </a:r>
            <a:endParaRPr lang="en-US" sz="1250" dirty="0"/>
          </a:p>
        </p:txBody>
      </p:sp>
      <p:sp>
        <p:nvSpPr>
          <p:cNvPr id="49" name="Text 46"/>
          <p:cNvSpPr/>
          <p:nvPr/>
        </p:nvSpPr>
        <p:spPr>
          <a:xfrm>
            <a:off x="7114032" y="3264408"/>
            <a:ext cx="1508760" cy="365760"/>
          </a:xfrm>
          <a:prstGeom prst="rect">
            <a:avLst/>
          </a:prstGeom>
          <a:noFill/>
          <a:ln/>
        </p:spPr>
        <p:txBody>
          <a:bodyPr wrap="square" lIns="0" tIns="0" rIns="0" bIns="0" rtlCol="0" anchor="t"/>
          <a:lstStyle/>
          <a:p>
            <a:pPr indent="0" marL="0">
              <a:buNone/>
            </a:pPr>
            <a:r>
              <a:rPr lang="en-US" sz="1050" dirty="0">
                <a:solidFill>
                  <a:srgbClr val="6F675B"/>
                </a:solidFill>
                <a:latin typeface="Calibri" pitchFamily="34" charset="0"/>
                <a:ea typeface="Calibri" pitchFamily="34" charset="-122"/>
                <a:cs typeface="Calibri" pitchFamily="34" charset="-120"/>
              </a:rPr>
              <a:t>transfer-graph model</a:t>
            </a:r>
            <a:endParaRPr lang="en-US" sz="1050" dirty="0"/>
          </a:p>
        </p:txBody>
      </p:sp>
      <p:sp>
        <p:nvSpPr>
          <p:cNvPr id="50" name="Text 47"/>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B8321C"/>
                </a:solidFill>
                <a:latin typeface="Georgia" pitchFamily="34" charset="0"/>
                <a:ea typeface="Georgia" pitchFamily="34" charset="-122"/>
                <a:cs typeface="Georgia" pitchFamily="34" charset="-120"/>
              </a:rPr>
              <a:t>548 ₽ </a:t>
            </a:r>
            <a:pPr indent="0" marL="0">
              <a:buNone/>
            </a:pPr>
            <a:r>
              <a:rPr lang="en-US" sz="1200" dirty="0">
                <a:solidFill>
                  <a:srgbClr val="6F675B"/>
                </a:solidFill>
                <a:latin typeface="Georgia" pitchFamily="34" charset="0"/>
                <a:ea typeface="Georgia" pitchFamily="34" charset="-122"/>
                <a:cs typeface="Georgia" pitchFamily="34" charset="-120"/>
              </a:rPr>
              <a:t>saved a month</a:t>
            </a:r>
            <a:endParaRPr lang="en-US" sz="1800" dirty="0"/>
          </a:p>
        </p:txBody>
      </p:sp>
      <p:sp>
        <p:nvSpPr>
          <p:cNvPr id="51" name="Text 48"/>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B8321C"/>
                </a:solidFill>
                <a:latin typeface="Georgia" pitchFamily="34" charset="0"/>
                <a:ea typeface="Georgia" pitchFamily="34" charset="-122"/>
                <a:cs typeface="Georgia" pitchFamily="34" charset="-120"/>
              </a:rPr>
              <a:t>10 </a:t>
            </a:r>
            <a:pPr indent="0" marL="0">
              <a:buNone/>
            </a:pPr>
            <a:r>
              <a:rPr lang="en-US" sz="1200" dirty="0">
                <a:solidFill>
                  <a:srgbClr val="6F675B"/>
                </a:solidFill>
                <a:latin typeface="Georgia" pitchFamily="34" charset="0"/>
                <a:ea typeface="Georgia" pitchFamily="34" charset="-122"/>
                <a:cs typeface="Georgia" pitchFamily="34" charset="-120"/>
              </a:rPr>
              <a:t>done</a:t>
            </a:r>
            <a:endParaRPr lang="en-US" sz="1800" dirty="0"/>
          </a:p>
        </p:txBody>
      </p:sp>
      <p:sp>
        <p:nvSpPr>
          <p:cNvPr id="52" name="Text 49"/>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B8321C"/>
                </a:solidFill>
                <a:latin typeface="Georgia" pitchFamily="34" charset="0"/>
                <a:ea typeface="Georgia" pitchFamily="34" charset="-122"/>
                <a:cs typeface="Georgia" pitchFamily="34" charset="-120"/>
              </a:rPr>
              <a:t>11 </a:t>
            </a:r>
            <a:pPr indent="0" marL="0">
              <a:buNone/>
            </a:pPr>
            <a:r>
              <a:rPr lang="en-US" sz="1200" dirty="0">
                <a:solidFill>
                  <a:srgbClr val="6F675B"/>
                </a:solidFill>
                <a:latin typeface="Georgia" pitchFamily="34" charset="0"/>
                <a:ea typeface="Georgia" pitchFamily="34" charset="-122"/>
                <a:cs typeface="Georgia" pitchFamily="34" charset="-120"/>
              </a:rPr>
              <a:t>asked</a:t>
            </a:r>
            <a:endParaRPr lang="en-US" sz="1800" dirty="0"/>
          </a:p>
        </p:txBody>
      </p:sp>
      <p:sp>
        <p:nvSpPr>
          <p:cNvPr id="53" name="Text 50"/>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B8321C"/>
                </a:solidFill>
                <a:latin typeface="Georgia" pitchFamily="34" charset="0"/>
                <a:ea typeface="Georgia" pitchFamily="34" charset="-122"/>
                <a:cs typeface="Georgia" pitchFamily="34" charset="-120"/>
              </a:rPr>
              <a:t>2 </a:t>
            </a:r>
            <a:pPr indent="0" marL="0">
              <a:buNone/>
            </a:pPr>
            <a:r>
              <a:rPr lang="en-US" sz="1200" dirty="0">
                <a:solidFill>
                  <a:srgbClr val="6F675B"/>
                </a:solidFill>
                <a:latin typeface="Georgia" pitchFamily="34" charset="0"/>
                <a:ea typeface="Georgia" pitchFamily="34" charset="-122"/>
                <a:cs typeface="Georgia" pitchFamily="34" charset="-120"/>
              </a:rPr>
              <a:t>stopped</a:t>
            </a:r>
            <a:endParaRPr lang="en-US" sz="1800" dirty="0"/>
          </a:p>
        </p:txBody>
      </p:sp>
      <p:sp>
        <p:nvSpPr>
          <p:cNvPr id="54" name="Text 51"/>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B8321C"/>
                </a:solidFill>
                <a:latin typeface="Georgia" pitchFamily="34" charset="0"/>
                <a:ea typeface="Georgia" pitchFamily="34" charset="-122"/>
                <a:cs typeface="Georgia" pitchFamily="34" charset="-120"/>
              </a:rPr>
              <a:t>292 </a:t>
            </a:r>
            <a:pPr indent="0" marL="0">
              <a:buNone/>
            </a:pPr>
            <a:r>
              <a:rPr lang="en-US" sz="1200" dirty="0">
                <a:solidFill>
                  <a:srgbClr val="6F675B"/>
                </a:solidFill>
                <a:latin typeface="Georgia" pitchFamily="34" charset="0"/>
                <a:ea typeface="Georgia" pitchFamily="34" charset="-122"/>
                <a:cs typeface="Georgia"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05</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What the client sees</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5 of 12</a:t>
            </a:r>
            <a:endParaRPr lang="en-US" sz="900" dirty="0"/>
          </a:p>
        </p:txBody>
      </p:sp>
      <p:pic>
        <p:nvPicPr>
          <p:cNvPr id="10" name="Image 0" descr="/workspace/ShenzhenFinTechathonTopicA/docs/media/01_card_chat.png">    </p:cNvPr>
          <p:cNvPicPr>
            <a:picLocks noChangeAspect="1"/>
          </p:cNvPicPr>
          <p:nvPr/>
        </p:nvPicPr>
        <p:blipFill>
          <a:blip r:embed="rId1"/>
          <a:stretch>
            <a:fillRect/>
          </a:stretch>
        </p:blipFill>
        <p:spPr>
          <a:xfrm>
            <a:off x="914400" y="1188720"/>
            <a:ext cx="3108960" cy="3173283"/>
          </a:xfrm>
          <a:prstGeom prst="rect">
            <a:avLst/>
          </a:prstGeom>
        </p:spPr>
      </p:pic>
      <p:sp>
        <p:nvSpPr>
          <p:cNvPr id="11" name="Shape 7"/>
          <p:cNvSpPr/>
          <p:nvPr/>
        </p:nvSpPr>
        <p:spPr>
          <a:xfrm>
            <a:off x="914400" y="1188720"/>
            <a:ext cx="3108960" cy="3173283"/>
          </a:xfrm>
          <a:prstGeom prst="rect">
            <a:avLst/>
          </a:prstGeom>
          <a:ln w="12700">
            <a:solidFill>
              <a:srgbClr val="1B1712"/>
            </a:solidFill>
            <a:prstDash val="solid"/>
          </a:ln>
        </p:spPr>
      </p:sp>
      <p:sp>
        <p:nvSpPr>
          <p:cNvPr id="12" name="Text 8"/>
          <p:cNvSpPr/>
          <p:nvPr/>
        </p:nvSpPr>
        <p:spPr>
          <a:xfrm>
            <a:off x="457200" y="4398579"/>
            <a:ext cx="4023360" cy="274320"/>
          </a:xfrm>
          <a:prstGeom prst="rect">
            <a:avLst/>
          </a:prstGeom>
          <a:noFill/>
          <a:ln/>
        </p:spPr>
        <p:txBody>
          <a:bodyPr wrap="square" lIns="0" tIns="0" rIns="0" bIns="0" rtlCol="0" anchor="ctr"/>
          <a:lstStyle/>
          <a:p>
            <a:pPr algn="ctr" indent="0" marL="0">
              <a:buNone/>
            </a:pPr>
            <a:r>
              <a:rPr lang="en-US" sz="1100" i="1" dirty="0">
                <a:solidFill>
                  <a:srgbClr val="1B1712"/>
                </a:solidFill>
                <a:latin typeface="Georgia" pitchFamily="34" charset="0"/>
                <a:ea typeface="Georgia" pitchFamily="34" charset="-122"/>
                <a:cs typeface="Georgia" pitchFamily="34" charset="-120"/>
              </a:rPr>
              <a:t>A card: every field with its source, signed with the device key</a:t>
            </a:r>
            <a:endParaRPr lang="en-US" sz="1100" dirty="0"/>
          </a:p>
        </p:txBody>
      </p:sp>
      <p:pic>
        <p:nvPicPr>
          <p:cNvPr id="13" name="Image 1" descr="/workspace/ShenzhenFinTechathonTopicA/docs/media/06_fake_bill_chat.png">    </p:cNvPr>
          <p:cNvPicPr>
            <a:picLocks noChangeAspect="1"/>
          </p:cNvPicPr>
          <p:nvPr/>
        </p:nvPicPr>
        <p:blipFill>
          <a:blip r:embed="rId2"/>
          <a:stretch>
            <a:fillRect/>
          </a:stretch>
        </p:blipFill>
        <p:spPr>
          <a:xfrm>
            <a:off x="5120640" y="1188720"/>
            <a:ext cx="3108960" cy="3173283"/>
          </a:xfrm>
          <a:prstGeom prst="rect">
            <a:avLst/>
          </a:prstGeom>
        </p:spPr>
      </p:pic>
      <p:sp>
        <p:nvSpPr>
          <p:cNvPr id="14" name="Shape 9"/>
          <p:cNvSpPr/>
          <p:nvPr/>
        </p:nvSpPr>
        <p:spPr>
          <a:xfrm>
            <a:off x="5120640" y="1188720"/>
            <a:ext cx="3108960" cy="3173283"/>
          </a:xfrm>
          <a:prstGeom prst="rect">
            <a:avLst/>
          </a:prstGeom>
          <a:ln w="12700">
            <a:solidFill>
              <a:srgbClr val="1B1712"/>
            </a:solidFill>
            <a:prstDash val="solid"/>
          </a:ln>
        </p:spPr>
      </p:sp>
      <p:sp>
        <p:nvSpPr>
          <p:cNvPr id="15" name="Text 10"/>
          <p:cNvSpPr/>
          <p:nvPr/>
        </p:nvSpPr>
        <p:spPr>
          <a:xfrm>
            <a:off x="4663440" y="4398579"/>
            <a:ext cx="4023360" cy="274320"/>
          </a:xfrm>
          <a:prstGeom prst="rect">
            <a:avLst/>
          </a:prstGeom>
          <a:noFill/>
          <a:ln/>
        </p:spPr>
        <p:txBody>
          <a:bodyPr wrap="square" lIns="0" tIns="0" rIns="0" bIns="0" rtlCol="0" anchor="ctr"/>
          <a:lstStyle/>
          <a:p>
            <a:pPr algn="ctr" indent="0" marL="0">
              <a:buNone/>
            </a:pPr>
            <a:r>
              <a:rPr lang="en-US" sz="1100" i="1" dirty="0">
                <a:solidFill>
                  <a:srgbClr val="1B1712"/>
                </a:solidFill>
                <a:latin typeface="Georgia" pitchFamily="34" charset="0"/>
                <a:ea typeface="Georgia" pitchFamily="34" charset="-122"/>
                <a:cs typeface="Georgia" pitchFamily="34" charset="-120"/>
              </a:rPr>
              <a:t>A fake bill: stopped with reasons, case sent to analysts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06</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Architecture</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6 of 12</a:t>
            </a:r>
            <a:endParaRPr lang="en-US" sz="900" dirty="0"/>
          </a:p>
        </p:txBody>
      </p:sp>
      <p:pic>
        <p:nvPicPr>
          <p:cNvPr id="10" name="Image 0" descr="/workspace/ShenzhenFinTechathonTopicA/docs/diagrams/architecture.png">    </p:cNvPr>
          <p:cNvPicPr>
            <a:picLocks noChangeAspect="1"/>
          </p:cNvPicPr>
          <p:nvPr/>
        </p:nvPicPr>
        <p:blipFill>
          <a:blip r:embed="rId1"/>
          <a:stretch>
            <a:fillRect/>
          </a:stretch>
        </p:blipFill>
        <p:spPr>
          <a:xfrm>
            <a:off x="457200" y="1005840"/>
            <a:ext cx="8229600" cy="41516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07</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One kernel pipeline for every intent</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7 of 12</a:t>
            </a:r>
            <a:endParaRPr lang="en-US" sz="900" dirty="0"/>
          </a:p>
        </p:txBody>
      </p:sp>
      <p:sp>
        <p:nvSpPr>
          <p:cNvPr id="10" name="Shape 7"/>
          <p:cNvSpPr/>
          <p:nvPr/>
        </p:nvSpPr>
        <p:spPr>
          <a:xfrm>
            <a:off x="457200" y="1234440"/>
            <a:ext cx="1234440" cy="640080"/>
          </a:xfrm>
          <a:prstGeom prst="rect">
            <a:avLst/>
          </a:prstGeom>
          <a:solidFill>
            <a:srgbClr val="FFFFFF"/>
          </a:solidFill>
          <a:ln w="12700">
            <a:solidFill>
              <a:srgbClr val="1B1712"/>
            </a:solidFill>
            <a:prstDash val="solid"/>
          </a:ln>
        </p:spPr>
      </p:sp>
      <p:sp>
        <p:nvSpPr>
          <p:cNvPr id="11" name="Text 8"/>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01</a:t>
            </a:r>
            <a:endParaRPr lang="en-US" sz="800" dirty="0"/>
          </a:p>
        </p:txBody>
      </p:sp>
      <p:sp>
        <p:nvSpPr>
          <p:cNvPr id="12" name="Text 9"/>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Passport</a:t>
            </a:r>
            <a:endParaRPr lang="en-US" sz="1200" dirty="0"/>
          </a:p>
        </p:txBody>
      </p:sp>
      <p:sp>
        <p:nvSpPr>
          <p:cNvPr id="13" name="Text 10"/>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14" name="Shape 11"/>
          <p:cNvSpPr/>
          <p:nvPr/>
        </p:nvSpPr>
        <p:spPr>
          <a:xfrm>
            <a:off x="1828800" y="1234440"/>
            <a:ext cx="1234440" cy="640080"/>
          </a:xfrm>
          <a:prstGeom prst="rect">
            <a:avLst/>
          </a:prstGeom>
          <a:solidFill>
            <a:srgbClr val="FFFFFF"/>
          </a:solidFill>
          <a:ln w="12700">
            <a:solidFill>
              <a:srgbClr val="1B1712"/>
            </a:solidFill>
            <a:prstDash val="solid"/>
          </a:ln>
        </p:spPr>
      </p:sp>
      <p:sp>
        <p:nvSpPr>
          <p:cNvPr id="15" name="Text 12"/>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02</a:t>
            </a:r>
            <a:endParaRPr lang="en-US" sz="800" dirty="0"/>
          </a:p>
        </p:txBody>
      </p:sp>
      <p:sp>
        <p:nvSpPr>
          <p:cNvPr id="16" name="Text 13"/>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Schema</a:t>
            </a:r>
            <a:endParaRPr lang="en-US" sz="1200" dirty="0"/>
          </a:p>
        </p:txBody>
      </p:sp>
      <p:sp>
        <p:nvSpPr>
          <p:cNvPr id="17" name="Text 14"/>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18" name="Shape 15"/>
          <p:cNvSpPr/>
          <p:nvPr/>
        </p:nvSpPr>
        <p:spPr>
          <a:xfrm>
            <a:off x="3200400" y="1234440"/>
            <a:ext cx="1234440" cy="640080"/>
          </a:xfrm>
          <a:prstGeom prst="rect">
            <a:avLst/>
          </a:prstGeom>
          <a:solidFill>
            <a:srgbClr val="FFFFFF"/>
          </a:solidFill>
          <a:ln w="12700">
            <a:solidFill>
              <a:srgbClr val="1B1712"/>
            </a:solidFill>
            <a:prstDash val="solid"/>
          </a:ln>
        </p:spPr>
      </p:sp>
      <p:sp>
        <p:nvSpPr>
          <p:cNvPr id="19" name="Text 16"/>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03</a:t>
            </a:r>
            <a:endParaRPr lang="en-US" sz="800" dirty="0"/>
          </a:p>
        </p:txBody>
      </p:sp>
      <p:sp>
        <p:nvSpPr>
          <p:cNvPr id="20" name="Text 17"/>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Mandate</a:t>
            </a:r>
            <a:endParaRPr lang="en-US" sz="1200" dirty="0"/>
          </a:p>
        </p:txBody>
      </p:sp>
      <p:sp>
        <p:nvSpPr>
          <p:cNvPr id="21" name="Text 18"/>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22" name="Shape 19"/>
          <p:cNvSpPr/>
          <p:nvPr/>
        </p:nvSpPr>
        <p:spPr>
          <a:xfrm>
            <a:off x="4572000" y="1234440"/>
            <a:ext cx="1234440" cy="640080"/>
          </a:xfrm>
          <a:prstGeom prst="rect">
            <a:avLst/>
          </a:prstGeom>
          <a:solidFill>
            <a:srgbClr val="FFFFFF"/>
          </a:solidFill>
          <a:ln w="12700">
            <a:solidFill>
              <a:srgbClr val="1B1712"/>
            </a:solidFill>
            <a:prstDash val="solid"/>
          </a:ln>
        </p:spPr>
      </p:sp>
      <p:sp>
        <p:nvSpPr>
          <p:cNvPr id="23" name="Text 20"/>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04</a:t>
            </a:r>
            <a:endParaRPr lang="en-US" sz="800" dirty="0"/>
          </a:p>
        </p:txBody>
      </p:sp>
      <p:sp>
        <p:nvSpPr>
          <p:cNvPr id="24" name="Text 21"/>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Provenance</a:t>
            </a:r>
            <a:endParaRPr lang="en-US" sz="1200" dirty="0"/>
          </a:p>
        </p:txBody>
      </p:sp>
      <p:sp>
        <p:nvSpPr>
          <p:cNvPr id="25" name="Text 22"/>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26" name="Shape 23"/>
          <p:cNvSpPr/>
          <p:nvPr/>
        </p:nvSpPr>
        <p:spPr>
          <a:xfrm>
            <a:off x="5943600" y="1234440"/>
            <a:ext cx="1234440" cy="640080"/>
          </a:xfrm>
          <a:prstGeom prst="rect">
            <a:avLst/>
          </a:prstGeom>
          <a:solidFill>
            <a:srgbClr val="FFFFFF"/>
          </a:solidFill>
          <a:ln w="12700">
            <a:solidFill>
              <a:srgbClr val="1B1712"/>
            </a:solidFill>
            <a:prstDash val="solid"/>
          </a:ln>
        </p:spPr>
      </p:sp>
      <p:sp>
        <p:nvSpPr>
          <p:cNvPr id="27" name="Text 24"/>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05</a:t>
            </a:r>
            <a:endParaRPr lang="en-US" sz="800" dirty="0"/>
          </a:p>
        </p:txBody>
      </p:sp>
      <p:sp>
        <p:nvSpPr>
          <p:cNvPr id="28" name="Text 25"/>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References</a:t>
            </a:r>
            <a:endParaRPr lang="en-US" sz="1200" dirty="0"/>
          </a:p>
        </p:txBody>
      </p:sp>
      <p:sp>
        <p:nvSpPr>
          <p:cNvPr id="29" name="Text 26"/>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30" name="Shape 27"/>
          <p:cNvSpPr/>
          <p:nvPr/>
        </p:nvSpPr>
        <p:spPr>
          <a:xfrm>
            <a:off x="7315200" y="1234440"/>
            <a:ext cx="1234440" cy="640080"/>
          </a:xfrm>
          <a:prstGeom prst="rect">
            <a:avLst/>
          </a:prstGeom>
          <a:solidFill>
            <a:srgbClr val="FFFFFF"/>
          </a:solidFill>
          <a:ln w="12700">
            <a:solidFill>
              <a:srgbClr val="1B1712"/>
            </a:solidFill>
            <a:prstDash val="solid"/>
          </a:ln>
        </p:spPr>
      </p:sp>
      <p:sp>
        <p:nvSpPr>
          <p:cNvPr id="31" name="Text 28"/>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06</a:t>
            </a:r>
            <a:endParaRPr lang="en-US" sz="800" dirty="0"/>
          </a:p>
        </p:txBody>
      </p:sp>
      <p:sp>
        <p:nvSpPr>
          <p:cNvPr id="32" name="Text 29"/>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Policy</a:t>
            </a:r>
            <a:endParaRPr lang="en-US" sz="1200" dirty="0"/>
          </a:p>
        </p:txBody>
      </p:sp>
      <p:sp>
        <p:nvSpPr>
          <p:cNvPr id="33" name="Shape 30"/>
          <p:cNvSpPr/>
          <p:nvPr/>
        </p:nvSpPr>
        <p:spPr>
          <a:xfrm>
            <a:off x="457200" y="2103120"/>
            <a:ext cx="1234440" cy="640080"/>
          </a:xfrm>
          <a:prstGeom prst="rect">
            <a:avLst/>
          </a:prstGeom>
          <a:solidFill>
            <a:srgbClr val="FFFFFF"/>
          </a:solidFill>
          <a:ln w="12700">
            <a:solidFill>
              <a:srgbClr val="1B1712"/>
            </a:solidFill>
            <a:prstDash val="solid"/>
          </a:ln>
        </p:spPr>
      </p:sp>
      <p:sp>
        <p:nvSpPr>
          <p:cNvPr id="34" name="Text 31"/>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07</a:t>
            </a:r>
            <a:endParaRPr lang="en-US" sz="800" dirty="0"/>
          </a:p>
        </p:txBody>
      </p:sp>
      <p:sp>
        <p:nvSpPr>
          <p:cNvPr id="35" name="Text 32"/>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Risk</a:t>
            </a:r>
            <a:endParaRPr lang="en-US" sz="1200" dirty="0"/>
          </a:p>
        </p:txBody>
      </p:sp>
      <p:sp>
        <p:nvSpPr>
          <p:cNvPr id="36" name="Text 33"/>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37" name="Shape 34"/>
          <p:cNvSpPr/>
          <p:nvPr/>
        </p:nvSpPr>
        <p:spPr>
          <a:xfrm>
            <a:off x="1828800" y="2103120"/>
            <a:ext cx="1234440" cy="640080"/>
          </a:xfrm>
          <a:prstGeom prst="rect">
            <a:avLst/>
          </a:prstGeom>
          <a:solidFill>
            <a:srgbClr val="FFFFFF"/>
          </a:solidFill>
          <a:ln w="12700">
            <a:solidFill>
              <a:srgbClr val="1B1712"/>
            </a:solidFill>
            <a:prstDash val="solid"/>
          </a:ln>
        </p:spPr>
      </p:sp>
      <p:sp>
        <p:nvSpPr>
          <p:cNvPr id="38" name="Text 35"/>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08</a:t>
            </a:r>
            <a:endParaRPr lang="en-US" sz="800" dirty="0"/>
          </a:p>
        </p:txBody>
      </p:sp>
      <p:sp>
        <p:nvSpPr>
          <p:cNvPr id="39" name="Text 36"/>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Critic</a:t>
            </a:r>
            <a:endParaRPr lang="en-US" sz="1200" dirty="0"/>
          </a:p>
        </p:txBody>
      </p:sp>
      <p:sp>
        <p:nvSpPr>
          <p:cNvPr id="40" name="Text 37"/>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41" name="Shape 38"/>
          <p:cNvSpPr/>
          <p:nvPr/>
        </p:nvSpPr>
        <p:spPr>
          <a:xfrm>
            <a:off x="3200400" y="2103120"/>
            <a:ext cx="1234440" cy="640080"/>
          </a:xfrm>
          <a:prstGeom prst="rect">
            <a:avLst/>
          </a:prstGeom>
          <a:solidFill>
            <a:srgbClr val="FFFFFF"/>
          </a:solidFill>
          <a:ln w="12700">
            <a:solidFill>
              <a:srgbClr val="1B1712"/>
            </a:solidFill>
            <a:prstDash val="solid"/>
          </a:ln>
        </p:spPr>
      </p:sp>
      <p:sp>
        <p:nvSpPr>
          <p:cNvPr id="42" name="Text 39"/>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B8321C"/>
                </a:solidFill>
                <a:latin typeface="Georgia" pitchFamily="34" charset="0"/>
                <a:ea typeface="Georgia" pitchFamily="34" charset="-122"/>
                <a:cs typeface="Georgia" pitchFamily="34" charset="-120"/>
              </a:rPr>
              <a:t>09</a:t>
            </a:r>
            <a:endParaRPr lang="en-US" sz="800" dirty="0"/>
          </a:p>
        </p:txBody>
      </p:sp>
      <p:sp>
        <p:nvSpPr>
          <p:cNvPr id="43" name="Text 40"/>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B1712"/>
                </a:solidFill>
                <a:latin typeface="Georgia" pitchFamily="34" charset="0"/>
                <a:ea typeface="Georgia" pitchFamily="34" charset="-122"/>
                <a:cs typeface="Georgia" pitchFamily="34" charset="-120"/>
              </a:rPr>
              <a:t>Shadow run</a:t>
            </a:r>
            <a:endParaRPr lang="en-US" sz="1200" dirty="0"/>
          </a:p>
        </p:txBody>
      </p:sp>
      <p:sp>
        <p:nvSpPr>
          <p:cNvPr id="44" name="Text 41"/>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45" name="Shape 42"/>
          <p:cNvSpPr/>
          <p:nvPr/>
        </p:nvSpPr>
        <p:spPr>
          <a:xfrm>
            <a:off x="4572000" y="2103120"/>
            <a:ext cx="1234440" cy="640080"/>
          </a:xfrm>
          <a:prstGeom prst="rect">
            <a:avLst/>
          </a:prstGeom>
          <a:solidFill>
            <a:srgbClr val="B8321C"/>
          </a:solidFill>
          <a:ln w="12700">
            <a:solidFill>
              <a:srgbClr val="B8321C"/>
            </a:solidFill>
            <a:prstDash val="solid"/>
          </a:ln>
        </p:spPr>
      </p:sp>
      <p:sp>
        <p:nvSpPr>
          <p:cNvPr id="46" name="Text 43"/>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FFF8EE"/>
                </a:solidFill>
                <a:latin typeface="Georgia" pitchFamily="34" charset="0"/>
                <a:ea typeface="Georgia" pitchFamily="34" charset="-122"/>
                <a:cs typeface="Georgia" pitchFamily="34" charset="-120"/>
              </a:rPr>
              <a:t>10</a:t>
            </a:r>
            <a:endParaRPr lang="en-US" sz="800" dirty="0"/>
          </a:p>
        </p:txBody>
      </p:sp>
      <p:sp>
        <p:nvSpPr>
          <p:cNvPr id="47" name="Text 44"/>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Execute</a:t>
            </a:r>
            <a:endParaRPr lang="en-US" sz="1200" dirty="0"/>
          </a:p>
        </p:txBody>
      </p:sp>
      <p:sp>
        <p:nvSpPr>
          <p:cNvPr id="48" name="Text 45"/>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B8321C"/>
                </a:solidFill>
                <a:latin typeface="Georgia" pitchFamily="34" charset="0"/>
                <a:ea typeface="Georgia" pitchFamily="34" charset="-122"/>
                <a:cs typeface="Georgia" pitchFamily="34" charset="-120"/>
              </a:rPr>
              <a:t>›</a:t>
            </a:r>
            <a:endParaRPr lang="en-US" sz="1800" dirty="0"/>
          </a:p>
        </p:txBody>
      </p:sp>
      <p:sp>
        <p:nvSpPr>
          <p:cNvPr id="49" name="Shape 46"/>
          <p:cNvSpPr/>
          <p:nvPr/>
        </p:nvSpPr>
        <p:spPr>
          <a:xfrm>
            <a:off x="5943600" y="2103120"/>
            <a:ext cx="1234440" cy="640080"/>
          </a:xfrm>
          <a:prstGeom prst="rect">
            <a:avLst/>
          </a:prstGeom>
          <a:solidFill>
            <a:srgbClr val="B8321C"/>
          </a:solidFill>
          <a:ln w="12700">
            <a:solidFill>
              <a:srgbClr val="B8321C"/>
            </a:solidFill>
            <a:prstDash val="solid"/>
          </a:ln>
        </p:spPr>
      </p:sp>
      <p:sp>
        <p:nvSpPr>
          <p:cNvPr id="50" name="Text 47"/>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FFF8EE"/>
                </a:solidFill>
                <a:latin typeface="Georgia" pitchFamily="34" charset="0"/>
                <a:ea typeface="Georgia" pitchFamily="34" charset="-122"/>
                <a:cs typeface="Georgia" pitchFamily="34" charset="-120"/>
              </a:rPr>
              <a:t>11</a:t>
            </a:r>
            <a:endParaRPr lang="en-US" sz="800" dirty="0"/>
          </a:p>
        </p:txBody>
      </p:sp>
      <p:sp>
        <p:nvSpPr>
          <p:cNvPr id="51" name="Text 48"/>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Verify</a:t>
            </a:r>
            <a:endParaRPr lang="en-US" sz="1200" dirty="0"/>
          </a:p>
        </p:txBody>
      </p:sp>
      <p:sp>
        <p:nvSpPr>
          <p:cNvPr id="52" name="Text 49"/>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B8321C"/>
                </a:solidFill>
                <a:latin typeface="Calibri" pitchFamily="34" charset="0"/>
                <a:ea typeface="Calibri" pitchFamily="34" charset="-122"/>
                <a:cs typeface="Calibri" pitchFamily="34" charset="-120"/>
              </a:rPr>
              <a:t>Provenance  </a:t>
            </a:r>
            <a:pPr indent="0" marL="0">
              <a:buNone/>
            </a:pPr>
            <a:r>
              <a:rPr lang="en-US" sz="1200" dirty="0">
                <a:solidFill>
                  <a:srgbClr val="1B1712"/>
                </a:solidFill>
                <a:latin typeface="Calibri" pitchFamily="34" charset="0"/>
                <a:ea typeface="Calibri" pitchFamily="34" charset="-122"/>
                <a:cs typeface="Calibri" pitchFamily="34" charset="-120"/>
              </a:rPr>
              <a:t>CLIENT · BANK · UNTRUSTED. A value from a bill or a web page can never set the payee or the amount.</a:t>
            </a:r>
            <a:endParaRPr lang="en-US" sz="1200" dirty="0"/>
          </a:p>
        </p:txBody>
      </p:sp>
      <p:sp>
        <p:nvSpPr>
          <p:cNvPr id="53" name="Text 50"/>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B8321C"/>
                </a:solidFill>
                <a:latin typeface="Calibri" pitchFamily="34" charset="0"/>
                <a:ea typeface="Calibri" pitchFamily="34" charset="-122"/>
                <a:cs typeface="Calibri" pitchFamily="34" charset="-120"/>
              </a:rPr>
              <a:t>Critic  </a:t>
            </a:r>
            <a:pPr indent="0" marL="0">
              <a:buNone/>
            </a:pPr>
            <a:r>
              <a:rPr lang="en-US" sz="1200" dirty="0">
                <a:solidFill>
                  <a:srgbClr val="1B1712"/>
                </a:solidFill>
                <a:latin typeface="Calibri" pitchFamily="34" charset="0"/>
                <a:ea typeface="Calibri" pitchFamily="34" charset="-122"/>
                <a:cs typeface="Calibri" pitchFamily="34" charset="-120"/>
              </a:rPr>
              <a:t>A second model sees only the client's words and the card, not the documents an attacker controls.</a:t>
            </a:r>
            <a:endParaRPr lang="en-US" sz="1200" dirty="0"/>
          </a:p>
        </p:txBody>
      </p:sp>
      <p:sp>
        <p:nvSpPr>
          <p:cNvPr id="54" name="Text 51"/>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B8321C"/>
                </a:solidFill>
                <a:latin typeface="Calibri" pitchFamily="34" charset="0"/>
                <a:ea typeface="Calibri" pitchFamily="34" charset="-122"/>
                <a:cs typeface="Calibri" pitchFamily="34" charset="-120"/>
              </a:rPr>
              <a:t>Shadow run  </a:t>
            </a:r>
            <a:pPr indent="0" marL="0">
              <a:buNone/>
            </a:pPr>
            <a:r>
              <a:rPr lang="en-US" sz="1200" dirty="0">
                <a:solidFill>
                  <a:srgbClr val="1B1712"/>
                </a:solidFill>
                <a:latin typeface="Calibri" pitchFamily="34" charset="0"/>
                <a:ea typeface="Calibri" pitchFamily="34" charset="-122"/>
                <a:cs typeface="Calibri" pitchFamily="34" charset="-120"/>
              </a:rPr>
              <a:t>The payment is rehearsed in a copy of the bank; if money moves differently, it is denied.</a:t>
            </a:r>
            <a:endParaRPr lang="en-US" sz="1200" dirty="0"/>
          </a:p>
        </p:txBody>
      </p:sp>
      <p:sp>
        <p:nvSpPr>
          <p:cNvPr id="55" name="Text 52"/>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B8321C"/>
                </a:solidFill>
                <a:latin typeface="Calibri" pitchFamily="34" charset="0"/>
                <a:ea typeface="Calibri" pitchFamily="34" charset="-122"/>
                <a:cs typeface="Calibri" pitchFamily="34" charset="-120"/>
              </a:rPr>
              <a:t>Trust levels 0, 1, 2  </a:t>
            </a:r>
            <a:pPr indent="0" marL="0">
              <a:buNone/>
            </a:pPr>
            <a:r>
              <a:rPr lang="en-US" sz="1200" dirty="0">
                <a:solidFill>
                  <a:srgbClr val="1B1712"/>
                </a:solidFill>
                <a:latin typeface="Calibri" pitchFamily="34" charset="0"/>
                <a:ea typeface="Calibri" pitchFamily="34" charset="-122"/>
                <a:cs typeface="Calibri" pitchFamily="34" charset="-120"/>
              </a:rPr>
              <a:t>Level 1 limit 1 000 ₽;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08</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Budget and payee risk: measured, not claimed</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8 of 12</a:t>
            </a:r>
            <a:endParaRPr lang="en-US" sz="900" dirty="0"/>
          </a:p>
        </p:txBody>
      </p:sp>
      <p:sp>
        <p:nvSpPr>
          <p:cNvPr id="10" name="Text 7"/>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9E2A16"/>
                </a:solidFill>
                <a:latin typeface="Georgia" pitchFamily="34" charset="0"/>
                <a:ea typeface="Georgia" pitchFamily="34" charset="-122"/>
                <a:cs typeface="Georgia" pitchFamily="34" charset="-120"/>
              </a:rPr>
              <a:t>C8 budget</a:t>
            </a:r>
            <a:endParaRPr lang="en-US" sz="1700" dirty="0"/>
          </a:p>
        </p:txBody>
      </p:sp>
      <p:sp>
        <p:nvSpPr>
          <p:cNvPr id="11" name="Text 8"/>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9E2A16"/>
                </a:solidFill>
                <a:latin typeface="Georgia" pitchFamily="34" charset="0"/>
                <a:ea typeface="Georgia" pitchFamily="34" charset="-122"/>
                <a:cs typeface="Georgia" pitchFamily="34" charset="-120"/>
              </a:rPr>
              <a:t>C10 payee risk on the transfer graph</a:t>
            </a:r>
            <a:endParaRPr lang="en-US" sz="1700" dirty="0"/>
          </a:p>
        </p:txBody>
      </p:sp>
      <p:sp>
        <p:nvSpPr>
          <p:cNvPr id="12" name="Shape 9"/>
          <p:cNvSpPr/>
          <p:nvPr/>
        </p:nvSpPr>
        <p:spPr>
          <a:xfrm>
            <a:off x="457200" y="1554480"/>
            <a:ext cx="1920240" cy="0"/>
          </a:xfrm>
          <a:prstGeom prst="line">
            <a:avLst/>
          </a:prstGeom>
          <a:noFill/>
          <a:ln w="25400">
            <a:solidFill>
              <a:srgbClr val="1B1712"/>
            </a:solidFill>
            <a:prstDash val="solid"/>
          </a:ln>
        </p:spPr>
      </p:sp>
      <p:sp>
        <p:nvSpPr>
          <p:cNvPr id="13" name="Shape 10"/>
          <p:cNvSpPr/>
          <p:nvPr/>
        </p:nvSpPr>
        <p:spPr>
          <a:xfrm>
            <a:off x="457200" y="1627632"/>
            <a:ext cx="73152" cy="566928"/>
          </a:xfrm>
          <a:prstGeom prst="rect">
            <a:avLst/>
          </a:prstGeom>
          <a:solidFill>
            <a:srgbClr val="B8321C"/>
          </a:solidFill>
          <a:ln w="12700">
            <a:solidFill>
              <a:srgbClr val="B8321C"/>
            </a:solidFill>
            <a:prstDash val="solid"/>
          </a:ln>
        </p:spPr>
      </p:sp>
      <p:sp>
        <p:nvSpPr>
          <p:cNvPr id="14" name="Text 11"/>
          <p:cNvSpPr/>
          <p:nvPr/>
        </p:nvSpPr>
        <p:spPr>
          <a:xfrm>
            <a:off x="621792" y="16276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5/5</a:t>
            </a:r>
            <a:endParaRPr lang="en-US" sz="3000" dirty="0"/>
          </a:p>
        </p:txBody>
      </p:sp>
      <p:sp>
        <p:nvSpPr>
          <p:cNvPr id="15" name="Text 12"/>
          <p:cNvSpPr/>
          <p:nvPr/>
        </p:nvSpPr>
        <p:spPr>
          <a:xfrm>
            <a:off x="457200" y="22677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planted leaks found, 847 ₽ a month</a:t>
            </a:r>
            <a:endParaRPr lang="en-US" sz="1100" dirty="0"/>
          </a:p>
        </p:txBody>
      </p:sp>
      <p:sp>
        <p:nvSpPr>
          <p:cNvPr id="16" name="Shape 13"/>
          <p:cNvSpPr/>
          <p:nvPr/>
        </p:nvSpPr>
        <p:spPr>
          <a:xfrm>
            <a:off x="2560320" y="1554480"/>
            <a:ext cx="1920240" cy="0"/>
          </a:xfrm>
          <a:prstGeom prst="line">
            <a:avLst/>
          </a:prstGeom>
          <a:noFill/>
          <a:ln w="25400">
            <a:solidFill>
              <a:srgbClr val="1B1712"/>
            </a:solidFill>
            <a:prstDash val="solid"/>
          </a:ln>
        </p:spPr>
      </p:sp>
      <p:sp>
        <p:nvSpPr>
          <p:cNvPr id="17" name="Shape 14"/>
          <p:cNvSpPr/>
          <p:nvPr/>
        </p:nvSpPr>
        <p:spPr>
          <a:xfrm>
            <a:off x="2560320" y="1627632"/>
            <a:ext cx="73152" cy="566928"/>
          </a:xfrm>
          <a:prstGeom prst="rect">
            <a:avLst/>
          </a:prstGeom>
          <a:solidFill>
            <a:srgbClr val="B8321C"/>
          </a:solidFill>
          <a:ln w="12700">
            <a:solidFill>
              <a:srgbClr val="B8321C"/>
            </a:solidFill>
            <a:prstDash val="solid"/>
          </a:ln>
        </p:spPr>
      </p:sp>
      <p:sp>
        <p:nvSpPr>
          <p:cNvPr id="18" name="Text 15"/>
          <p:cNvSpPr/>
          <p:nvPr/>
        </p:nvSpPr>
        <p:spPr>
          <a:xfrm>
            <a:off x="2724912" y="16276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27.3%</a:t>
            </a:r>
            <a:endParaRPr lang="en-US" sz="3000" dirty="0"/>
          </a:p>
        </p:txBody>
      </p:sp>
      <p:sp>
        <p:nvSpPr>
          <p:cNvPr id="19" name="Text 16"/>
          <p:cNvSpPr/>
          <p:nvPr/>
        </p:nvSpPr>
        <p:spPr>
          <a:xfrm>
            <a:off x="2560320" y="22677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spending forecast error (WAPE), held-out months</a:t>
            </a:r>
            <a:endParaRPr lang="en-US" sz="1100" dirty="0"/>
          </a:p>
        </p:txBody>
      </p:sp>
      <p:sp>
        <p:nvSpPr>
          <p:cNvPr id="20" name="Shape 17"/>
          <p:cNvSpPr/>
          <p:nvPr/>
        </p:nvSpPr>
        <p:spPr>
          <a:xfrm>
            <a:off x="457200" y="2926080"/>
            <a:ext cx="1920240" cy="0"/>
          </a:xfrm>
          <a:prstGeom prst="line">
            <a:avLst/>
          </a:prstGeom>
          <a:noFill/>
          <a:ln w="25400">
            <a:solidFill>
              <a:srgbClr val="1B1712"/>
            </a:solidFill>
            <a:prstDash val="solid"/>
          </a:ln>
        </p:spPr>
      </p:sp>
      <p:sp>
        <p:nvSpPr>
          <p:cNvPr id="21" name="Shape 18"/>
          <p:cNvSpPr/>
          <p:nvPr/>
        </p:nvSpPr>
        <p:spPr>
          <a:xfrm>
            <a:off x="457200" y="2999232"/>
            <a:ext cx="73152" cy="566928"/>
          </a:xfrm>
          <a:prstGeom prst="rect">
            <a:avLst/>
          </a:prstGeom>
          <a:solidFill>
            <a:srgbClr val="B8321C"/>
          </a:solidFill>
          <a:ln w="12700">
            <a:solidFill>
              <a:srgbClr val="B8321C"/>
            </a:solidFill>
            <a:prstDash val="solid"/>
          </a:ln>
        </p:spPr>
      </p:sp>
      <p:sp>
        <p:nvSpPr>
          <p:cNvPr id="22" name="Text 19"/>
          <p:cNvSpPr/>
          <p:nvPr/>
        </p:nvSpPr>
        <p:spPr>
          <a:xfrm>
            <a:off x="621792" y="29992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1/1</a:t>
            </a:r>
            <a:endParaRPr lang="en-US" sz="3000" dirty="0"/>
          </a:p>
        </p:txBody>
      </p:sp>
      <p:sp>
        <p:nvSpPr>
          <p:cNvPr id="23" name="Text 20"/>
          <p:cNvSpPr/>
          <p:nvPr/>
        </p:nvSpPr>
        <p:spPr>
          <a:xfrm>
            <a:off x="457200" y="36393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cash gap caught in time, 0 false alarms in 18 probes</a:t>
            </a:r>
            <a:endParaRPr lang="en-US" sz="1100" dirty="0"/>
          </a:p>
        </p:txBody>
      </p:sp>
      <p:sp>
        <p:nvSpPr>
          <p:cNvPr id="24" name="Shape 21"/>
          <p:cNvSpPr/>
          <p:nvPr/>
        </p:nvSpPr>
        <p:spPr>
          <a:xfrm>
            <a:off x="2560320" y="2926080"/>
            <a:ext cx="1920240" cy="0"/>
          </a:xfrm>
          <a:prstGeom prst="line">
            <a:avLst/>
          </a:prstGeom>
          <a:noFill/>
          <a:ln w="25400">
            <a:solidFill>
              <a:srgbClr val="1B1712"/>
            </a:solidFill>
            <a:prstDash val="solid"/>
          </a:ln>
        </p:spPr>
      </p:sp>
      <p:sp>
        <p:nvSpPr>
          <p:cNvPr id="25" name="Shape 22"/>
          <p:cNvSpPr/>
          <p:nvPr/>
        </p:nvSpPr>
        <p:spPr>
          <a:xfrm>
            <a:off x="2560320" y="2999232"/>
            <a:ext cx="73152" cy="566928"/>
          </a:xfrm>
          <a:prstGeom prst="rect">
            <a:avLst/>
          </a:prstGeom>
          <a:solidFill>
            <a:srgbClr val="B8321C"/>
          </a:solidFill>
          <a:ln w="12700">
            <a:solidFill>
              <a:srgbClr val="B8321C"/>
            </a:solidFill>
            <a:prstDash val="solid"/>
          </a:ln>
        </p:spPr>
      </p:sp>
      <p:sp>
        <p:nvSpPr>
          <p:cNvPr id="26" name="Text 23"/>
          <p:cNvSpPr/>
          <p:nvPr/>
        </p:nvSpPr>
        <p:spPr>
          <a:xfrm>
            <a:off x="2724912" y="29992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1/1</a:t>
            </a:r>
            <a:endParaRPr lang="en-US" sz="3000" dirty="0"/>
          </a:p>
        </p:txBody>
      </p:sp>
      <p:sp>
        <p:nvSpPr>
          <p:cNvPr id="27" name="Text 24"/>
          <p:cNvSpPr/>
          <p:nvPr/>
        </p:nvSpPr>
        <p:spPr>
          <a:xfrm>
            <a:off x="2560320" y="36393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double charge on the same card found</a:t>
            </a:r>
            <a:endParaRPr lang="en-US" sz="1100" dirty="0"/>
          </a:p>
        </p:txBody>
      </p:sp>
      <p:sp>
        <p:nvSpPr>
          <p:cNvPr id="28" name="Shape 25"/>
          <p:cNvSpPr/>
          <p:nvPr/>
        </p:nvSpPr>
        <p:spPr>
          <a:xfrm>
            <a:off x="4663440" y="1554480"/>
            <a:ext cx="1920240" cy="0"/>
          </a:xfrm>
          <a:prstGeom prst="line">
            <a:avLst/>
          </a:prstGeom>
          <a:noFill/>
          <a:ln w="25400">
            <a:solidFill>
              <a:srgbClr val="1B1712"/>
            </a:solidFill>
            <a:prstDash val="solid"/>
          </a:ln>
        </p:spPr>
      </p:sp>
      <p:sp>
        <p:nvSpPr>
          <p:cNvPr id="29" name="Shape 26"/>
          <p:cNvSpPr/>
          <p:nvPr/>
        </p:nvSpPr>
        <p:spPr>
          <a:xfrm>
            <a:off x="4663440" y="1627632"/>
            <a:ext cx="73152" cy="566928"/>
          </a:xfrm>
          <a:prstGeom prst="rect">
            <a:avLst/>
          </a:prstGeom>
          <a:solidFill>
            <a:srgbClr val="B8321C"/>
          </a:solidFill>
          <a:ln w="12700">
            <a:solidFill>
              <a:srgbClr val="B8321C"/>
            </a:solidFill>
            <a:prstDash val="solid"/>
          </a:ln>
        </p:spPr>
      </p:sp>
      <p:sp>
        <p:nvSpPr>
          <p:cNvPr id="30" name="Text 27"/>
          <p:cNvSpPr/>
          <p:nvPr/>
        </p:nvSpPr>
        <p:spPr>
          <a:xfrm>
            <a:off x="4828032" y="16276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1.00</a:t>
            </a:r>
            <a:endParaRPr lang="en-US" sz="3000" dirty="0"/>
          </a:p>
        </p:txBody>
      </p:sp>
      <p:sp>
        <p:nvSpPr>
          <p:cNvPr id="31" name="Text 28"/>
          <p:cNvSpPr/>
          <p:nvPr/>
        </p:nvSpPr>
        <p:spPr>
          <a:xfrm>
            <a:off x="4663440" y="22677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ROC-AUC on held-out graphs</a:t>
            </a:r>
            <a:endParaRPr lang="en-US" sz="1100" dirty="0"/>
          </a:p>
        </p:txBody>
      </p:sp>
      <p:sp>
        <p:nvSpPr>
          <p:cNvPr id="32" name="Shape 29"/>
          <p:cNvSpPr/>
          <p:nvPr/>
        </p:nvSpPr>
        <p:spPr>
          <a:xfrm>
            <a:off x="6766560" y="1554480"/>
            <a:ext cx="1920240" cy="0"/>
          </a:xfrm>
          <a:prstGeom prst="line">
            <a:avLst/>
          </a:prstGeom>
          <a:noFill/>
          <a:ln w="25400">
            <a:solidFill>
              <a:srgbClr val="1B1712"/>
            </a:solidFill>
            <a:prstDash val="solid"/>
          </a:ln>
        </p:spPr>
      </p:sp>
      <p:sp>
        <p:nvSpPr>
          <p:cNvPr id="33" name="Shape 30"/>
          <p:cNvSpPr/>
          <p:nvPr/>
        </p:nvSpPr>
        <p:spPr>
          <a:xfrm>
            <a:off x="6766560" y="1627632"/>
            <a:ext cx="73152" cy="566928"/>
          </a:xfrm>
          <a:prstGeom prst="rect">
            <a:avLst/>
          </a:prstGeom>
          <a:solidFill>
            <a:srgbClr val="B8321C"/>
          </a:solidFill>
          <a:ln w="12700">
            <a:solidFill>
              <a:srgbClr val="B8321C"/>
            </a:solidFill>
            <a:prstDash val="solid"/>
          </a:ln>
        </p:spPr>
      </p:sp>
      <p:sp>
        <p:nvSpPr>
          <p:cNvPr id="34" name="Text 31"/>
          <p:cNvSpPr/>
          <p:nvPr/>
        </p:nvSpPr>
        <p:spPr>
          <a:xfrm>
            <a:off x="6931152" y="16276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0.993</a:t>
            </a:r>
            <a:endParaRPr lang="en-US" sz="3000" dirty="0"/>
          </a:p>
        </p:txBody>
      </p:sp>
      <p:sp>
        <p:nvSpPr>
          <p:cNvPr id="35" name="Text 32"/>
          <p:cNvSpPr/>
          <p:nvPr/>
        </p:nvSpPr>
        <p:spPr>
          <a:xfrm>
            <a:off x="6766560" y="22677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precision at threshold 0.7</a:t>
            </a:r>
            <a:endParaRPr lang="en-US" sz="1100" dirty="0"/>
          </a:p>
        </p:txBody>
      </p:sp>
      <p:sp>
        <p:nvSpPr>
          <p:cNvPr id="36" name="Shape 33"/>
          <p:cNvSpPr/>
          <p:nvPr/>
        </p:nvSpPr>
        <p:spPr>
          <a:xfrm>
            <a:off x="4663440" y="2926080"/>
            <a:ext cx="1920240" cy="0"/>
          </a:xfrm>
          <a:prstGeom prst="line">
            <a:avLst/>
          </a:prstGeom>
          <a:noFill/>
          <a:ln w="25400">
            <a:solidFill>
              <a:srgbClr val="1B1712"/>
            </a:solidFill>
            <a:prstDash val="solid"/>
          </a:ln>
        </p:spPr>
      </p:sp>
      <p:sp>
        <p:nvSpPr>
          <p:cNvPr id="37" name="Shape 34"/>
          <p:cNvSpPr/>
          <p:nvPr/>
        </p:nvSpPr>
        <p:spPr>
          <a:xfrm>
            <a:off x="4663440" y="2999232"/>
            <a:ext cx="73152" cy="566928"/>
          </a:xfrm>
          <a:prstGeom prst="rect">
            <a:avLst/>
          </a:prstGeom>
          <a:solidFill>
            <a:srgbClr val="B8321C"/>
          </a:solidFill>
          <a:ln w="12700">
            <a:solidFill>
              <a:srgbClr val="B8321C"/>
            </a:solidFill>
            <a:prstDash val="solid"/>
          </a:ln>
        </p:spPr>
      </p:sp>
      <p:sp>
        <p:nvSpPr>
          <p:cNvPr id="38" name="Text 35"/>
          <p:cNvSpPr/>
          <p:nvPr/>
        </p:nvSpPr>
        <p:spPr>
          <a:xfrm>
            <a:off x="4828032" y="29992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0.944</a:t>
            </a:r>
            <a:endParaRPr lang="en-US" sz="3000" dirty="0"/>
          </a:p>
        </p:txBody>
      </p:sp>
      <p:sp>
        <p:nvSpPr>
          <p:cNvPr id="39" name="Text 36"/>
          <p:cNvSpPr/>
          <p:nvPr/>
        </p:nvSpPr>
        <p:spPr>
          <a:xfrm>
            <a:off x="4663440" y="36393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recall over mule schemes</a:t>
            </a:r>
            <a:endParaRPr lang="en-US" sz="1100" dirty="0"/>
          </a:p>
        </p:txBody>
      </p:sp>
      <p:sp>
        <p:nvSpPr>
          <p:cNvPr id="40" name="Shape 37"/>
          <p:cNvSpPr/>
          <p:nvPr/>
        </p:nvSpPr>
        <p:spPr>
          <a:xfrm>
            <a:off x="6766560" y="2926080"/>
            <a:ext cx="1920240" cy="0"/>
          </a:xfrm>
          <a:prstGeom prst="line">
            <a:avLst/>
          </a:prstGeom>
          <a:noFill/>
          <a:ln w="25400">
            <a:solidFill>
              <a:srgbClr val="1B1712"/>
            </a:solidFill>
            <a:prstDash val="solid"/>
          </a:ln>
        </p:spPr>
      </p:sp>
      <p:sp>
        <p:nvSpPr>
          <p:cNvPr id="41" name="Shape 38"/>
          <p:cNvSpPr/>
          <p:nvPr/>
        </p:nvSpPr>
        <p:spPr>
          <a:xfrm>
            <a:off x="6766560" y="2999232"/>
            <a:ext cx="73152" cy="566928"/>
          </a:xfrm>
          <a:prstGeom prst="rect">
            <a:avLst/>
          </a:prstGeom>
          <a:solidFill>
            <a:srgbClr val="B8321C"/>
          </a:solidFill>
          <a:ln w="12700">
            <a:solidFill>
              <a:srgbClr val="B8321C"/>
            </a:solidFill>
            <a:prstDash val="solid"/>
          </a:ln>
        </p:spPr>
      </p:sp>
      <p:sp>
        <p:nvSpPr>
          <p:cNvPr id="42" name="Text 39"/>
          <p:cNvSpPr/>
          <p:nvPr/>
        </p:nvSpPr>
        <p:spPr>
          <a:xfrm>
            <a:off x="6931152" y="299923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0</a:t>
            </a:r>
            <a:endParaRPr lang="en-US" sz="3000" dirty="0"/>
          </a:p>
        </p:txBody>
      </p:sp>
      <p:sp>
        <p:nvSpPr>
          <p:cNvPr id="43" name="Text 40"/>
          <p:cNvSpPr/>
          <p:nvPr/>
        </p:nvSpPr>
        <p:spPr>
          <a:xfrm>
            <a:off x="6766560" y="363931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false alarms on employers, merchants, landlords</a:t>
            </a:r>
            <a:endParaRPr lang="en-US" sz="1100" dirty="0"/>
          </a:p>
        </p:txBody>
      </p:sp>
      <p:sp>
        <p:nvSpPr>
          <p:cNvPr id="44" name="Text 4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i="1" dirty="0">
                <a:solidFill>
                  <a:srgbClr val="6F675B"/>
                </a:solidFill>
                <a:latin typeface="Calibri" pitchFamily="34" charset="0"/>
                <a:ea typeface="Calibri" pitchFamily="34" charset="-122"/>
                <a:cs typeface="Calibri" pitchFamily="34" charset="-120"/>
              </a:rPr>
              <a:t>Synthetic graphs from our generator; real data will score lower. The model can only add a reason to ask.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09</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Red-team: what an attacker gets</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9 of 12</a:t>
            </a:r>
            <a:endParaRPr lang="en-US" sz="900" dirty="0"/>
          </a:p>
        </p:txBody>
      </p:sp>
      <p:sp>
        <p:nvSpPr>
          <p:cNvPr id="10" name="Shape 7"/>
          <p:cNvSpPr/>
          <p:nvPr/>
        </p:nvSpPr>
        <p:spPr>
          <a:xfrm>
            <a:off x="457200" y="1188720"/>
            <a:ext cx="1920240" cy="0"/>
          </a:xfrm>
          <a:prstGeom prst="line">
            <a:avLst/>
          </a:prstGeom>
          <a:noFill/>
          <a:ln w="25400">
            <a:solidFill>
              <a:srgbClr val="1B1712"/>
            </a:solidFill>
            <a:prstDash val="solid"/>
          </a:ln>
        </p:spPr>
      </p:sp>
      <p:sp>
        <p:nvSpPr>
          <p:cNvPr id="11" name="Shape 8"/>
          <p:cNvSpPr/>
          <p:nvPr/>
        </p:nvSpPr>
        <p:spPr>
          <a:xfrm>
            <a:off x="457200" y="1261872"/>
            <a:ext cx="73152" cy="566928"/>
          </a:xfrm>
          <a:prstGeom prst="rect">
            <a:avLst/>
          </a:prstGeom>
          <a:solidFill>
            <a:srgbClr val="B8321C"/>
          </a:solidFill>
          <a:ln w="12700">
            <a:solidFill>
              <a:srgbClr val="B8321C"/>
            </a:solidFill>
            <a:prstDash val="solid"/>
          </a:ln>
        </p:spPr>
      </p:sp>
      <p:sp>
        <p:nvSpPr>
          <p:cNvPr id="12" name="Text 9"/>
          <p:cNvSpPr/>
          <p:nvPr/>
        </p:nvSpPr>
        <p:spPr>
          <a:xfrm>
            <a:off x="62179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39/39</a:t>
            </a:r>
            <a:endParaRPr lang="en-US" sz="3000" dirty="0"/>
          </a:p>
        </p:txBody>
      </p:sp>
      <p:sp>
        <p:nvSpPr>
          <p:cNvPr id="13" name="Text 10"/>
          <p:cNvSpPr/>
          <p:nvPr/>
        </p:nvSpPr>
        <p:spPr>
          <a:xfrm>
            <a:off x="45720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static attacks stopped</a:t>
            </a:r>
            <a:endParaRPr lang="en-US" sz="1100" dirty="0"/>
          </a:p>
        </p:txBody>
      </p:sp>
      <p:sp>
        <p:nvSpPr>
          <p:cNvPr id="14" name="Shape 11"/>
          <p:cNvSpPr/>
          <p:nvPr/>
        </p:nvSpPr>
        <p:spPr>
          <a:xfrm>
            <a:off x="2560320" y="1188720"/>
            <a:ext cx="1920240" cy="0"/>
          </a:xfrm>
          <a:prstGeom prst="line">
            <a:avLst/>
          </a:prstGeom>
          <a:noFill/>
          <a:ln w="25400">
            <a:solidFill>
              <a:srgbClr val="1B1712"/>
            </a:solidFill>
            <a:prstDash val="solid"/>
          </a:ln>
        </p:spPr>
      </p:sp>
      <p:sp>
        <p:nvSpPr>
          <p:cNvPr id="15" name="Shape 12"/>
          <p:cNvSpPr/>
          <p:nvPr/>
        </p:nvSpPr>
        <p:spPr>
          <a:xfrm>
            <a:off x="2560320" y="1261872"/>
            <a:ext cx="73152" cy="566928"/>
          </a:xfrm>
          <a:prstGeom prst="rect">
            <a:avLst/>
          </a:prstGeom>
          <a:solidFill>
            <a:srgbClr val="B8321C"/>
          </a:solidFill>
          <a:ln w="12700">
            <a:solidFill>
              <a:srgbClr val="B8321C"/>
            </a:solidFill>
            <a:prstDash val="solid"/>
          </a:ln>
        </p:spPr>
      </p:sp>
      <p:sp>
        <p:nvSpPr>
          <p:cNvPr id="16" name="Text 13"/>
          <p:cNvSpPr/>
          <p:nvPr/>
        </p:nvSpPr>
        <p:spPr>
          <a:xfrm>
            <a:off x="272491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5/5</a:t>
            </a:r>
            <a:endParaRPr lang="en-US" sz="3000" dirty="0"/>
          </a:p>
        </p:txBody>
      </p:sp>
      <p:sp>
        <p:nvSpPr>
          <p:cNvPr id="17" name="Text 14"/>
          <p:cNvSpPr/>
          <p:nvPr/>
        </p:nvSpPr>
        <p:spPr>
          <a:xfrm>
            <a:off x="256032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memory-planting attacks stopped</a:t>
            </a:r>
            <a:endParaRPr lang="en-US" sz="1100" dirty="0"/>
          </a:p>
        </p:txBody>
      </p:sp>
      <p:sp>
        <p:nvSpPr>
          <p:cNvPr id="18" name="Shape 15"/>
          <p:cNvSpPr/>
          <p:nvPr/>
        </p:nvSpPr>
        <p:spPr>
          <a:xfrm>
            <a:off x="4663440" y="1188720"/>
            <a:ext cx="1920240" cy="0"/>
          </a:xfrm>
          <a:prstGeom prst="line">
            <a:avLst/>
          </a:prstGeom>
          <a:noFill/>
          <a:ln w="25400">
            <a:solidFill>
              <a:srgbClr val="1B1712"/>
            </a:solidFill>
            <a:prstDash val="solid"/>
          </a:ln>
        </p:spPr>
      </p:sp>
      <p:sp>
        <p:nvSpPr>
          <p:cNvPr id="19" name="Shape 16"/>
          <p:cNvSpPr/>
          <p:nvPr/>
        </p:nvSpPr>
        <p:spPr>
          <a:xfrm>
            <a:off x="4663440" y="1261872"/>
            <a:ext cx="73152" cy="566928"/>
          </a:xfrm>
          <a:prstGeom prst="rect">
            <a:avLst/>
          </a:prstGeom>
          <a:solidFill>
            <a:srgbClr val="B8321C"/>
          </a:solidFill>
          <a:ln w="12700">
            <a:solidFill>
              <a:srgbClr val="B8321C"/>
            </a:solidFill>
            <a:prstDash val="solid"/>
          </a:ln>
        </p:spPr>
      </p:sp>
      <p:sp>
        <p:nvSpPr>
          <p:cNvPr id="20" name="Text 17"/>
          <p:cNvSpPr/>
          <p:nvPr/>
        </p:nvSpPr>
        <p:spPr>
          <a:xfrm>
            <a:off x="482803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0/360</a:t>
            </a:r>
            <a:endParaRPr lang="en-US" sz="3000" dirty="0"/>
          </a:p>
        </p:txBody>
      </p:sp>
      <p:sp>
        <p:nvSpPr>
          <p:cNvPr id="21" name="Text 18"/>
          <p:cNvSpPr/>
          <p:nvPr/>
        </p:nvSpPr>
        <p:spPr>
          <a:xfrm>
            <a:off x="466344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adaptive attacker's tries outside the mandate</a:t>
            </a:r>
            <a:endParaRPr lang="en-US" sz="1100" dirty="0"/>
          </a:p>
        </p:txBody>
      </p:sp>
      <p:sp>
        <p:nvSpPr>
          <p:cNvPr id="22" name="Shape 19"/>
          <p:cNvSpPr/>
          <p:nvPr/>
        </p:nvSpPr>
        <p:spPr>
          <a:xfrm>
            <a:off x="6766560" y="1188720"/>
            <a:ext cx="1920240" cy="0"/>
          </a:xfrm>
          <a:prstGeom prst="line">
            <a:avLst/>
          </a:prstGeom>
          <a:noFill/>
          <a:ln w="25400">
            <a:solidFill>
              <a:srgbClr val="1B1712"/>
            </a:solidFill>
            <a:prstDash val="solid"/>
          </a:ln>
        </p:spPr>
      </p:sp>
      <p:sp>
        <p:nvSpPr>
          <p:cNvPr id="23" name="Shape 20"/>
          <p:cNvSpPr/>
          <p:nvPr/>
        </p:nvSpPr>
        <p:spPr>
          <a:xfrm>
            <a:off x="6766560" y="1261872"/>
            <a:ext cx="73152" cy="566928"/>
          </a:xfrm>
          <a:prstGeom prst="rect">
            <a:avLst/>
          </a:prstGeom>
          <a:solidFill>
            <a:srgbClr val="B8321C"/>
          </a:solidFill>
          <a:ln w="12700">
            <a:solidFill>
              <a:srgbClr val="B8321C"/>
            </a:solidFill>
            <a:prstDash val="solid"/>
          </a:ln>
        </p:spPr>
      </p:sp>
      <p:sp>
        <p:nvSpPr>
          <p:cNvPr id="24" name="Text 21"/>
          <p:cNvSpPr/>
          <p:nvPr/>
        </p:nvSpPr>
        <p:spPr>
          <a:xfrm>
            <a:off x="693115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20/21</a:t>
            </a:r>
            <a:endParaRPr lang="en-US" sz="3000" dirty="0"/>
          </a:p>
        </p:txBody>
      </p:sp>
      <p:sp>
        <p:nvSpPr>
          <p:cNvPr id="25" name="Text 22"/>
          <p:cNvSpPr/>
          <p:nvPr/>
        </p:nvSpPr>
        <p:spPr>
          <a:xfrm>
            <a:off x="676656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earlier prototype's suite, 1 bounded by the limit</a:t>
            </a:r>
            <a:endParaRPr lang="en-US" sz="1100" dirty="0"/>
          </a:p>
        </p:txBody>
      </p:sp>
      <p:sp>
        <p:nvSpPr>
          <p:cNvPr id="26" name="Text 23"/>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B1712"/>
                </a:solidFill>
                <a:latin typeface="Georgia" pitchFamily="34" charset="0"/>
                <a:ea typeface="Georgia" pitchFamily="34" charset="-122"/>
                <a:cs typeface="Georgia" pitchFamily="34" charset="-120"/>
              </a:rPr>
              <a:t>Without the kernel</a:t>
            </a:r>
            <a:endParaRPr lang="en-US" sz="1600" dirty="0"/>
          </a:p>
        </p:txBody>
      </p:sp>
      <p:sp>
        <p:nvSpPr>
          <p:cNvPr id="27" name="Text 24"/>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3261E"/>
                </a:solidFill>
                <a:latin typeface="Georgia" pitchFamily="34" charset="0"/>
                <a:ea typeface="Georgia" pitchFamily="34" charset="-122"/>
                <a:cs typeface="Georgia" pitchFamily="34" charset="-120"/>
              </a:rPr>
              <a:t>39/39 succeeded · </a:t>
            </a:r>
            <a:pPr indent="0" marL="0">
              <a:buNone/>
            </a:pPr>
            <a:r>
              <a:rPr lang="en-US" sz="1800" b="1" dirty="0">
                <a:solidFill>
                  <a:srgbClr val="B3261E"/>
                </a:solidFill>
                <a:latin typeface="Georgia" pitchFamily="34" charset="0"/>
                <a:ea typeface="Georgia" pitchFamily="34" charset="-122"/>
                <a:cs typeface="Georgia" pitchFamily="34" charset="-120"/>
              </a:rPr>
              <a:t>532 038.76 ₽ lost</a:t>
            </a:r>
            <a:endParaRPr lang="en-US" sz="1800" dirty="0"/>
          </a:p>
        </p:txBody>
      </p:sp>
      <p:sp>
        <p:nvSpPr>
          <p:cNvPr id="28" name="Text 25"/>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F675B"/>
                </a:solidFill>
                <a:latin typeface="Calibri" pitchFamily="34" charset="0"/>
                <a:ea typeface="Calibri" pitchFamily="34" charset="-122"/>
                <a:cs typeface="Calibri" pitchFamily="34" charset="-120"/>
              </a:rPr>
              <a:t>Known risks are listed openly in the security report (K1 to K14): a compromised client device, a colluding analyst, synthetic training data, no SD-JWT yet.</a:t>
            </a:r>
            <a:endParaRPr lang="en-US" sz="1200" dirty="0"/>
          </a:p>
        </p:txBody>
      </p:sp>
      <p:graphicFrame>
        <p:nvGraphicFramePr>
          <p:cNvPr id="29"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10</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Compliance: 智能体支付应用自律公约 · VI / AP2</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10 of 12</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公约 requirement</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1B1712"/>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1B1712"/>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Three stages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Stages 1 and 2 implemented, stage 3 not offered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Who provides payment is responsible</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Bank module; only the bank's executor moves money</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Know your agent</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Agent passport checked at every step, in the journal</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Verify intent, clear authority</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Kernel-rendered card, device signature, critic</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Withdraw authorisation</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One press, child grants revoked too</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Immutable records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Signed hash chain, append-only, anchored on chain</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Human fallback, emergency stop</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Analyst hold, kill switch, 24-hour reversible hold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Elderly and minors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Elevated protection, trusted person informed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No inducement to spend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No credit or upsell; offers in model text replaced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VI / AP2</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1B1712"/>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1B1712"/>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Intent mandate</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Standing permission with limits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Cart / payment mandate</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One-time mandate per card</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Constraints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payees, amount range, budget, recurrence, + origins, money source</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Delegation</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Child grants, rights only narrow</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Signatures</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c>
                  <a:txBody>
                    <a:bodyPr/>
                    <a:lstStyle/>
                    <a:p>
                      <a:pPr indent="0" marL="0">
                        <a:buNone/>
                      </a:pPr>
                      <a:r>
                        <a:rPr lang="en-US" sz="1000" dirty="0">
                          <a:solidFill>
                            <a:srgbClr val="1B1712"/>
                          </a:solidFill>
                          <a:latin typeface="Calibri" pitchFamily="34" charset="0"/>
                          <a:ea typeface="Calibri" pitchFamily="34" charset="-122"/>
                          <a:cs typeface="Calibri" pitchFamily="34" charset="-120"/>
                        </a:rPr>
                        <a:t>Device key + kernel countersignature</a:t>
                      </a:r>
                      <a:endParaRPr lang="en-US" sz="1000" dirty="0">
                        <a:latin typeface="Calibri" charset="0"/>
                        <a:ea typeface="Calibri" charset="0"/>
                        <a:cs typeface="Calibri" charset="0"/>
                      </a:endParaRPr>
                    </a:p>
                  </a:txBody>
                  <a:tcPr marL="45720" marR="45720" marT="45720" marB="45720">
                    <a:lnL w="6350" cap="flat" cmpd="sng" algn="ctr">
                      <a:solidFill>
                        <a:srgbClr val="D9CFBD"/>
                      </a:solidFill>
                      <a:prstDash val="solid"/>
                      <a:round/>
                      <a:headEnd type="none" w="med" len="med"/>
                      <a:tailEnd type="none" w="med" len="med"/>
                    </a:lnL>
                    <a:lnR w="6350" cap="flat" cmpd="sng" algn="ctr">
                      <a:solidFill>
                        <a:srgbClr val="D9CFBD"/>
                      </a:solidFill>
                      <a:prstDash val="solid"/>
                      <a:round/>
                      <a:headEnd type="none" w="med" len="med"/>
                      <a:tailEnd type="none" w="med" len="med"/>
                    </a:lnR>
                    <a:lnT w="6350" cap="flat" cmpd="sng" algn="ctr">
                      <a:solidFill>
                        <a:srgbClr val="D9CFBD"/>
                      </a:solidFill>
                      <a:prstDash val="solid"/>
                      <a:round/>
                      <a:headEnd type="none" w="med" len="med"/>
                      <a:tailEnd type="none" w="med" len="med"/>
                    </a:lnT>
                    <a:lnB w="6350" cap="flat" cmpd="sng" algn="ctr">
                      <a:solidFill>
                        <a:srgbClr val="D9CFB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11</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Cost: most of the work needs no large model</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11 of 12</a:t>
            </a:r>
            <a:endParaRPr lang="en-US" sz="900" dirty="0"/>
          </a:p>
        </p:txBody>
      </p:sp>
      <p:graphicFrame>
        <p:nvGraphicFramePr>
          <p:cNvPr id="10"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11" name="Shape 7"/>
          <p:cNvSpPr/>
          <p:nvPr/>
        </p:nvSpPr>
        <p:spPr>
          <a:xfrm>
            <a:off x="5760720" y="1097280"/>
            <a:ext cx="2926080" cy="0"/>
          </a:xfrm>
          <a:prstGeom prst="line">
            <a:avLst/>
          </a:prstGeom>
          <a:noFill/>
          <a:ln w="25400">
            <a:solidFill>
              <a:srgbClr val="1B1712"/>
            </a:solidFill>
            <a:prstDash val="solid"/>
          </a:ln>
        </p:spPr>
      </p:sp>
      <p:sp>
        <p:nvSpPr>
          <p:cNvPr id="12" name="Shape 8"/>
          <p:cNvSpPr/>
          <p:nvPr/>
        </p:nvSpPr>
        <p:spPr>
          <a:xfrm>
            <a:off x="5760720" y="1170432"/>
            <a:ext cx="73152" cy="566928"/>
          </a:xfrm>
          <a:prstGeom prst="rect">
            <a:avLst/>
          </a:prstGeom>
          <a:solidFill>
            <a:srgbClr val="B8321C"/>
          </a:solidFill>
          <a:ln w="12700">
            <a:solidFill>
              <a:srgbClr val="B8321C"/>
            </a:solidFill>
            <a:prstDash val="solid"/>
          </a:ln>
        </p:spPr>
      </p:sp>
      <p:sp>
        <p:nvSpPr>
          <p:cNvPr id="13" name="Text 9"/>
          <p:cNvSpPr/>
          <p:nvPr/>
        </p:nvSpPr>
        <p:spPr>
          <a:xfrm>
            <a:off x="5925312" y="1170432"/>
            <a:ext cx="2761488" cy="566928"/>
          </a:xfrm>
          <a:prstGeom prst="rect">
            <a:avLst/>
          </a:prstGeom>
          <a:noFill/>
          <a:ln/>
        </p:spPr>
        <p:txBody>
          <a:bodyPr wrap="square" lIns="0" tIns="0" rIns="0" bIns="0" rtlCol="0" anchor="ctr"/>
          <a:lstStyle/>
          <a:p>
            <a:pPr indent="0" marL="0">
              <a:buNone/>
            </a:pPr>
            <a:r>
              <a:rPr lang="en-US" sz="2200" b="1" dirty="0">
                <a:solidFill>
                  <a:srgbClr val="1B1712"/>
                </a:solidFill>
                <a:latin typeface="Georgia" pitchFamily="34" charset="0"/>
                <a:ea typeface="Georgia" pitchFamily="34" charset="-122"/>
                <a:cs typeface="Georgia" pitchFamily="34" charset="-120"/>
              </a:rPr>
              <a:t>0.73 → 0.27 ₽</a:t>
            </a:r>
            <a:endParaRPr lang="en-US" sz="2200" dirty="0"/>
          </a:p>
        </p:txBody>
      </p:sp>
      <p:sp>
        <p:nvSpPr>
          <p:cNvPr id="14" name="Text 10"/>
          <p:cNvSpPr/>
          <p:nvPr/>
        </p:nvSpPr>
        <p:spPr>
          <a:xfrm>
            <a:off x="5760720" y="1810512"/>
            <a:ext cx="292608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one client's month, 63% less in the second</a:t>
            </a:r>
            <a:endParaRPr lang="en-US" sz="1100" dirty="0"/>
          </a:p>
        </p:txBody>
      </p:sp>
      <p:sp>
        <p:nvSpPr>
          <p:cNvPr id="15" name="Shape 11"/>
          <p:cNvSpPr/>
          <p:nvPr/>
        </p:nvSpPr>
        <p:spPr>
          <a:xfrm>
            <a:off x="5760720" y="2423160"/>
            <a:ext cx="2926080" cy="0"/>
          </a:xfrm>
          <a:prstGeom prst="line">
            <a:avLst/>
          </a:prstGeom>
          <a:noFill/>
          <a:ln w="25400">
            <a:solidFill>
              <a:srgbClr val="1B1712"/>
            </a:solidFill>
            <a:prstDash val="solid"/>
          </a:ln>
        </p:spPr>
      </p:sp>
      <p:sp>
        <p:nvSpPr>
          <p:cNvPr id="16" name="Shape 12"/>
          <p:cNvSpPr/>
          <p:nvPr/>
        </p:nvSpPr>
        <p:spPr>
          <a:xfrm>
            <a:off x="5760720" y="2496312"/>
            <a:ext cx="73152" cy="566928"/>
          </a:xfrm>
          <a:prstGeom prst="rect">
            <a:avLst/>
          </a:prstGeom>
          <a:solidFill>
            <a:srgbClr val="B8321C"/>
          </a:solidFill>
          <a:ln w="12700">
            <a:solidFill>
              <a:srgbClr val="B8321C"/>
            </a:solidFill>
            <a:prstDash val="solid"/>
          </a:ln>
        </p:spPr>
      </p:sp>
      <p:sp>
        <p:nvSpPr>
          <p:cNvPr id="17" name="Text 13"/>
          <p:cNvSpPr/>
          <p:nvPr/>
        </p:nvSpPr>
        <p:spPr>
          <a:xfrm>
            <a:off x="5925312" y="2496312"/>
            <a:ext cx="276148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96.7%</a:t>
            </a:r>
            <a:endParaRPr lang="en-US" sz="3000" dirty="0"/>
          </a:p>
        </p:txBody>
      </p:sp>
      <p:sp>
        <p:nvSpPr>
          <p:cNvPr id="18" name="Text 14"/>
          <p:cNvSpPr/>
          <p:nvPr/>
        </p:nvSpPr>
        <p:spPr>
          <a:xfrm>
            <a:off x="5760720" y="3136392"/>
            <a:ext cx="292608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of work on levels 0 and 1 (rules, templates, small model)</a:t>
            </a:r>
            <a:endParaRPr lang="en-US" sz="1100" dirty="0"/>
          </a:p>
        </p:txBody>
      </p:sp>
      <p:sp>
        <p:nvSpPr>
          <p:cNvPr id="19" name="Shape 15"/>
          <p:cNvSpPr/>
          <p:nvPr/>
        </p:nvSpPr>
        <p:spPr>
          <a:xfrm>
            <a:off x="5760720" y="3749040"/>
            <a:ext cx="2926080" cy="0"/>
          </a:xfrm>
          <a:prstGeom prst="line">
            <a:avLst/>
          </a:prstGeom>
          <a:noFill/>
          <a:ln w="25400">
            <a:solidFill>
              <a:srgbClr val="1B1712"/>
            </a:solidFill>
            <a:prstDash val="solid"/>
          </a:ln>
        </p:spPr>
      </p:sp>
      <p:sp>
        <p:nvSpPr>
          <p:cNvPr id="20" name="Shape 16"/>
          <p:cNvSpPr/>
          <p:nvPr/>
        </p:nvSpPr>
        <p:spPr>
          <a:xfrm>
            <a:off x="5760720" y="3822192"/>
            <a:ext cx="73152" cy="566928"/>
          </a:xfrm>
          <a:prstGeom prst="rect">
            <a:avLst/>
          </a:prstGeom>
          <a:solidFill>
            <a:srgbClr val="B8321C"/>
          </a:solidFill>
          <a:ln w="12700">
            <a:solidFill>
              <a:srgbClr val="B8321C"/>
            </a:solidFill>
            <a:prstDash val="solid"/>
          </a:ln>
        </p:spPr>
      </p:sp>
      <p:sp>
        <p:nvSpPr>
          <p:cNvPr id="21" name="Text 17"/>
          <p:cNvSpPr/>
          <p:nvPr/>
        </p:nvSpPr>
        <p:spPr>
          <a:xfrm>
            <a:off x="5925312" y="3822192"/>
            <a:ext cx="276148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 270 000 ₽</a:t>
            </a:r>
            <a:endParaRPr lang="en-US" sz="3000" dirty="0"/>
          </a:p>
        </p:txBody>
      </p:sp>
      <p:sp>
        <p:nvSpPr>
          <p:cNvPr id="22" name="Text 18"/>
          <p:cNvSpPr/>
          <p:nvPr/>
        </p:nvSpPr>
        <p:spPr>
          <a:xfrm>
            <a:off x="5760720" y="4462272"/>
            <a:ext cx="292608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a month for 1 million clients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457200" y="256032"/>
            <a:ext cx="548640" cy="274320"/>
          </a:xfrm>
          <a:prstGeom prst="rect">
            <a:avLst/>
          </a:prstGeom>
          <a:noFill/>
          <a:ln/>
        </p:spPr>
        <p:txBody>
          <a:bodyPr wrap="square" lIns="0" tIns="0" rIns="0" bIns="0" rtlCol="0" anchor="ctr"/>
          <a:lstStyle/>
          <a:p>
            <a:pPr indent="0" marL="0">
              <a:buNone/>
            </a:pPr>
            <a:r>
              <a:rPr lang="en-US" sz="1200" b="1" dirty="0">
                <a:solidFill>
                  <a:srgbClr val="B8321C"/>
                </a:solidFill>
                <a:latin typeface="Georgia" pitchFamily="34" charset="0"/>
                <a:ea typeface="Georgia" pitchFamily="34" charset="-122"/>
                <a:cs typeface="Georgia" pitchFamily="34" charset="-120"/>
              </a:rPr>
              <a:t>12</a:t>
            </a:r>
            <a:endParaRPr lang="en-US" sz="1200" dirty="0"/>
          </a:p>
        </p:txBody>
      </p:sp>
      <p:sp>
        <p:nvSpPr>
          <p:cNvPr id="3" name="Text 1"/>
          <p:cNvSpPr/>
          <p:nvPr/>
        </p:nvSpPr>
        <p:spPr>
          <a:xfrm>
            <a:off x="457200" y="475488"/>
            <a:ext cx="8229600" cy="502920"/>
          </a:xfrm>
          <a:prstGeom prst="rect">
            <a:avLst/>
          </a:prstGeom>
          <a:noFill/>
          <a:ln/>
        </p:spPr>
        <p:txBody>
          <a:bodyPr wrap="square" lIns="0" tIns="0" rIns="0" bIns="0" rtlCol="0" anchor="ctr"/>
          <a:lstStyle/>
          <a:p>
            <a:pPr indent="0" marL="0">
              <a:buNone/>
            </a:pPr>
            <a:r>
              <a:rPr lang="en-US" sz="2600" b="1" dirty="0">
                <a:solidFill>
                  <a:srgbClr val="1B1712"/>
                </a:solidFill>
                <a:latin typeface="Georgia" pitchFamily="34" charset="0"/>
                <a:ea typeface="Georgia" pitchFamily="34" charset="-122"/>
                <a:cs typeface="Georgia" pitchFamily="34" charset="-120"/>
              </a:rPr>
              <a:t>Results and what comes next</a:t>
            </a:r>
            <a:endParaRPr lang="en-US" sz="2600" dirty="0"/>
          </a:p>
        </p:txBody>
      </p:sp>
      <p:sp>
        <p:nvSpPr>
          <p:cNvPr id="4" name="Shape 2"/>
          <p:cNvSpPr/>
          <p:nvPr/>
        </p:nvSpPr>
        <p:spPr>
          <a:xfrm>
            <a:off x="457200" y="1005840"/>
            <a:ext cx="8229600" cy="0"/>
          </a:xfrm>
          <a:prstGeom prst="line">
            <a:avLst/>
          </a:prstGeom>
          <a:noFill/>
          <a:ln w="12700">
            <a:solidFill>
              <a:srgbClr val="1B1712"/>
            </a:solidFill>
            <a:prstDash val="solid"/>
          </a:ln>
        </p:spPr>
      </p:sp>
      <p:sp>
        <p:nvSpPr>
          <p:cNvPr id="5" name="Shape 3"/>
          <p:cNvSpPr/>
          <p:nvPr/>
        </p:nvSpPr>
        <p:spPr>
          <a:xfrm>
            <a:off x="8476488" y="4754880"/>
            <a:ext cx="210312" cy="210312"/>
          </a:xfrm>
          <a:prstGeom prst="rect">
            <a:avLst/>
          </a:prstGeom>
          <a:solidFill>
            <a:srgbClr val="B8321C"/>
          </a:solidFill>
          <a:ln w="12700">
            <a:solidFill>
              <a:srgbClr val="B8321C"/>
            </a:solidFill>
            <a:prstDash val="solid"/>
          </a:ln>
        </p:spPr>
      </p:sp>
      <p:sp>
        <p:nvSpPr>
          <p:cNvPr id="6" name="Shape 4"/>
          <p:cNvSpPr/>
          <p:nvPr/>
        </p:nvSpPr>
        <p:spPr>
          <a:xfrm>
            <a:off x="8495416" y="4773808"/>
            <a:ext cx="172456" cy="172456"/>
          </a:xfrm>
          <a:prstGeom prst="rect">
            <a:avLst/>
          </a:prstGeom>
          <a:ln w="9525">
            <a:solidFill>
              <a:srgbClr val="FFF8EE"/>
            </a:solidFill>
            <a:prstDash val="solid"/>
          </a:ln>
        </p:spPr>
      </p:sp>
      <p:sp>
        <p:nvSpPr>
          <p:cNvPr id="7" name="Text 5"/>
          <p:cNvSpPr/>
          <p:nvPr/>
        </p:nvSpPr>
        <p:spPr>
          <a:xfrm>
            <a:off x="8476488" y="4754880"/>
            <a:ext cx="210312" cy="210312"/>
          </a:xfrm>
          <a:prstGeom prst="rect">
            <a:avLst/>
          </a:prstGeom>
          <a:noFill/>
          <a:ln/>
        </p:spPr>
        <p:txBody>
          <a:bodyPr wrap="square" lIns="0" tIns="0" rIns="0" bIns="0" rtlCol="0" anchor="ctr"/>
          <a:lstStyle/>
          <a:p>
            <a:pPr algn="ctr" indent="0" marL="0">
              <a:buNone/>
            </a:pPr>
            <a:r>
              <a:rPr lang="en-US" sz="1012" b="1" dirty="0">
                <a:solidFill>
                  <a:srgbClr val="FFF8EE"/>
                </a:solidFill>
                <a:latin typeface="SimSun" pitchFamily="34" charset="0"/>
                <a:ea typeface="SimSun" pitchFamily="34" charset="-122"/>
                <a:cs typeface="SimSun" pitchFamily="34" charset="-120"/>
              </a:rPr>
              <a:t>守</a:t>
            </a:r>
            <a:endParaRPr lang="en-US" sz="1012" dirty="0"/>
          </a:p>
        </p:txBody>
      </p:sp>
      <p:sp>
        <p:nvSpPr>
          <p:cNvPr id="8" name="Text 6"/>
          <p:cNvSpPr/>
          <p:nvPr/>
        </p:nvSpPr>
        <p:spPr>
          <a:xfrm>
            <a:off x="5669280" y="4754880"/>
            <a:ext cx="2697480" cy="210312"/>
          </a:xfrm>
          <a:prstGeom prst="rect">
            <a:avLst/>
          </a:prstGeom>
          <a:noFill/>
          <a:ln/>
        </p:spPr>
        <p:txBody>
          <a:bodyPr wrap="square" lIns="0" tIns="0" rIns="0" bIns="0" rtlCol="0" anchor="ctr"/>
          <a:lstStyle/>
          <a:p>
            <a:pPr algn="r" indent="0" marL="0">
              <a:buNone/>
            </a:pPr>
            <a:r>
              <a:rPr lang="en-US" sz="900" dirty="0">
                <a:solidFill>
                  <a:srgbClr val="6F675B"/>
                </a:solidFill>
                <a:latin typeface="Georgia" pitchFamily="34" charset="0"/>
                <a:ea typeface="Georgia" pitchFamily="34" charset="-122"/>
                <a:cs typeface="Georgia" pitchFamily="34" charset="-120"/>
              </a:rPr>
              <a:t>Guardian  ·  12 of 12</a:t>
            </a:r>
            <a:endParaRPr lang="en-US" sz="900" dirty="0"/>
          </a:p>
        </p:txBody>
      </p:sp>
      <p:sp>
        <p:nvSpPr>
          <p:cNvPr id="10" name="Shape 7"/>
          <p:cNvSpPr/>
          <p:nvPr/>
        </p:nvSpPr>
        <p:spPr>
          <a:xfrm>
            <a:off x="457200" y="1188720"/>
            <a:ext cx="1920240" cy="0"/>
          </a:xfrm>
          <a:prstGeom prst="line">
            <a:avLst/>
          </a:prstGeom>
          <a:noFill/>
          <a:ln w="25400">
            <a:solidFill>
              <a:srgbClr val="1B1712"/>
            </a:solidFill>
            <a:prstDash val="solid"/>
          </a:ln>
        </p:spPr>
      </p:sp>
      <p:sp>
        <p:nvSpPr>
          <p:cNvPr id="11" name="Shape 8"/>
          <p:cNvSpPr/>
          <p:nvPr/>
        </p:nvSpPr>
        <p:spPr>
          <a:xfrm>
            <a:off x="457200" y="1261872"/>
            <a:ext cx="73152" cy="566928"/>
          </a:xfrm>
          <a:prstGeom prst="rect">
            <a:avLst/>
          </a:prstGeom>
          <a:solidFill>
            <a:srgbClr val="B8321C"/>
          </a:solidFill>
          <a:ln w="12700">
            <a:solidFill>
              <a:srgbClr val="B8321C"/>
            </a:solidFill>
            <a:prstDash val="solid"/>
          </a:ln>
        </p:spPr>
      </p:sp>
      <p:sp>
        <p:nvSpPr>
          <p:cNvPr id="12" name="Text 9"/>
          <p:cNvSpPr/>
          <p:nvPr/>
        </p:nvSpPr>
        <p:spPr>
          <a:xfrm>
            <a:off x="62179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48/48</a:t>
            </a:r>
            <a:endParaRPr lang="en-US" sz="3000" dirty="0"/>
          </a:p>
        </p:txBody>
      </p:sp>
      <p:sp>
        <p:nvSpPr>
          <p:cNvPr id="13" name="Text 10"/>
          <p:cNvSpPr/>
          <p:nvPr/>
        </p:nvSpPr>
        <p:spPr>
          <a:xfrm>
            <a:off x="45720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functional tasks, EN / RU / ZH</a:t>
            </a:r>
            <a:endParaRPr lang="en-US" sz="1100" dirty="0"/>
          </a:p>
        </p:txBody>
      </p:sp>
      <p:sp>
        <p:nvSpPr>
          <p:cNvPr id="14" name="Shape 11"/>
          <p:cNvSpPr/>
          <p:nvPr/>
        </p:nvSpPr>
        <p:spPr>
          <a:xfrm>
            <a:off x="2560320" y="1188720"/>
            <a:ext cx="1920240" cy="0"/>
          </a:xfrm>
          <a:prstGeom prst="line">
            <a:avLst/>
          </a:prstGeom>
          <a:noFill/>
          <a:ln w="25400">
            <a:solidFill>
              <a:srgbClr val="1B1712"/>
            </a:solidFill>
            <a:prstDash val="solid"/>
          </a:ln>
        </p:spPr>
      </p:sp>
      <p:sp>
        <p:nvSpPr>
          <p:cNvPr id="15" name="Shape 12"/>
          <p:cNvSpPr/>
          <p:nvPr/>
        </p:nvSpPr>
        <p:spPr>
          <a:xfrm>
            <a:off x="2560320" y="1261872"/>
            <a:ext cx="73152" cy="566928"/>
          </a:xfrm>
          <a:prstGeom prst="rect">
            <a:avLst/>
          </a:prstGeom>
          <a:solidFill>
            <a:srgbClr val="B8321C"/>
          </a:solidFill>
          <a:ln w="12700">
            <a:solidFill>
              <a:srgbClr val="B8321C"/>
            </a:solidFill>
            <a:prstDash val="solid"/>
          </a:ln>
        </p:spPr>
      </p:sp>
      <p:sp>
        <p:nvSpPr>
          <p:cNvPr id="16" name="Text 13"/>
          <p:cNvSpPr/>
          <p:nvPr/>
        </p:nvSpPr>
        <p:spPr>
          <a:xfrm>
            <a:off x="272491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50/50</a:t>
            </a:r>
            <a:endParaRPr lang="en-US" sz="3000" dirty="0"/>
          </a:p>
        </p:txBody>
      </p:sp>
      <p:sp>
        <p:nvSpPr>
          <p:cNvPr id="17" name="Text 14"/>
          <p:cNvSpPr/>
          <p:nvPr/>
        </p:nvSpPr>
        <p:spPr>
          <a:xfrm>
            <a:off x="256032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attacks in the evaluation set stopped</a:t>
            </a:r>
            <a:endParaRPr lang="en-US" sz="1100" dirty="0"/>
          </a:p>
        </p:txBody>
      </p:sp>
      <p:sp>
        <p:nvSpPr>
          <p:cNvPr id="18" name="Shape 15"/>
          <p:cNvSpPr/>
          <p:nvPr/>
        </p:nvSpPr>
        <p:spPr>
          <a:xfrm>
            <a:off x="4663440" y="1188720"/>
            <a:ext cx="1920240" cy="0"/>
          </a:xfrm>
          <a:prstGeom prst="line">
            <a:avLst/>
          </a:prstGeom>
          <a:noFill/>
          <a:ln w="25400">
            <a:solidFill>
              <a:srgbClr val="1B1712"/>
            </a:solidFill>
            <a:prstDash val="solid"/>
          </a:ln>
        </p:spPr>
      </p:sp>
      <p:sp>
        <p:nvSpPr>
          <p:cNvPr id="19" name="Shape 16"/>
          <p:cNvSpPr/>
          <p:nvPr/>
        </p:nvSpPr>
        <p:spPr>
          <a:xfrm>
            <a:off x="4663440" y="1261872"/>
            <a:ext cx="73152" cy="566928"/>
          </a:xfrm>
          <a:prstGeom prst="rect">
            <a:avLst/>
          </a:prstGeom>
          <a:solidFill>
            <a:srgbClr val="B8321C"/>
          </a:solidFill>
          <a:ln w="12700">
            <a:solidFill>
              <a:srgbClr val="B8321C"/>
            </a:solidFill>
            <a:prstDash val="solid"/>
          </a:ln>
        </p:spPr>
      </p:sp>
      <p:sp>
        <p:nvSpPr>
          <p:cNvPr id="20" name="Text 17"/>
          <p:cNvSpPr/>
          <p:nvPr/>
        </p:nvSpPr>
        <p:spPr>
          <a:xfrm>
            <a:off x="482803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292</a:t>
            </a:r>
            <a:endParaRPr lang="en-US" sz="3000" dirty="0"/>
          </a:p>
        </p:txBody>
      </p:sp>
      <p:sp>
        <p:nvSpPr>
          <p:cNvPr id="21" name="Text 18"/>
          <p:cNvSpPr/>
          <p:nvPr/>
        </p:nvSpPr>
        <p:spPr>
          <a:xfrm>
            <a:off x="466344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signed journal entries in the demo, chain verified</a:t>
            </a:r>
            <a:endParaRPr lang="en-US" sz="1100" dirty="0"/>
          </a:p>
        </p:txBody>
      </p:sp>
      <p:sp>
        <p:nvSpPr>
          <p:cNvPr id="22" name="Shape 19"/>
          <p:cNvSpPr/>
          <p:nvPr/>
        </p:nvSpPr>
        <p:spPr>
          <a:xfrm>
            <a:off x="6766560" y="1188720"/>
            <a:ext cx="1920240" cy="0"/>
          </a:xfrm>
          <a:prstGeom prst="line">
            <a:avLst/>
          </a:prstGeom>
          <a:noFill/>
          <a:ln w="25400">
            <a:solidFill>
              <a:srgbClr val="1B1712"/>
            </a:solidFill>
            <a:prstDash val="solid"/>
          </a:ln>
        </p:spPr>
      </p:sp>
      <p:sp>
        <p:nvSpPr>
          <p:cNvPr id="23" name="Shape 20"/>
          <p:cNvSpPr/>
          <p:nvPr/>
        </p:nvSpPr>
        <p:spPr>
          <a:xfrm>
            <a:off x="6766560" y="1261872"/>
            <a:ext cx="73152" cy="566928"/>
          </a:xfrm>
          <a:prstGeom prst="rect">
            <a:avLst/>
          </a:prstGeom>
          <a:solidFill>
            <a:srgbClr val="B8321C"/>
          </a:solidFill>
          <a:ln w="12700">
            <a:solidFill>
              <a:srgbClr val="B8321C"/>
            </a:solidFill>
            <a:prstDash val="solid"/>
          </a:ln>
        </p:spPr>
      </p:sp>
      <p:sp>
        <p:nvSpPr>
          <p:cNvPr id="24" name="Text 21"/>
          <p:cNvSpPr/>
          <p:nvPr/>
        </p:nvSpPr>
        <p:spPr>
          <a:xfrm>
            <a:off x="6931152" y="1261872"/>
            <a:ext cx="1755648" cy="566928"/>
          </a:xfrm>
          <a:prstGeom prst="rect">
            <a:avLst/>
          </a:prstGeom>
          <a:noFill/>
          <a:ln/>
        </p:spPr>
        <p:txBody>
          <a:bodyPr wrap="square" lIns="0" tIns="0" rIns="0" bIns="0" rtlCol="0" anchor="ctr"/>
          <a:lstStyle/>
          <a:p>
            <a:pPr indent="0" marL="0">
              <a:buNone/>
            </a:pPr>
            <a:r>
              <a:rPr lang="en-US" sz="3000" b="1" dirty="0">
                <a:solidFill>
                  <a:srgbClr val="1B1712"/>
                </a:solidFill>
                <a:latin typeface="Georgia" pitchFamily="34" charset="0"/>
                <a:ea typeface="Georgia" pitchFamily="34" charset="-122"/>
                <a:cs typeface="Georgia" pitchFamily="34" charset="-120"/>
              </a:rPr>
              <a:t>0 keys</a:t>
            </a:r>
            <a:endParaRPr lang="en-US" sz="3000" dirty="0"/>
          </a:p>
        </p:txBody>
      </p:sp>
      <p:sp>
        <p:nvSpPr>
          <p:cNvPr id="25" name="Text 22"/>
          <p:cNvSpPr/>
          <p:nvPr/>
        </p:nvSpPr>
        <p:spPr>
          <a:xfrm>
            <a:off x="6766560" y="1901952"/>
            <a:ext cx="1920240" cy="457200"/>
          </a:xfrm>
          <a:prstGeom prst="rect">
            <a:avLst/>
          </a:prstGeom>
          <a:noFill/>
          <a:ln/>
        </p:spPr>
        <p:txBody>
          <a:bodyPr wrap="square" lIns="0" tIns="0" rIns="0" bIns="0" rtlCol="0" anchor="t"/>
          <a:lstStyle/>
          <a:p>
            <a:pPr indent="0" marL="0">
              <a:buNone/>
            </a:pPr>
            <a:r>
              <a:rPr lang="en-US" sz="1100" dirty="0">
                <a:solidFill>
                  <a:srgbClr val="6F675B"/>
                </a:solidFill>
                <a:latin typeface="Calibri" pitchFamily="34" charset="0"/>
                <a:ea typeface="Calibri" pitchFamily="34" charset="-122"/>
                <a:cs typeface="Calibri" pitchFamily="34" charset="-120"/>
              </a:rPr>
              <a:t>needed to reproduce: replay mode, make test</a:t>
            </a:r>
            <a:endParaRPr lang="en-US" sz="1100" dirty="0"/>
          </a:p>
        </p:txBody>
      </p:sp>
      <p:sp>
        <p:nvSpPr>
          <p:cNvPr id="26" name="Text 23"/>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9E2A16"/>
                </a:solidFill>
                <a:latin typeface="Georgia" pitchFamily="34" charset="0"/>
                <a:ea typeface="Georgia" pitchFamily="34" charset="-122"/>
                <a:cs typeface="Georgia" pitchFamily="34" charset="-120"/>
              </a:rPr>
              <a:t>Next</a:t>
            </a:r>
            <a:endParaRPr lang="en-US" sz="1700" dirty="0"/>
          </a:p>
        </p:txBody>
      </p:sp>
      <p:sp>
        <p:nvSpPr>
          <p:cNvPr id="27" name="Text 24"/>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B1712"/>
                </a:solidFill>
                <a:latin typeface="Calibri" pitchFamily="34" charset="0"/>
                <a:ea typeface="Calibri" pitchFamily="34" charset="-122"/>
                <a:cs typeface="Calibri"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B1712"/>
                </a:solidFill>
                <a:latin typeface="Calibri" pitchFamily="34" charset="0"/>
                <a:ea typeface="Calibri" pitchFamily="34" charset="-122"/>
                <a:cs typeface="Calibri" pitchFamily="34" charset="-120"/>
              </a:rPr>
              <a:t>Journal anchoring on a public test network</a:t>
            </a:r>
            <a:endParaRPr lang="en-US" sz="1300" dirty="0"/>
          </a:p>
          <a:p>
            <a:pPr marL="342900" indent="-342900">
              <a:spcAft>
                <a:spcPts val="400"/>
              </a:spcAft>
              <a:buSzPct val="100000"/>
              <a:buChar char="•"/>
            </a:pPr>
            <a:r>
              <a:rPr lang="en-US" sz="1300" dirty="0">
                <a:solidFill>
                  <a:srgbClr val="1B1712"/>
                </a:solidFill>
                <a:latin typeface="Calibri" pitchFamily="34" charset="0"/>
                <a:ea typeface="Calibri" pitchFamily="34" charset="-122"/>
                <a:cs typeface="Calibri"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B1712"/>
                </a:solidFill>
                <a:latin typeface="Calibri" pitchFamily="34" charset="0"/>
                <a:ea typeface="Calibri" pitchFamily="34" charset="-122"/>
                <a:cs typeface="Calibri" pitchFamily="34" charset="-120"/>
              </a:rPr>
              <a:t>SD-JWT selective disclosure for mandates; pilot with a bank's fraud team</a:t>
            </a:r>
            <a:endParaRPr lang="en-US" sz="1300" dirty="0"/>
          </a:p>
        </p:txBody>
      </p:sp>
      <p:sp>
        <p:nvSpPr>
          <p:cNvPr id="28" name="Shape 25"/>
          <p:cNvSpPr/>
          <p:nvPr/>
        </p:nvSpPr>
        <p:spPr>
          <a:xfrm>
            <a:off x="5852160" y="2743200"/>
            <a:ext cx="2834640" cy="1737360"/>
          </a:xfrm>
          <a:prstGeom prst="rect">
            <a:avLst/>
          </a:prstGeom>
          <a:solidFill>
            <a:srgbClr val="1B1712"/>
          </a:solidFill>
          <a:ln w="12700">
            <a:solidFill>
              <a:srgbClr val="1B1712"/>
            </a:solidFill>
            <a:prstDash val="solid"/>
          </a:ln>
        </p:spPr>
      </p:sp>
      <p:sp>
        <p:nvSpPr>
          <p:cNvPr id="29" name="Shape 26"/>
          <p:cNvSpPr/>
          <p:nvPr/>
        </p:nvSpPr>
        <p:spPr>
          <a:xfrm>
            <a:off x="5852160" y="2743200"/>
            <a:ext cx="82296" cy="1737360"/>
          </a:xfrm>
          <a:prstGeom prst="rect">
            <a:avLst/>
          </a:prstGeom>
          <a:solidFill>
            <a:srgbClr val="B8321C"/>
          </a:solidFill>
          <a:ln w="12700">
            <a:solidFill>
              <a:srgbClr val="B8321C"/>
            </a:solidFill>
            <a:prstDash val="solid"/>
          </a:ln>
        </p:spPr>
      </p:sp>
      <p:sp>
        <p:nvSpPr>
          <p:cNvPr id="30" name="Text 27"/>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Agents propose.</a:t>
            </a:r>
            <a:endParaRPr lang="en-US" sz="1600" dirty="0"/>
          </a:p>
          <a:p>
            <a:pPr indent="0" marL="0">
              <a:buNone/>
            </a:pPr>
            <a:r>
              <a:rPr lang="en-US" sz="1600" b="1" dirty="0">
                <a:solidFill>
                  <a:srgbClr val="FFFFFF"/>
                </a:solidFill>
                <a:latin typeface="Georgia" pitchFamily="34" charset="0"/>
                <a:ea typeface="Georgia" pitchFamily="34" charset="-122"/>
                <a:cs typeface="Georgia"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2026-10-19T10:00:17Z</dcterms:created>
  <dcterms:modified xsi:type="dcterms:W3CDTF">2026-10-19T10:00:17Z</dcterms:modified>
</cp:coreProperties>
</file>