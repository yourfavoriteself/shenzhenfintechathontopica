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40</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US dollars per task, one client, measured live</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Sheet1!$B$2:$B$8</c:f>
              <c:numCache>
                <c:formatCode>General</c:formatCode>
                <c:ptCount val="7"/>
                <c:pt idx="0">
                  <c:v>0.004558</c:v>
                </c:pt>
                <c:pt idx="1">
                  <c:v>0.000308</c:v>
                </c:pt>
                <c:pt idx="2">
                  <c:v>0.000684</c:v>
                </c:pt>
                <c:pt idx="3">
                  <c:v>0.004408</c:v>
                </c:pt>
                <c:pt idx="4">
                  <c:v>0.000545</c:v>
                </c:pt>
                <c:pt idx="5">
                  <c:v>0.000606</c:v>
                </c:pt>
                <c:pt idx="6">
                  <c:v>0.000305</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Sheet1!$C$2:$C$8</c:f>
              <c:numCache>
                <c:formatCode>General</c:formatCode>
                <c:ptCount val="7"/>
                <c:pt idx="0">
                  <c:v>0</c:v>
                </c:pt>
                <c:pt idx="1">
                  <c:v>0.000313</c:v>
                </c:pt>
                <c:pt idx="2">
                  <c:v>0</c:v>
                </c:pt>
                <c:pt idx="3">
                  <c:v>0.002751</c:v>
                </c:pt>
                <c:pt idx="4">
                  <c:v>0.000437</c:v>
                </c:pt>
                <c:pt idx="5">
                  <c:v>0.000461</c:v>
                </c:pt>
                <c:pt idx="6">
                  <c:v>0.000307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Our whole project in one sentence: An AI agent may propose any payment, but money moves only inside what the client signed, and the bank can prove it. In ten minutes: the problem, the idea, three scenes from the demo, how the kernel works, the security results, cost and a pilot with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48 attacks against an agent without our kernel. 48 succeeded and it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$9.63 a month, did 13 things, asked 13 times and stopped 6. The whole run is in the evidence folder: 437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three scenes from our demo, let it be these. One: a payment the client can prove. The kernel renders the card, every field has its source, the client signs it with the device key, and next month the same payment runs alone under a standing permission. Two: an attack that goes nowhere. A fake bill imitates the electricity company, the account is not theirs, and it carries a hidden instruction for AI agents. The kernel stops it with reasons and sends the case to analysts. Three: real money logic on a real exchange. The client asks to invest ten dollars a month in SPY; the kernel checks the order with its own quote and places it. On an Alpaca paper account the order filled at $767.57. Everything else in the demo, the budget, the scam call, earned trust, is the same kernel doing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earned, and it is lost faster than it is earned. Every kind of task starts at level 1: inside a standing permission an agent may act alone up to $12.07. Five results in a row that the kernel verified in the bank raise it to level 2. One mistake lowers it a level, and acting outside the signed permission drops it straight to zero. The second axis is the agent itself: its role, model and the hash of its instructions. A mistake is a strike, a scope violation two. Three strikes mean 24 hours of quarantine: the kernel revokes its passports and everything it proposes needs a card. Then probation until five clean results. The client can also press Undo on any payment made alone, and that counts too. In the demo the fifth verified result promotes subscriptions; then a faulty planner tries twice, is stopped twice, and is quarantined. 0 of 2 faulty actions executed. Every change is in the signed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says: invest ten dollars a month in SPY. The agent can only propose the order. The kernel's broker step fetches its own quote and asset record from the broker and checks the order against the client's investment mandate: a short list of broad funds, plain tickers only, so no options, crypto, penny stocks, short selling or margin; $1 to $25 an order inside a $50 investment envelope; any price the agent cites must be within 2 percent of the market; one order per fund a day. The client signs the first order and can allow a monthly plan. The kernel picks the order type by the market session: a market order in regular hours, a limit order in pre market and after hours, otherwise the order waits for the open. Then it reads the order back from the broker and journals the fill. The demo uses a sandbox broker with US market hours; the same code runs on an Alpaca paper account. In the red-team, 9 of 9 attacks on orders are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48 static attacks: fake bills, injected instructions, swapped payees, look-alike merchants, replayed signatures, over-limit requests, off-list investment orders. All 48 stopped. 5 attacks that try to plant something in the assistant's memory for later: all stopped. An adaptive attacker that learns from the kernel's answers, 10 rounds, 360 attempts: zero payments outside the mandate. We also let an open model, DeepSeek V4 Pro, play that attacker: 156 attempts, none reached its goal. And the earlier prototype's suite: 20 of 21 prevented, one bounded by the limit. Without the kernel the same static set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Convention for Agent Payment Applications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$0.0114 in tokens; the next month $0.0043, 62.6 percent less, because the repeat payment and the repeated check run from templates with no model call. In the full demo 97.6 percent of the work stays on levels zero and one. At the next-month rate a million clients cost about $4,000 a month. These numbers are measured on a live run with real models: claude-haiku-4-5-20251001 on level one, claude-sonnet-5-5 and claude-opus-5-5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this reaches real clients. The customer is the bank, not the client: Guardian runs inside the bank as the gate for its agent channel. The bank gets three things: fraud losses it does not pay out, a safe way to let third party AI assistants act for its clients, and audit evidence for the regulator. We propose a pilot in three stages. First, shadow mode for about three months: the kernel sees real agent requests and fraud cases, decides, but does not act, and we compare its decisions with the fraud team's. Second, the bank's own employees with real money and small caps. Third, a few thousand volunteer clients, starting with subscriptions and bills, then investing. We measure what the bank cares about: attacks stopped compared with its fraud team, how often a card asks the client without need, zero payments outside a mandate, and cost per client, which today is about $0.0043 a month in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59 of 59 attacks in the evaluation set are stopped, and the whole repository has an automated test suite that runs in the Docker build. With real models the same evaluation passes 44 of 48; every miss is the live critic stopping something a card was expected for. Everything is reproducible from the repository in replay mode without any keys. Next: the pilot with a bank,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063240"/>
            <a:ext cx="7863840" cy="411480"/>
          </a:xfrm>
          <a:prstGeom prst="rect">
            <a:avLst/>
          </a:prstGeom>
          <a:noFill/>
          <a:ln/>
        </p:spPr>
        <p:txBody>
          <a:bodyPr wrap="square" lIns="0" tIns="0" rIns="0" bIns="0" rtlCol="0" anchor="ctr"/>
          <a:lstStyle/>
          <a:p>
            <a:pPr indent="0" marL="0">
              <a:buNone/>
            </a:pPr>
            <a:r>
              <a:rPr lang="en-US" sz="2000" dirty="0">
                <a:solidFill>
                  <a:srgbClr val="667085"/>
                </a:solidFill>
                <a:latin typeface="Inter" pitchFamily="34" charset="0"/>
                <a:ea typeface="Inter" pitchFamily="34" charset="-122"/>
                <a:cs typeface="Inter" pitchFamily="34" charset="-120"/>
              </a:rPr>
              <a:t>A bank-side safety kernel for AI payment agents</a:t>
            </a:r>
            <a:endParaRPr lang="en-US" sz="2000" dirty="0"/>
          </a:p>
        </p:txBody>
      </p:sp>
      <p:sp>
        <p:nvSpPr>
          <p:cNvPr id="7" name="Text 4"/>
          <p:cNvSpPr/>
          <p:nvPr/>
        </p:nvSpPr>
        <p:spPr>
          <a:xfrm>
            <a:off x="640080" y="3474720"/>
            <a:ext cx="7863840" cy="685800"/>
          </a:xfrm>
          <a:prstGeom prst="rect">
            <a:avLst/>
          </a:prstGeom>
          <a:noFill/>
          <a:ln/>
        </p:spPr>
        <p:txBody>
          <a:bodyPr wrap="square" lIns="0" tIns="0" rIns="0" bIns="0" rtlCol="0" anchor="t"/>
          <a:lstStyle/>
          <a:p>
            <a:pPr indent="0" marL="0">
              <a:buNone/>
            </a:pPr>
            <a:r>
              <a:rPr lang="en-US" sz="1700" b="1" dirty="0">
                <a:solidFill>
                  <a:srgbClr val="101828"/>
                </a:solidFill>
                <a:latin typeface="Inter" pitchFamily="34" charset="0"/>
                <a:ea typeface="Inter" pitchFamily="34" charset="-122"/>
                <a:cs typeface="Inter" pitchFamily="34" charset="-120"/>
              </a:rPr>
              <a:t>An AI agent may propose any payment, but money moves only inside what the client signed, and the bank can prove it.</a:t>
            </a:r>
            <a:endParaRPr lang="en-US" sz="17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15</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48 / 48</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$6,546.63</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15</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15</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$5</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$10.23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$9.63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6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437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Three scenes to remember</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15</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457200" y="1097280"/>
            <a:ext cx="2560320" cy="2595880"/>
          </a:xfrm>
          <a:prstGeom prst="rect">
            <a:avLst/>
          </a:prstGeom>
        </p:spPr>
      </p:pic>
      <p:sp>
        <p:nvSpPr>
          <p:cNvPr id="9" name="Shape 5"/>
          <p:cNvSpPr/>
          <p:nvPr/>
        </p:nvSpPr>
        <p:spPr>
          <a:xfrm>
            <a:off x="457200" y="1097280"/>
            <a:ext cx="2560320" cy="2595880"/>
          </a:xfrm>
          <a:prstGeom prst="roundRect">
            <a:avLst>
              <a:gd name="adj" fmla="val 2143"/>
            </a:avLst>
          </a:prstGeom>
          <a:ln w="12700">
            <a:solidFill>
              <a:srgbClr val="E4E7EC"/>
            </a:solidFill>
            <a:prstDash val="solid"/>
          </a:ln>
        </p:spPr>
      </p:sp>
      <p:sp>
        <p:nvSpPr>
          <p:cNvPr id="10" name="Text 6"/>
          <p:cNvSpPr/>
          <p:nvPr/>
        </p:nvSpPr>
        <p:spPr>
          <a:xfrm>
            <a:off x="45720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1  A payment the client can prove</a:t>
            </a:r>
            <a:endParaRPr lang="en-US" sz="1200" dirty="0"/>
          </a:p>
        </p:txBody>
      </p:sp>
      <p:sp>
        <p:nvSpPr>
          <p:cNvPr id="11" name="Text 7"/>
          <p:cNvSpPr/>
          <p:nvPr/>
        </p:nvSpPr>
        <p:spPr>
          <a:xfrm>
            <a:off x="45720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card, device signature, then a standing permission</a:t>
            </a:r>
            <a:endParaRPr lang="en-US" sz="1000" dirty="0"/>
          </a:p>
        </p:txBody>
      </p:sp>
      <p:pic>
        <p:nvPicPr>
          <p:cNvPr id="12" name="Image 1" descr="/workspace/ShenzhenFinTechathonTopicA/docs/media/06_fake_bill_chat.png">    </p:cNvPr>
          <p:cNvPicPr>
            <a:picLocks noChangeAspect="1"/>
          </p:cNvPicPr>
          <p:nvPr/>
        </p:nvPicPr>
        <p:blipFill>
          <a:blip r:embed="rId2"/>
          <a:stretch>
            <a:fillRect/>
          </a:stretch>
        </p:blipFill>
        <p:spPr>
          <a:xfrm>
            <a:off x="3291840" y="1097280"/>
            <a:ext cx="2560320" cy="2595880"/>
          </a:xfrm>
          <a:prstGeom prst="rect">
            <a:avLst/>
          </a:prstGeom>
        </p:spPr>
      </p:pic>
      <p:sp>
        <p:nvSpPr>
          <p:cNvPr id="13" name="Shape 8"/>
          <p:cNvSpPr/>
          <p:nvPr/>
        </p:nvSpPr>
        <p:spPr>
          <a:xfrm>
            <a:off x="3291840" y="1097280"/>
            <a:ext cx="2560320" cy="2595880"/>
          </a:xfrm>
          <a:prstGeom prst="roundRect">
            <a:avLst>
              <a:gd name="adj" fmla="val 2143"/>
            </a:avLst>
          </a:prstGeom>
          <a:ln w="12700">
            <a:solidFill>
              <a:srgbClr val="E4E7EC"/>
            </a:solidFill>
            <a:prstDash val="solid"/>
          </a:ln>
        </p:spPr>
      </p:sp>
      <p:sp>
        <p:nvSpPr>
          <p:cNvPr id="14" name="Text 9"/>
          <p:cNvSpPr/>
          <p:nvPr/>
        </p:nvSpPr>
        <p:spPr>
          <a:xfrm>
            <a:off x="329184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2  An attack that goes nowhere</a:t>
            </a:r>
            <a:endParaRPr lang="en-US" sz="1200" dirty="0"/>
          </a:p>
        </p:txBody>
      </p:sp>
      <p:sp>
        <p:nvSpPr>
          <p:cNvPr id="15" name="Text 10"/>
          <p:cNvSpPr/>
          <p:nvPr/>
        </p:nvSpPr>
        <p:spPr>
          <a:xfrm>
            <a:off x="329184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fake bill with a hidden instruction: stopped, case to analysts</a:t>
            </a:r>
            <a:endParaRPr lang="en-US" sz="1000" dirty="0"/>
          </a:p>
        </p:txBody>
      </p:sp>
      <p:pic>
        <p:nvPicPr>
          <p:cNvPr id="16" name="Image 2" descr="/workspace/ShenzhenFinTechathonTopicA/docs/media/12_invest_chat.png">    </p:cNvPr>
          <p:cNvPicPr>
            <a:picLocks noChangeAspect="1"/>
          </p:cNvPicPr>
          <p:nvPr/>
        </p:nvPicPr>
        <p:blipFill>
          <a:blip r:embed="rId3"/>
          <a:stretch>
            <a:fillRect/>
          </a:stretch>
        </p:blipFill>
        <p:spPr>
          <a:xfrm>
            <a:off x="6126480" y="1097280"/>
            <a:ext cx="2560320" cy="2595880"/>
          </a:xfrm>
          <a:prstGeom prst="rect">
            <a:avLst/>
          </a:prstGeom>
        </p:spPr>
      </p:pic>
      <p:sp>
        <p:nvSpPr>
          <p:cNvPr id="17" name="Shape 11"/>
          <p:cNvSpPr/>
          <p:nvPr/>
        </p:nvSpPr>
        <p:spPr>
          <a:xfrm>
            <a:off x="6126480" y="1097280"/>
            <a:ext cx="2560320" cy="2595880"/>
          </a:xfrm>
          <a:prstGeom prst="roundRect">
            <a:avLst>
              <a:gd name="adj" fmla="val 2143"/>
            </a:avLst>
          </a:prstGeom>
          <a:ln w="12700">
            <a:solidFill>
              <a:srgbClr val="E4E7EC"/>
            </a:solidFill>
            <a:prstDash val="solid"/>
          </a:ln>
        </p:spPr>
      </p:sp>
      <p:sp>
        <p:nvSpPr>
          <p:cNvPr id="18" name="Text 12"/>
          <p:cNvSpPr/>
          <p:nvPr/>
        </p:nvSpPr>
        <p:spPr>
          <a:xfrm>
            <a:off x="612648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3  A real exchange, in a mandate</a:t>
            </a:r>
            <a:endParaRPr lang="en-US" sz="1200" dirty="0"/>
          </a:p>
        </p:txBody>
      </p:sp>
      <p:sp>
        <p:nvSpPr>
          <p:cNvPr id="19" name="Text 13"/>
          <p:cNvSpPr/>
          <p:nvPr/>
        </p:nvSpPr>
        <p:spPr>
          <a:xfrm>
            <a:off x="612648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SPY on Alpaca paper, filled at $767.57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15</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15</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$12.07;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Earned trust: rewards and penalties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15</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kind of task</a:t>
            </a:r>
            <a:endParaRPr lang="en-US" sz="1700" dirty="0"/>
          </a:p>
        </p:txBody>
      </p:sp>
      <p:sp>
        <p:nvSpPr>
          <p:cNvPr id="9" name="Shape 6"/>
          <p:cNvSpPr/>
          <p:nvPr/>
        </p:nvSpPr>
        <p:spPr>
          <a:xfrm>
            <a:off x="457200" y="1508760"/>
            <a:ext cx="2651760" cy="457200"/>
          </a:xfrm>
          <a:prstGeom prst="roundRect">
            <a:avLst>
              <a:gd name="adj" fmla="val 16000"/>
            </a:avLst>
          </a:prstGeom>
          <a:solidFill>
            <a:srgbClr val="E8F6F3"/>
          </a:solidFill>
          <a:ln w="12700">
            <a:solidFill>
              <a:srgbClr val="B7E4D9"/>
            </a:solidFill>
            <a:prstDash val="solid"/>
          </a:ln>
        </p:spPr>
      </p:sp>
      <p:sp>
        <p:nvSpPr>
          <p:cNvPr id="10" name="Text 7"/>
          <p:cNvSpPr/>
          <p:nvPr/>
        </p:nvSpPr>
        <p:spPr>
          <a:xfrm>
            <a:off x="566928" y="150876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2  </a:t>
            </a:r>
            <a:pPr indent="0" marL="0">
              <a:buNone/>
            </a:pPr>
            <a:r>
              <a:rPr lang="en-US" sz="1100" dirty="0">
                <a:solidFill>
                  <a:srgbClr val="101828"/>
                </a:solidFill>
                <a:latin typeface="Inter" pitchFamily="34" charset="0"/>
                <a:ea typeface="Inter" pitchFamily="34" charset="-122"/>
                <a:cs typeface="Inter" pitchFamily="34" charset="-120"/>
              </a:rPr>
              <a:t>alone up to the permission's cap</a:t>
            </a:r>
            <a:endParaRPr lang="en-US" sz="1100" dirty="0"/>
          </a:p>
        </p:txBody>
      </p:sp>
      <p:sp>
        <p:nvSpPr>
          <p:cNvPr id="11" name="Shape 8"/>
          <p:cNvSpPr/>
          <p:nvPr/>
        </p:nvSpPr>
        <p:spPr>
          <a:xfrm>
            <a:off x="457200" y="2057400"/>
            <a:ext cx="2651760" cy="457200"/>
          </a:xfrm>
          <a:prstGeom prst="roundRect">
            <a:avLst>
              <a:gd name="adj" fmla="val 16000"/>
            </a:avLst>
          </a:prstGeom>
          <a:solidFill>
            <a:srgbClr val="EEF4FF"/>
          </a:solidFill>
          <a:ln w="12700">
            <a:solidFill>
              <a:srgbClr val="C7D7FE"/>
            </a:solidFill>
            <a:prstDash val="solid"/>
          </a:ln>
        </p:spPr>
      </p:sp>
      <p:sp>
        <p:nvSpPr>
          <p:cNvPr id="12" name="Text 9"/>
          <p:cNvSpPr/>
          <p:nvPr/>
        </p:nvSpPr>
        <p:spPr>
          <a:xfrm>
            <a:off x="566928" y="205740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1  </a:t>
            </a:r>
            <a:pPr indent="0" marL="0">
              <a:buNone/>
            </a:pPr>
            <a:r>
              <a:rPr lang="en-US" sz="1100" dirty="0">
                <a:solidFill>
                  <a:srgbClr val="101828"/>
                </a:solidFill>
                <a:latin typeface="Inter" pitchFamily="34" charset="0"/>
                <a:ea typeface="Inter" pitchFamily="34" charset="-122"/>
                <a:cs typeface="Inter" pitchFamily="34" charset="-120"/>
              </a:rPr>
              <a:t>alone up to $12.07 · the start</a:t>
            </a:r>
            <a:endParaRPr lang="en-US" sz="1100" dirty="0"/>
          </a:p>
        </p:txBody>
      </p:sp>
      <p:sp>
        <p:nvSpPr>
          <p:cNvPr id="13" name="Shape 10"/>
          <p:cNvSpPr/>
          <p:nvPr/>
        </p:nvSpPr>
        <p:spPr>
          <a:xfrm>
            <a:off x="457200" y="2606040"/>
            <a:ext cx="2651760" cy="457200"/>
          </a:xfrm>
          <a:prstGeom prst="roundRect">
            <a:avLst>
              <a:gd name="adj" fmla="val 16000"/>
            </a:avLst>
          </a:prstGeom>
          <a:solidFill>
            <a:srgbClr val="FFF6E5"/>
          </a:solidFill>
          <a:ln w="12700">
            <a:solidFill>
              <a:srgbClr val="FEDF89"/>
            </a:solidFill>
            <a:prstDash val="solid"/>
          </a:ln>
        </p:spPr>
      </p:sp>
      <p:sp>
        <p:nvSpPr>
          <p:cNvPr id="14" name="Text 11"/>
          <p:cNvSpPr/>
          <p:nvPr/>
        </p:nvSpPr>
        <p:spPr>
          <a:xfrm>
            <a:off x="566928" y="260604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0  </a:t>
            </a:r>
            <a:pPr indent="0" marL="0">
              <a:buNone/>
            </a:pPr>
            <a:r>
              <a:rPr lang="en-US" sz="1100" dirty="0">
                <a:solidFill>
                  <a:srgbClr val="101828"/>
                </a:solidFill>
                <a:latin typeface="Inter" pitchFamily="34" charset="0"/>
                <a:ea typeface="Inter" pitchFamily="34" charset="-122"/>
                <a:cs typeface="Inter" pitchFamily="34" charset="-120"/>
              </a:rPr>
              <a:t>a card for everything</a:t>
            </a:r>
            <a:endParaRPr lang="en-US" sz="1100" dirty="0"/>
          </a:p>
        </p:txBody>
      </p:sp>
      <p:sp>
        <p:nvSpPr>
          <p:cNvPr id="15" name="Text 12"/>
          <p:cNvSpPr/>
          <p:nvPr/>
        </p:nvSpPr>
        <p:spPr>
          <a:xfrm>
            <a:off x="3246120" y="1508760"/>
            <a:ext cx="1325880" cy="640080"/>
          </a:xfrm>
          <a:prstGeom prst="rect">
            <a:avLst/>
          </a:prstGeom>
          <a:noFill/>
          <a:ln/>
        </p:spPr>
        <p:txBody>
          <a:bodyPr wrap="square" lIns="0" tIns="0" rIns="0" bIns="0" rtlCol="0" anchor="t"/>
          <a:lstStyle/>
          <a:p>
            <a:pPr indent="0" marL="0">
              <a:buNone/>
            </a:pPr>
            <a:r>
              <a:rPr lang="en-US" sz="1050" b="1" dirty="0">
                <a:solidFill>
                  <a:srgbClr val="067647"/>
                </a:solidFill>
                <a:latin typeface="Inter" pitchFamily="34" charset="0"/>
                <a:ea typeface="Inter" pitchFamily="34" charset="-122"/>
                <a:cs typeface="Inter" pitchFamily="34" charset="-120"/>
              </a:rPr>
              <a:t>Up </a:t>
            </a:r>
            <a:pPr indent="0" marL="0">
              <a:buNone/>
            </a:pPr>
            <a:r>
              <a:rPr lang="en-US" sz="1050" dirty="0">
                <a:solidFill>
                  <a:srgbClr val="101828"/>
                </a:solidFill>
                <a:latin typeface="Inter" pitchFamily="34" charset="0"/>
                <a:ea typeface="Inter" pitchFamily="34" charset="-122"/>
                <a:cs typeface="Inter" pitchFamily="34" charset="-120"/>
              </a:rPr>
              <a:t>after 5 verified results in a row</a:t>
            </a:r>
            <a:endParaRPr lang="en-US" sz="1050" dirty="0"/>
          </a:p>
        </p:txBody>
      </p:sp>
      <p:sp>
        <p:nvSpPr>
          <p:cNvPr id="16" name="Text 13"/>
          <p:cNvSpPr/>
          <p:nvPr/>
        </p:nvSpPr>
        <p:spPr>
          <a:xfrm>
            <a:off x="3246120" y="2240280"/>
            <a:ext cx="1325880" cy="731520"/>
          </a:xfrm>
          <a:prstGeom prst="rect">
            <a:avLst/>
          </a:prstGeom>
          <a:noFill/>
          <a:ln/>
        </p:spPr>
        <p:txBody>
          <a:bodyPr wrap="square" lIns="0" tIns="0" rIns="0" bIns="0" rtlCol="0" anchor="t"/>
          <a:lstStyle/>
          <a:p>
            <a:pPr indent="0" marL="0">
              <a:buNone/>
            </a:pPr>
            <a:r>
              <a:rPr lang="en-US" sz="1050" b="1" dirty="0">
                <a:solidFill>
                  <a:srgbClr val="B42318"/>
                </a:solidFill>
                <a:latin typeface="Inter" pitchFamily="34" charset="0"/>
                <a:ea typeface="Inter" pitchFamily="34" charset="-122"/>
                <a:cs typeface="Inter" pitchFamily="34" charset="-120"/>
              </a:rPr>
              <a:t>Down </a:t>
            </a:r>
            <a:pPr indent="0" marL="0">
              <a:buNone/>
            </a:pPr>
            <a:r>
              <a:rPr lang="en-US" sz="1050" dirty="0">
                <a:solidFill>
                  <a:srgbClr val="101828"/>
                </a:solidFill>
                <a:latin typeface="Inter" pitchFamily="34" charset="0"/>
                <a:ea typeface="Inter" pitchFamily="34" charset="-122"/>
                <a:cs typeface="Inter" pitchFamily="34" charset="-120"/>
              </a:rPr>
              <a:t>one level per mistake; to 0 on a scope violation</a:t>
            </a:r>
            <a:endParaRPr lang="en-US" sz="1050" dirty="0"/>
          </a:p>
        </p:txBody>
      </p:sp>
      <p:sp>
        <p:nvSpPr>
          <p:cNvPr id="17" name="Text 14"/>
          <p:cNvSpPr/>
          <p:nvPr/>
        </p:nvSpPr>
        <p:spPr>
          <a:xfrm>
            <a:off x="466344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agent: role, model, prompt hash</a:t>
            </a:r>
            <a:endParaRPr lang="en-US" sz="1700" dirty="0"/>
          </a:p>
        </p:txBody>
      </p:sp>
      <p:sp>
        <p:nvSpPr>
          <p:cNvPr id="18" name="Shape 15"/>
          <p:cNvSpPr/>
          <p:nvPr/>
        </p:nvSpPr>
        <p:spPr>
          <a:xfrm>
            <a:off x="4663440" y="1508760"/>
            <a:ext cx="1188720" cy="868680"/>
          </a:xfrm>
          <a:prstGeom prst="roundRect">
            <a:avLst>
              <a:gd name="adj" fmla="val 8421"/>
            </a:avLst>
          </a:prstGeom>
          <a:solidFill>
            <a:srgbClr val="FFFFFF"/>
          </a:solidFill>
          <a:ln w="12700">
            <a:solidFill>
              <a:srgbClr val="E4E7EC"/>
            </a:solidFill>
            <a:prstDash val="solid"/>
          </a:ln>
        </p:spPr>
      </p:sp>
      <p:sp>
        <p:nvSpPr>
          <p:cNvPr id="19" name="Text 16"/>
          <p:cNvSpPr/>
          <p:nvPr/>
        </p:nvSpPr>
        <p:spPr>
          <a:xfrm>
            <a:off x="46634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Active</a:t>
            </a:r>
            <a:endParaRPr lang="en-US" sz="1200" dirty="0"/>
          </a:p>
        </p:txBody>
      </p:sp>
      <p:sp>
        <p:nvSpPr>
          <p:cNvPr id="20" name="Text 17"/>
          <p:cNvSpPr/>
          <p:nvPr/>
        </p:nvSpPr>
        <p:spPr>
          <a:xfrm>
            <a:off x="47183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up to level 2</a:t>
            </a:r>
            <a:endParaRPr lang="en-US" sz="900" dirty="0"/>
          </a:p>
        </p:txBody>
      </p:sp>
      <p:sp>
        <p:nvSpPr>
          <p:cNvPr id="21" name="Text 18"/>
          <p:cNvSpPr/>
          <p:nvPr/>
        </p:nvSpPr>
        <p:spPr>
          <a:xfrm>
            <a:off x="58521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2" name="Shape 19"/>
          <p:cNvSpPr/>
          <p:nvPr/>
        </p:nvSpPr>
        <p:spPr>
          <a:xfrm>
            <a:off x="6035040" y="1508760"/>
            <a:ext cx="1188720" cy="868680"/>
          </a:xfrm>
          <a:prstGeom prst="roundRect">
            <a:avLst>
              <a:gd name="adj" fmla="val 8421"/>
            </a:avLst>
          </a:prstGeom>
          <a:solidFill>
            <a:srgbClr val="FEF3F2"/>
          </a:solidFill>
          <a:ln w="12700">
            <a:solidFill>
              <a:srgbClr val="FECDCA"/>
            </a:solidFill>
            <a:prstDash val="solid"/>
          </a:ln>
        </p:spPr>
      </p:sp>
      <p:sp>
        <p:nvSpPr>
          <p:cNvPr id="23" name="Text 20"/>
          <p:cNvSpPr/>
          <p:nvPr/>
        </p:nvSpPr>
        <p:spPr>
          <a:xfrm>
            <a:off x="60350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Quarantine</a:t>
            </a:r>
            <a:endParaRPr lang="en-US" sz="1200" dirty="0"/>
          </a:p>
        </p:txBody>
      </p:sp>
      <p:sp>
        <p:nvSpPr>
          <p:cNvPr id="24" name="Text 21"/>
          <p:cNvSpPr/>
          <p:nvPr/>
        </p:nvSpPr>
        <p:spPr>
          <a:xfrm>
            <a:off x="60899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24 h · level 0 · passports revoked</a:t>
            </a:r>
            <a:endParaRPr lang="en-US" sz="900" dirty="0"/>
          </a:p>
        </p:txBody>
      </p:sp>
      <p:sp>
        <p:nvSpPr>
          <p:cNvPr id="25" name="Text 22"/>
          <p:cNvSpPr/>
          <p:nvPr/>
        </p:nvSpPr>
        <p:spPr>
          <a:xfrm>
            <a:off x="72237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6" name="Shape 23"/>
          <p:cNvSpPr/>
          <p:nvPr/>
        </p:nvSpPr>
        <p:spPr>
          <a:xfrm>
            <a:off x="7406640" y="1508760"/>
            <a:ext cx="1188720" cy="868680"/>
          </a:xfrm>
          <a:prstGeom prst="roundRect">
            <a:avLst>
              <a:gd name="adj" fmla="val 8421"/>
            </a:avLst>
          </a:prstGeom>
          <a:solidFill>
            <a:srgbClr val="FFF6E5"/>
          </a:solidFill>
          <a:ln w="12700">
            <a:solidFill>
              <a:srgbClr val="FEDF89"/>
            </a:solidFill>
            <a:prstDash val="solid"/>
          </a:ln>
        </p:spPr>
      </p:sp>
      <p:sp>
        <p:nvSpPr>
          <p:cNvPr id="27" name="Text 24"/>
          <p:cNvSpPr/>
          <p:nvPr/>
        </p:nvSpPr>
        <p:spPr>
          <a:xfrm>
            <a:off x="74066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Probation</a:t>
            </a:r>
            <a:endParaRPr lang="en-US" sz="1200" dirty="0"/>
          </a:p>
        </p:txBody>
      </p:sp>
      <p:sp>
        <p:nvSpPr>
          <p:cNvPr id="28" name="Text 25"/>
          <p:cNvSpPr/>
          <p:nvPr/>
        </p:nvSpPr>
        <p:spPr>
          <a:xfrm>
            <a:off x="74615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at most level 1</a:t>
            </a:r>
            <a:endParaRPr lang="en-US" sz="900" dirty="0"/>
          </a:p>
        </p:txBody>
      </p:sp>
      <p:sp>
        <p:nvSpPr>
          <p:cNvPr id="29" name="Text 26"/>
          <p:cNvSpPr/>
          <p:nvPr/>
        </p:nvSpPr>
        <p:spPr>
          <a:xfrm>
            <a:off x="4663440" y="2468880"/>
            <a:ext cx="4023360" cy="594360"/>
          </a:xfrm>
          <a:prstGeom prst="rect">
            <a:avLst/>
          </a:prstGeom>
          <a:noFill/>
          <a:ln/>
        </p:spPr>
        <p:txBody>
          <a:bodyPr wrap="square" lIns="0" tIns="0" rIns="0" bIns="0" rtlCol="0" anchor="t"/>
          <a:lstStyle/>
          <a:p>
            <a:pPr indent="0" marL="0">
              <a:buNone/>
            </a:pPr>
            <a:r>
              <a:rPr lang="en-US" sz="1050" dirty="0">
                <a:solidFill>
                  <a:srgbClr val="101828"/>
                </a:solidFill>
                <a:latin typeface="Inter" pitchFamily="34" charset="0"/>
                <a:ea typeface="Inter" pitchFamily="34" charset="-122"/>
                <a:cs typeface="Inter" pitchFamily="34" charset="-120"/>
              </a:rPr>
              <a:t>A mistake is 1 strike, a scope violation 2, a payment the client undoes 1. Three strikes: quarantine. Five clean results end probation; a mistake on probation means quarantine again.</a:t>
            </a:r>
            <a:endParaRPr lang="en-US" sz="1050" dirty="0"/>
          </a:p>
        </p:txBody>
      </p:sp>
      <p:sp>
        <p:nvSpPr>
          <p:cNvPr id="30" name="Shape 27"/>
          <p:cNvSpPr/>
          <p:nvPr/>
        </p:nvSpPr>
        <p:spPr>
          <a:xfrm>
            <a:off x="457200" y="333756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59436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2" name="Text 29"/>
          <p:cNvSpPr/>
          <p:nvPr/>
        </p:nvSpPr>
        <p:spPr>
          <a:xfrm>
            <a:off x="59436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promotion: subscriptions reach level 2</a:t>
            </a:r>
            <a:endParaRPr lang="en-US" sz="1050" dirty="0"/>
          </a:p>
        </p:txBody>
      </p:sp>
      <p:sp>
        <p:nvSpPr>
          <p:cNvPr id="33" name="Shape 30"/>
          <p:cNvSpPr/>
          <p:nvPr/>
        </p:nvSpPr>
        <p:spPr>
          <a:xfrm>
            <a:off x="2560320" y="333756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2697480" y="342900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1</a:t>
            </a:r>
            <a:endParaRPr lang="en-US" sz="2600" dirty="0"/>
          </a:p>
        </p:txBody>
      </p:sp>
      <p:sp>
        <p:nvSpPr>
          <p:cNvPr id="35" name="Text 32"/>
          <p:cNvSpPr/>
          <p:nvPr/>
        </p:nvSpPr>
        <p:spPr>
          <a:xfrm>
            <a:off x="269748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demotion: a faulty planner, level 2 to 0</a:t>
            </a:r>
            <a:endParaRPr lang="en-US" sz="1050" dirty="0"/>
          </a:p>
        </p:txBody>
      </p:sp>
      <p:sp>
        <p:nvSpPr>
          <p:cNvPr id="36" name="Shape 33"/>
          <p:cNvSpPr/>
          <p:nvPr/>
        </p:nvSpPr>
        <p:spPr>
          <a:xfrm>
            <a:off x="4663440" y="333756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4800600" y="3429000"/>
            <a:ext cx="1645920" cy="548640"/>
          </a:xfrm>
          <a:prstGeom prst="rect">
            <a:avLst/>
          </a:prstGeom>
          <a:noFill/>
          <a:ln/>
        </p:spPr>
        <p:txBody>
          <a:bodyPr wrap="square" lIns="0" tIns="0" rIns="0" bIns="0" rtlCol="0" anchor="ctr"/>
          <a:lstStyle/>
          <a:p>
            <a:pPr indent="0" marL="0">
              <a:buNone/>
            </a:pPr>
            <a:r>
              <a:rPr lang="en-US" sz="2600" b="1" dirty="0">
                <a:solidFill>
                  <a:srgbClr val="B54708"/>
                </a:solidFill>
                <a:latin typeface="Inter" pitchFamily="34" charset="0"/>
                <a:ea typeface="Inter" pitchFamily="34" charset="-122"/>
                <a:cs typeface="Inter" pitchFamily="34" charset="-120"/>
              </a:rPr>
              <a:t>3 › 1</a:t>
            </a:r>
            <a:endParaRPr lang="en-US" sz="2600" dirty="0"/>
          </a:p>
        </p:txBody>
      </p:sp>
      <p:sp>
        <p:nvSpPr>
          <p:cNvPr id="38" name="Text 35"/>
          <p:cNvSpPr/>
          <p:nvPr/>
        </p:nvSpPr>
        <p:spPr>
          <a:xfrm>
            <a:off x="480060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strikes, then quarantine; 2 passports revoked</a:t>
            </a:r>
            <a:endParaRPr lang="en-US" sz="1050" dirty="0"/>
          </a:p>
        </p:txBody>
      </p:sp>
      <p:sp>
        <p:nvSpPr>
          <p:cNvPr id="39" name="Shape 36"/>
          <p:cNvSpPr/>
          <p:nvPr/>
        </p:nvSpPr>
        <p:spPr>
          <a:xfrm>
            <a:off x="6766560" y="3337560"/>
            <a:ext cx="1920240" cy="1188720"/>
          </a:xfrm>
          <a:prstGeom prst="roundRect">
            <a:avLst>
              <a:gd name="adj" fmla="val 7692"/>
            </a:avLst>
          </a:prstGeom>
          <a:solidFill>
            <a:srgbClr val="F4F5F7"/>
          </a:solidFill>
          <a:ln w="12700">
            <a:solidFill>
              <a:srgbClr val="F4F5F7"/>
            </a:solidFill>
            <a:prstDash val="solid"/>
          </a:ln>
        </p:spPr>
      </p:sp>
      <p:sp>
        <p:nvSpPr>
          <p:cNvPr id="40" name="Text 37"/>
          <p:cNvSpPr/>
          <p:nvPr/>
        </p:nvSpPr>
        <p:spPr>
          <a:xfrm>
            <a:off x="690372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0/2</a:t>
            </a:r>
            <a:endParaRPr lang="en-US" sz="2600" dirty="0"/>
          </a:p>
        </p:txBody>
      </p:sp>
      <p:sp>
        <p:nvSpPr>
          <p:cNvPr id="41" name="Text 38"/>
          <p:cNvSpPr/>
          <p:nvPr/>
        </p:nvSpPr>
        <p:spPr>
          <a:xfrm>
            <a:off x="690372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faulty agent actions executed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Investing: the agent proposes, the kernel trades</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15</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Broker step: the kernel's own quote</a:t>
            </a:r>
            <a:endParaRPr lang="en-US" sz="1600" dirty="0"/>
          </a:p>
        </p:txBody>
      </p:sp>
      <p:sp>
        <p:nvSpPr>
          <p:cNvPr id="9" name="Shape 6"/>
          <p:cNvSpPr/>
          <p:nvPr/>
        </p:nvSpPr>
        <p:spPr>
          <a:xfrm>
            <a:off x="457200" y="1463040"/>
            <a:ext cx="4023360" cy="310896"/>
          </a:xfrm>
          <a:prstGeom prst="roundRect">
            <a:avLst>
              <a:gd name="adj" fmla="val 17647"/>
            </a:avLst>
          </a:prstGeom>
          <a:solidFill>
            <a:srgbClr val="F4F5F7"/>
          </a:solidFill>
          <a:ln w="12700">
            <a:solidFill>
              <a:srgbClr val="F4F5F7"/>
            </a:solidFill>
            <a:prstDash val="solid"/>
          </a:ln>
        </p:spPr>
      </p:sp>
      <p:sp>
        <p:nvSpPr>
          <p:cNvPr id="10" name="Text 7"/>
          <p:cNvSpPr/>
          <p:nvPr/>
        </p:nvSpPr>
        <p:spPr>
          <a:xfrm>
            <a:off x="548640" y="146304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What  </a:t>
            </a:r>
            <a:pPr indent="0" marL="0">
              <a:buNone/>
            </a:pPr>
            <a:r>
              <a:rPr lang="en-US" sz="950" dirty="0">
                <a:solidFill>
                  <a:srgbClr val="101828"/>
                </a:solidFill>
                <a:latin typeface="Inter" pitchFamily="34" charset="0"/>
                <a:ea typeface="Inter" pitchFamily="34" charset="-122"/>
                <a:cs typeface="Inter" pitchFamily="34" charset="-120"/>
              </a:rPr>
              <a:t>SPY, VTI, QQQ, BND only; no options, crypto, OTC or shorts</a:t>
            </a:r>
            <a:endParaRPr lang="en-US" sz="950" dirty="0"/>
          </a:p>
        </p:txBody>
      </p:sp>
      <p:sp>
        <p:nvSpPr>
          <p:cNvPr id="11" name="Shape 8"/>
          <p:cNvSpPr/>
          <p:nvPr/>
        </p:nvSpPr>
        <p:spPr>
          <a:xfrm>
            <a:off x="457200" y="1828800"/>
            <a:ext cx="4023360" cy="310896"/>
          </a:xfrm>
          <a:prstGeom prst="roundRect">
            <a:avLst>
              <a:gd name="adj" fmla="val 17647"/>
            </a:avLst>
          </a:prstGeom>
          <a:solidFill>
            <a:srgbClr val="F4F5F7"/>
          </a:solidFill>
          <a:ln w="12700">
            <a:solidFill>
              <a:srgbClr val="F4F5F7"/>
            </a:solidFill>
            <a:prstDash val="solid"/>
          </a:ln>
        </p:spPr>
      </p:sp>
      <p:sp>
        <p:nvSpPr>
          <p:cNvPr id="12" name="Text 9"/>
          <p:cNvSpPr/>
          <p:nvPr/>
        </p:nvSpPr>
        <p:spPr>
          <a:xfrm>
            <a:off x="548640" y="182880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much  </a:t>
            </a:r>
            <a:pPr indent="0" marL="0">
              <a:buNone/>
            </a:pPr>
            <a:r>
              <a:rPr lang="en-US" sz="950" dirty="0">
                <a:solidFill>
                  <a:srgbClr val="101828"/>
                </a:solidFill>
                <a:latin typeface="Inter" pitchFamily="34" charset="0"/>
                <a:ea typeface="Inter" pitchFamily="34" charset="-122"/>
                <a:cs typeface="Inter" pitchFamily="34" charset="-120"/>
              </a:rPr>
              <a:t>$1 to $25 in dollars, inside the $50 envelope</a:t>
            </a:r>
            <a:endParaRPr lang="en-US" sz="950" dirty="0"/>
          </a:p>
        </p:txBody>
      </p:sp>
      <p:sp>
        <p:nvSpPr>
          <p:cNvPr id="13" name="Shape 10"/>
          <p:cNvSpPr/>
          <p:nvPr/>
        </p:nvSpPr>
        <p:spPr>
          <a:xfrm>
            <a:off x="457200" y="2194560"/>
            <a:ext cx="4023360" cy="310896"/>
          </a:xfrm>
          <a:prstGeom prst="roundRect">
            <a:avLst>
              <a:gd name="adj" fmla="val 17647"/>
            </a:avLst>
          </a:prstGeom>
          <a:solidFill>
            <a:srgbClr val="F4F5F7"/>
          </a:solidFill>
          <a:ln w="12700">
            <a:solidFill>
              <a:srgbClr val="F4F5F7"/>
            </a:solidFill>
            <a:prstDash val="solid"/>
          </a:ln>
        </p:spPr>
      </p:sp>
      <p:sp>
        <p:nvSpPr>
          <p:cNvPr id="14" name="Text 11"/>
          <p:cNvSpPr/>
          <p:nvPr/>
        </p:nvSpPr>
        <p:spPr>
          <a:xfrm>
            <a:off x="548640" y="219456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Price  </a:t>
            </a:r>
            <a:pPr indent="0" marL="0">
              <a:buNone/>
            </a:pPr>
            <a:r>
              <a:rPr lang="en-US" sz="950" dirty="0">
                <a:solidFill>
                  <a:srgbClr val="101828"/>
                </a:solidFill>
                <a:latin typeface="Inter" pitchFamily="34" charset="0"/>
                <a:ea typeface="Inter" pitchFamily="34" charset="-122"/>
                <a:cs typeface="Inter" pitchFamily="34" charset="-120"/>
              </a:rPr>
              <a:t>fresh quote; a cited price within 2% of it</a:t>
            </a:r>
            <a:endParaRPr lang="en-US" sz="950" dirty="0"/>
          </a:p>
        </p:txBody>
      </p:sp>
      <p:sp>
        <p:nvSpPr>
          <p:cNvPr id="15" name="Shape 12"/>
          <p:cNvSpPr/>
          <p:nvPr/>
        </p:nvSpPr>
        <p:spPr>
          <a:xfrm>
            <a:off x="457200" y="2560320"/>
            <a:ext cx="4023360" cy="310896"/>
          </a:xfrm>
          <a:prstGeom prst="roundRect">
            <a:avLst>
              <a:gd name="adj" fmla="val 17647"/>
            </a:avLst>
          </a:prstGeom>
          <a:solidFill>
            <a:srgbClr val="F4F5F7"/>
          </a:solidFill>
          <a:ln w="12700">
            <a:solidFill>
              <a:srgbClr val="F4F5F7"/>
            </a:solidFill>
            <a:prstDash val="solid"/>
          </a:ln>
        </p:spPr>
      </p:sp>
      <p:sp>
        <p:nvSpPr>
          <p:cNvPr id="16" name="Text 13"/>
          <p:cNvSpPr/>
          <p:nvPr/>
        </p:nvSpPr>
        <p:spPr>
          <a:xfrm>
            <a:off x="548640" y="256032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often  </a:t>
            </a:r>
            <a:pPr indent="0" marL="0">
              <a:buNone/>
            </a:pPr>
            <a:r>
              <a:rPr lang="en-US" sz="950" dirty="0">
                <a:solidFill>
                  <a:srgbClr val="101828"/>
                </a:solidFill>
                <a:latin typeface="Inter" pitchFamily="34" charset="0"/>
                <a:ea typeface="Inter" pitchFamily="34" charset="-122"/>
                <a:cs typeface="Inter" pitchFamily="34" charset="-120"/>
              </a:rPr>
              <a:t>1 order per security a day</a:t>
            </a:r>
            <a:endParaRPr lang="en-US" sz="950" dirty="0"/>
          </a:p>
        </p:txBody>
      </p:sp>
      <p:sp>
        <p:nvSpPr>
          <p:cNvPr id="17" name="Shape 14"/>
          <p:cNvSpPr/>
          <p:nvPr/>
        </p:nvSpPr>
        <p:spPr>
          <a:xfrm>
            <a:off x="457200" y="2926080"/>
            <a:ext cx="4023360" cy="310896"/>
          </a:xfrm>
          <a:prstGeom prst="roundRect">
            <a:avLst>
              <a:gd name="adj" fmla="val 17647"/>
            </a:avLst>
          </a:prstGeom>
          <a:solidFill>
            <a:srgbClr val="F4F5F7"/>
          </a:solidFill>
          <a:ln w="12700">
            <a:solidFill>
              <a:srgbClr val="F4F5F7"/>
            </a:solidFill>
            <a:prstDash val="solid"/>
          </a:ln>
        </p:spPr>
      </p:sp>
      <p:sp>
        <p:nvSpPr>
          <p:cNvPr id="18" name="Text 15"/>
          <p:cNvSpPr/>
          <p:nvPr/>
        </p:nvSpPr>
        <p:spPr>
          <a:xfrm>
            <a:off x="548640" y="292608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Result  </a:t>
            </a:r>
            <a:pPr indent="0" marL="0">
              <a:buNone/>
            </a:pPr>
            <a:r>
              <a:rPr lang="en-US" sz="950" dirty="0">
                <a:solidFill>
                  <a:srgbClr val="101828"/>
                </a:solidFill>
                <a:latin typeface="Inter" pitchFamily="34" charset="0"/>
                <a:ea typeface="Inter" pitchFamily="34" charset="-122"/>
                <a:cs typeface="Inter" pitchFamily="34" charset="-120"/>
              </a:rPr>
              <a:t>order read back from the broker, fill journaled</a:t>
            </a:r>
            <a:endParaRPr lang="en-US" sz="950" dirty="0"/>
          </a:p>
        </p:txBody>
      </p:sp>
      <p:sp>
        <p:nvSpPr>
          <p:cNvPr id="19" name="Text 16"/>
          <p:cNvSpPr/>
          <p:nvPr/>
        </p:nvSpPr>
        <p:spPr>
          <a:xfrm>
            <a:off x="466344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Order type by market session</a:t>
            </a:r>
            <a:endParaRPr lang="en-US" sz="1600" dirty="0"/>
          </a:p>
        </p:txBody>
      </p:sp>
      <p:sp>
        <p:nvSpPr>
          <p:cNvPr id="20" name="Shape 17"/>
          <p:cNvSpPr/>
          <p:nvPr/>
        </p:nvSpPr>
        <p:spPr>
          <a:xfrm>
            <a:off x="4663440" y="1463040"/>
            <a:ext cx="4023360" cy="457200"/>
          </a:xfrm>
          <a:prstGeom prst="roundRect">
            <a:avLst>
              <a:gd name="adj" fmla="val 16000"/>
            </a:avLst>
          </a:prstGeom>
          <a:solidFill>
            <a:srgbClr val="E8F6F3"/>
          </a:solidFill>
          <a:ln w="12700">
            <a:solidFill>
              <a:srgbClr val="B7E4D9"/>
            </a:solidFill>
            <a:prstDash val="solid"/>
          </a:ln>
        </p:spPr>
      </p:sp>
      <p:sp>
        <p:nvSpPr>
          <p:cNvPr id="21" name="Text 18"/>
          <p:cNvSpPr/>
          <p:nvPr/>
        </p:nvSpPr>
        <p:spPr>
          <a:xfrm>
            <a:off x="4773168" y="1463040"/>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Regular hours, 9:30 to 16:00 New York</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for the dollar amount</a:t>
            </a:r>
            <a:endParaRPr lang="en-US" sz="1000" dirty="0"/>
          </a:p>
        </p:txBody>
      </p:sp>
      <p:sp>
        <p:nvSpPr>
          <p:cNvPr id="22" name="Shape 19"/>
          <p:cNvSpPr/>
          <p:nvPr/>
        </p:nvSpPr>
        <p:spPr>
          <a:xfrm>
            <a:off x="4663440" y="1993392"/>
            <a:ext cx="4023360" cy="457200"/>
          </a:xfrm>
          <a:prstGeom prst="roundRect">
            <a:avLst>
              <a:gd name="adj" fmla="val 16000"/>
            </a:avLst>
          </a:prstGeom>
          <a:solidFill>
            <a:srgbClr val="EEF4FF"/>
          </a:solidFill>
          <a:ln w="12700">
            <a:solidFill>
              <a:srgbClr val="C7D7FE"/>
            </a:solidFill>
            <a:prstDash val="solid"/>
          </a:ln>
        </p:spPr>
      </p:sp>
      <p:sp>
        <p:nvSpPr>
          <p:cNvPr id="23" name="Text 20"/>
          <p:cNvSpPr/>
          <p:nvPr/>
        </p:nvSpPr>
        <p:spPr>
          <a:xfrm>
            <a:off x="4773168" y="1993392"/>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Pre market from 4:00, after hours until 20:00</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limit order at the quote + 0.5%, extended hours</a:t>
            </a:r>
            <a:endParaRPr lang="en-US" sz="1000" dirty="0"/>
          </a:p>
        </p:txBody>
      </p:sp>
      <p:sp>
        <p:nvSpPr>
          <p:cNvPr id="24" name="Shape 21"/>
          <p:cNvSpPr/>
          <p:nvPr/>
        </p:nvSpPr>
        <p:spPr>
          <a:xfrm>
            <a:off x="4663440" y="2523744"/>
            <a:ext cx="4023360" cy="457200"/>
          </a:xfrm>
          <a:prstGeom prst="roundRect">
            <a:avLst>
              <a:gd name="adj" fmla="val 16000"/>
            </a:avLst>
          </a:prstGeom>
          <a:solidFill>
            <a:srgbClr val="FFF6E5"/>
          </a:solidFill>
          <a:ln w="12700">
            <a:solidFill>
              <a:srgbClr val="FEDF89"/>
            </a:solidFill>
            <a:prstDash val="solid"/>
          </a:ln>
        </p:spPr>
      </p:sp>
      <p:sp>
        <p:nvSpPr>
          <p:cNvPr id="25" name="Text 22"/>
          <p:cNvSpPr/>
          <p:nvPr/>
        </p:nvSpPr>
        <p:spPr>
          <a:xfrm>
            <a:off x="4773168" y="2523744"/>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Closed</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queued for the open</a:t>
            </a:r>
            <a:endParaRPr lang="en-US" sz="1000" dirty="0"/>
          </a:p>
        </p:txBody>
      </p:sp>
      <p:sp>
        <p:nvSpPr>
          <p:cNvPr id="26" name="Text 23"/>
          <p:cNvSpPr/>
          <p:nvPr/>
        </p:nvSpPr>
        <p:spPr>
          <a:xfrm>
            <a:off x="4663440" y="3081528"/>
            <a:ext cx="4023360" cy="228600"/>
          </a:xfrm>
          <a:prstGeom prst="rect">
            <a:avLst/>
          </a:prstGeom>
          <a:noFill/>
          <a:ln/>
        </p:spPr>
        <p:txBody>
          <a:bodyPr wrap="square" lIns="0" tIns="0" rIns="0" bIns="0" rtlCol="0" anchor="ctr"/>
          <a:lstStyle/>
          <a:p>
            <a:pPr indent="0" marL="0">
              <a:buNone/>
            </a:pPr>
            <a:r>
              <a:rPr lang="en-US" sz="950" dirty="0">
                <a:solidFill>
                  <a:srgbClr val="667085"/>
                </a:solidFill>
                <a:latin typeface="Inter" pitchFamily="34" charset="0"/>
                <a:ea typeface="Inter" pitchFamily="34" charset="-122"/>
                <a:cs typeface="Inter" pitchFamily="34" charset="-120"/>
              </a:rPr>
              <a:t>Live, Alpaca paper: SPY limit up to $770.57, filled at $767.57</a:t>
            </a:r>
            <a:endParaRPr lang="en-US" sz="950" dirty="0"/>
          </a:p>
        </p:txBody>
      </p:sp>
      <p:sp>
        <p:nvSpPr>
          <p:cNvPr id="27" name="Shape 24"/>
          <p:cNvSpPr/>
          <p:nvPr/>
        </p:nvSpPr>
        <p:spPr>
          <a:xfrm>
            <a:off x="457200" y="3429000"/>
            <a:ext cx="1920240" cy="1188720"/>
          </a:xfrm>
          <a:prstGeom prst="roundRect">
            <a:avLst>
              <a:gd name="adj" fmla="val 7692"/>
            </a:avLst>
          </a:prstGeom>
          <a:solidFill>
            <a:srgbClr val="F4F5F7"/>
          </a:solidFill>
          <a:ln w="12700">
            <a:solidFill>
              <a:srgbClr val="F4F5F7"/>
            </a:solidFill>
            <a:prstDash val="solid"/>
          </a:ln>
        </p:spPr>
      </p:sp>
      <p:sp>
        <p:nvSpPr>
          <p:cNvPr id="28" name="Text 25"/>
          <p:cNvSpPr/>
          <p:nvPr/>
        </p:nvSpPr>
        <p:spPr>
          <a:xfrm>
            <a:off x="59436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a:t>
            </a:r>
            <a:endParaRPr lang="en-US" sz="2600" dirty="0"/>
          </a:p>
        </p:txBody>
      </p:sp>
      <p:sp>
        <p:nvSpPr>
          <p:cNvPr id="29" name="Text 26"/>
          <p:cNvSpPr/>
          <p:nvPr/>
        </p:nvSpPr>
        <p:spPr>
          <a:xfrm>
            <a:off x="59436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orders placed in the demo month, each read back</a:t>
            </a:r>
            <a:endParaRPr lang="en-US" sz="1050" dirty="0"/>
          </a:p>
        </p:txBody>
      </p:sp>
      <p:sp>
        <p:nvSpPr>
          <p:cNvPr id="30" name="Shape 27"/>
          <p:cNvSpPr/>
          <p:nvPr/>
        </p:nvSpPr>
        <p:spPr>
          <a:xfrm>
            <a:off x="2560320" y="342900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2697480" y="352044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2</a:t>
            </a:r>
            <a:endParaRPr lang="en-US" sz="2600" dirty="0"/>
          </a:p>
        </p:txBody>
      </p:sp>
      <p:sp>
        <p:nvSpPr>
          <p:cNvPr id="32" name="Text 29"/>
          <p:cNvSpPr/>
          <p:nvPr/>
        </p:nvSpPr>
        <p:spPr>
          <a:xfrm>
            <a:off x="269748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off-list requests stopped (a meme stock, an option)</a:t>
            </a:r>
            <a:endParaRPr lang="en-US" sz="1050" dirty="0"/>
          </a:p>
        </p:txBody>
      </p:sp>
      <p:sp>
        <p:nvSpPr>
          <p:cNvPr id="33" name="Shape 30"/>
          <p:cNvSpPr/>
          <p:nvPr/>
        </p:nvSpPr>
        <p:spPr>
          <a:xfrm>
            <a:off x="4663440" y="342900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480060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9/9</a:t>
            </a:r>
            <a:endParaRPr lang="en-US" sz="2600" dirty="0"/>
          </a:p>
        </p:txBody>
      </p:sp>
      <p:sp>
        <p:nvSpPr>
          <p:cNvPr id="35" name="Text 32"/>
          <p:cNvSpPr/>
          <p:nvPr/>
        </p:nvSpPr>
        <p:spPr>
          <a:xfrm>
            <a:off x="480060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red-team attacks on orders stopped</a:t>
            </a:r>
            <a:endParaRPr lang="en-US" sz="1050" dirty="0"/>
          </a:p>
        </p:txBody>
      </p:sp>
      <p:sp>
        <p:nvSpPr>
          <p:cNvPr id="36" name="Shape 33"/>
          <p:cNvSpPr/>
          <p:nvPr/>
        </p:nvSpPr>
        <p:spPr>
          <a:xfrm>
            <a:off x="6766560" y="342900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690372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8" name="Text 35"/>
          <p:cNvSpPr/>
          <p:nvPr/>
        </p:nvSpPr>
        <p:spPr>
          <a:xfrm>
            <a:off x="690372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fill journaled at the next open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15</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$10.23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27.2%</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15</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48/48 succeeded · </a:t>
            </a:r>
            <a:pPr indent="0" marL="0">
              <a:buNone/>
            </a:pPr>
            <a:r>
              <a:rPr lang="en-US" sz="1800" b="1" dirty="0">
                <a:solidFill>
                  <a:srgbClr val="B42318"/>
                </a:solidFill>
                <a:latin typeface="Inter" pitchFamily="34" charset="0"/>
                <a:ea typeface="Inter" pitchFamily="34" charset="-122"/>
                <a:cs typeface="Inter" pitchFamily="34" charset="-120"/>
              </a:rPr>
              <a:t>$6,546.63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K15):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Compliance: the agent payment convention · VI / AP2</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15</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Convention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13 / 15</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$0.0114 → $0.0043</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97.6%</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$4,000</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Pilot with a bank: who pays, how, what we measure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14 / 15</a:t>
            </a:r>
            <a:endParaRPr lang="en-US" sz="900" dirty="0"/>
          </a:p>
        </p:txBody>
      </p:sp>
      <p:sp>
        <p:nvSpPr>
          <p:cNvPr id="8" name="Shape 5"/>
          <p:cNvSpPr/>
          <p:nvPr/>
        </p:nvSpPr>
        <p:spPr>
          <a:xfrm>
            <a:off x="457200" y="1143000"/>
            <a:ext cx="2651760" cy="342900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Who pays</a:t>
            </a:r>
            <a:endParaRPr lang="en-US" sz="1600" dirty="0"/>
          </a:p>
        </p:txBody>
      </p:sp>
      <p:sp>
        <p:nvSpPr>
          <p:cNvPr id="10" name="Text 7"/>
          <p:cNvSpPr/>
          <p:nvPr/>
        </p:nvSpPr>
        <p:spPr>
          <a:xfrm>
            <a:off x="640080" y="1691640"/>
            <a:ext cx="2331720" cy="27889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The bank: Guardian is the gate of its agent channel, a fee per active client a month</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Fraud losses not paid out</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Third party AI assistants admitted safely</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Audit evidence for the regulator</a:t>
            </a:r>
            <a:endParaRPr lang="en-US" sz="1150" dirty="0"/>
          </a:p>
        </p:txBody>
      </p:sp>
      <p:sp>
        <p:nvSpPr>
          <p:cNvPr id="11" name="Shape 8"/>
          <p:cNvSpPr/>
          <p:nvPr/>
        </p:nvSpPr>
        <p:spPr>
          <a:xfrm>
            <a:off x="3291840" y="1143000"/>
            <a:ext cx="2651760" cy="3429000"/>
          </a:xfrm>
          <a:prstGeom prst="roundRect">
            <a:avLst>
              <a:gd name="adj" fmla="val 4138"/>
            </a:avLst>
          </a:prstGeom>
          <a:solidFill>
            <a:srgbClr val="F3F0FF"/>
          </a:solidFill>
          <a:ln w="12700">
            <a:solidFill>
              <a:srgbClr val="F3F0FF"/>
            </a:solidFill>
            <a:prstDash val="solid"/>
          </a:ln>
        </p:spPr>
      </p:sp>
      <p:sp>
        <p:nvSpPr>
          <p:cNvPr id="12" name="Text 9"/>
          <p:cNvSpPr/>
          <p:nvPr/>
        </p:nvSpPr>
        <p:spPr>
          <a:xfrm>
            <a:off x="347472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Stages</a:t>
            </a:r>
            <a:endParaRPr lang="en-US" sz="1600" dirty="0"/>
          </a:p>
        </p:txBody>
      </p:sp>
      <p:sp>
        <p:nvSpPr>
          <p:cNvPr id="13" name="Text 10"/>
          <p:cNvSpPr/>
          <p:nvPr/>
        </p:nvSpPr>
        <p:spPr>
          <a:xfrm>
            <a:off x="3474720" y="1691640"/>
            <a:ext cx="2331720" cy="2788920"/>
          </a:xfrm>
          <a:prstGeom prst="rect">
            <a:avLst/>
          </a:prstGeom>
          <a:noFill/>
          <a:ln/>
        </p:spPr>
        <p:txBody>
          <a:bodyPr wrap="square" lIns="0" tIns="0" rIns="0" bIns="0" rtlCol="0" anchor="t"/>
          <a:lstStyle/>
          <a:p>
            <a:pPr indent="0" marL="0">
              <a:spcAft>
                <a:spcPts val="700"/>
              </a:spcAft>
              <a:buNone/>
            </a:pPr>
            <a:r>
              <a:rPr lang="en-US" sz="1150" dirty="0">
                <a:solidFill>
                  <a:srgbClr val="101828"/>
                </a:solidFill>
                <a:latin typeface="Inter" pitchFamily="34" charset="0"/>
                <a:ea typeface="Inter" pitchFamily="34" charset="-122"/>
                <a:cs typeface="Inter" pitchFamily="34" charset="-120"/>
              </a:rPr>
              <a:t>1  Shadow, about 3 months: decide, do not act; compare with the fraud team</a:t>
            </a:r>
            <a:endParaRPr lang="en-US" sz="1150" dirty="0"/>
          </a:p>
          <a:p>
            <a:pPr indent="0" marL="0">
              <a:spcAft>
                <a:spcPts val="700"/>
              </a:spcAft>
              <a:buNone/>
            </a:pPr>
            <a:r>
              <a:rPr lang="en-US" sz="1150" dirty="0">
                <a:solidFill>
                  <a:srgbClr val="101828"/>
                </a:solidFill>
                <a:latin typeface="Inter" pitchFamily="34" charset="0"/>
                <a:ea typeface="Inter" pitchFamily="34" charset="-122"/>
                <a:cs typeface="Inter" pitchFamily="34" charset="-120"/>
              </a:rPr>
              <a:t>2  Employees: real money, small caps, device signatures</a:t>
            </a:r>
            <a:endParaRPr lang="en-US" sz="1150" dirty="0"/>
          </a:p>
          <a:p>
            <a:pPr indent="0" marL="0">
              <a:spcAft>
                <a:spcPts val="700"/>
              </a:spcAft>
              <a:buNone/>
            </a:pPr>
            <a:r>
              <a:rPr lang="en-US" sz="1150" dirty="0">
                <a:solidFill>
                  <a:srgbClr val="101828"/>
                </a:solidFill>
                <a:latin typeface="Inter" pitchFamily="34" charset="0"/>
                <a:ea typeface="Inter" pitchFamily="34" charset="-122"/>
                <a:cs typeface="Inter" pitchFamily="34" charset="-120"/>
              </a:rPr>
              <a:t>3  Volunteer clients: subscriptions and bills, then investing</a:t>
            </a:r>
            <a:endParaRPr lang="en-US" sz="1150" dirty="0"/>
          </a:p>
        </p:txBody>
      </p:sp>
      <p:sp>
        <p:nvSpPr>
          <p:cNvPr id="14" name="Shape 11"/>
          <p:cNvSpPr/>
          <p:nvPr/>
        </p:nvSpPr>
        <p:spPr>
          <a:xfrm>
            <a:off x="6126480" y="1143000"/>
            <a:ext cx="2651760" cy="3429000"/>
          </a:xfrm>
          <a:prstGeom prst="roundRect">
            <a:avLst>
              <a:gd name="adj" fmla="val 4138"/>
            </a:avLst>
          </a:prstGeom>
          <a:solidFill>
            <a:srgbClr val="E8F6F3"/>
          </a:solidFill>
          <a:ln w="12700">
            <a:solidFill>
              <a:srgbClr val="E8F6F3"/>
            </a:solidFill>
            <a:prstDash val="solid"/>
          </a:ln>
        </p:spPr>
      </p:sp>
      <p:sp>
        <p:nvSpPr>
          <p:cNvPr id="15" name="Text 12"/>
          <p:cNvSpPr/>
          <p:nvPr/>
        </p:nvSpPr>
        <p:spPr>
          <a:xfrm>
            <a:off x="630936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What we measure</a:t>
            </a:r>
            <a:endParaRPr lang="en-US" sz="1600" dirty="0"/>
          </a:p>
        </p:txBody>
      </p:sp>
      <p:sp>
        <p:nvSpPr>
          <p:cNvPr id="16" name="Text 13"/>
          <p:cNvSpPr/>
          <p:nvPr/>
        </p:nvSpPr>
        <p:spPr>
          <a:xfrm>
            <a:off x="6309360" y="1691640"/>
            <a:ext cx="2331720" cy="27889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Attacks stopped vs the fraud team</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Cards that asked without need</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Payments outside a mandate: 0</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Token cost per client: $0.0043 a month</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15 / 15</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 44/48 live</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59/59</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437</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Pilot with a bank: shadow mode next to its fraud team first</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2026-10-20T12:54:19Z</dcterms:created>
  <dcterms:modified xsi:type="dcterms:W3CDTF">2026-10-20T12:54:19Z</dcterms:modified>
</cp:coreProperties>
</file>